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7" r:id="rId2"/>
    <p:sldId id="258" r:id="rId3"/>
    <p:sldId id="264" r:id="rId4"/>
    <p:sldId id="260" r:id="rId5"/>
    <p:sldId id="261" r:id="rId6"/>
    <p:sldId id="265" r:id="rId7"/>
    <p:sldId id="266" r:id="rId8"/>
    <p:sldId id="271" r:id="rId9"/>
    <p:sldId id="310" r:id="rId10"/>
    <p:sldId id="308" r:id="rId11"/>
    <p:sldId id="312" r:id="rId12"/>
    <p:sldId id="301" r:id="rId13"/>
    <p:sldId id="307" r:id="rId14"/>
    <p:sldId id="303" r:id="rId15"/>
    <p:sldId id="302" r:id="rId16"/>
    <p:sldId id="295" r:id="rId17"/>
    <p:sldId id="311" r:id="rId18"/>
    <p:sldId id="277" r:id="rId19"/>
    <p:sldId id="278" r:id="rId20"/>
    <p:sldId id="282" r:id="rId21"/>
    <p:sldId id="309" r:id="rId22"/>
    <p:sldId id="304" r:id="rId23"/>
    <p:sldId id="305" r:id="rId24"/>
    <p:sldId id="306" r:id="rId25"/>
    <p:sldId id="314" r:id="rId26"/>
    <p:sldId id="291" r:id="rId27"/>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38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3984"/>
    <a:srgbClr val="236B88"/>
    <a:srgbClr val="0070C0"/>
    <a:srgbClr val="0CDA4C"/>
    <a:srgbClr val="9CC5FD"/>
    <a:srgbClr val="3A6695"/>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6349" autoAdjust="0"/>
  </p:normalViewPr>
  <p:slideViewPr>
    <p:cSldViewPr snapToGrid="0" showGuides="1">
      <p:cViewPr varScale="1">
        <p:scale>
          <a:sx n="109" d="100"/>
          <a:sy n="109" d="100"/>
        </p:scale>
        <p:origin x="636" y="150"/>
      </p:cViewPr>
      <p:guideLst>
        <p:guide orient="horz" pos="2152"/>
        <p:guide pos="3833"/>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5" Type="http://schemas.openxmlformats.org/officeDocument/2006/relationships/image" Target="../media/image19.wmf"/><Relationship Id="rId4"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15.wmf"/><Relationship Id="rId5" Type="http://schemas.openxmlformats.org/officeDocument/2006/relationships/image" Target="../media/image27.wmf"/><Relationship Id="rId4" Type="http://schemas.openxmlformats.org/officeDocument/2006/relationships/image" Target="../media/image2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t>2025/11/7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extLst>
      <p:ext uri="{BB962C8B-B14F-4D97-AF65-F5344CB8AC3E}">
        <p14:creationId xmlns:p14="http://schemas.microsoft.com/office/powerpoint/2010/main" val="1591250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extLst>
      <p:ext uri="{BB962C8B-B14F-4D97-AF65-F5344CB8AC3E}">
        <p14:creationId xmlns:p14="http://schemas.microsoft.com/office/powerpoint/2010/main" val="3066517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F711DA-82CB-44C8-99EC-9CE596A896FB}"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35449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3102305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extLst>
      <p:ext uri="{BB962C8B-B14F-4D97-AF65-F5344CB8AC3E}">
        <p14:creationId xmlns:p14="http://schemas.microsoft.com/office/powerpoint/2010/main" val="2514189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19942654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F711DA-82CB-44C8-99EC-9CE596A896FB}"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628235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F711DA-82CB-44C8-99EC-9CE596A896FB}"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10318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extLst>
      <p:ext uri="{BB962C8B-B14F-4D97-AF65-F5344CB8AC3E}">
        <p14:creationId xmlns:p14="http://schemas.microsoft.com/office/powerpoint/2010/main" val="20807978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F711DA-82CB-44C8-99EC-9CE596A896FB}"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030976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extLst>
      <p:ext uri="{BB962C8B-B14F-4D97-AF65-F5344CB8AC3E}">
        <p14:creationId xmlns:p14="http://schemas.microsoft.com/office/powerpoint/2010/main" val="2815007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extLst>
      <p:ext uri="{BB962C8B-B14F-4D97-AF65-F5344CB8AC3E}">
        <p14:creationId xmlns:p14="http://schemas.microsoft.com/office/powerpoint/2010/main" val="38134746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extLst>
      <p:ext uri="{BB962C8B-B14F-4D97-AF65-F5344CB8AC3E}">
        <p14:creationId xmlns:p14="http://schemas.microsoft.com/office/powerpoint/2010/main" val="21828939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2025/11/7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4536CA-A6C4-4358-AF93-5CCBD70D248C}" type="datetimeFigureOut">
              <a:rPr lang="zh-CN" altLang="en-US" smtClean="0"/>
              <a:t>2025/11/7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4536CA-A6C4-4358-AF93-5CCBD70D248C}" type="datetimeFigureOut">
              <a:rPr lang="zh-CN" altLang="en-US" smtClean="0"/>
              <a:t>2025/11/7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t>2025/11/7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2025/11/7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2025/11/7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t>2025/11/7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4.xml"/><Relationship Id="rId5" Type="http://schemas.openxmlformats.org/officeDocument/2006/relationships/image" Target="../media/image1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8.wmf"/><Relationship Id="rId3" Type="http://schemas.openxmlformats.org/officeDocument/2006/relationships/notesSlide" Target="../notesSlides/notesSlide13.xml"/><Relationship Id="rId7" Type="http://schemas.openxmlformats.org/officeDocument/2006/relationships/image" Target="../media/image16.wmf"/><Relationship Id="rId12"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png"/><Relationship Id="rId5" Type="http://schemas.openxmlformats.org/officeDocument/2006/relationships/image" Target="../media/image15.wmf"/><Relationship Id="rId15" Type="http://schemas.openxmlformats.org/officeDocument/2006/relationships/image" Target="../media/image19.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7.wmf"/><Relationship Id="rId14"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22.png"/><Relationship Id="rId4" Type="http://schemas.openxmlformats.org/officeDocument/2006/relationships/image" Target="../media/image21.sv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image" Target="../media/image25.wmf"/><Relationship Id="rId3" Type="http://schemas.openxmlformats.org/officeDocument/2006/relationships/notesSlide" Target="../notesSlides/notesSlide16.xml"/><Relationship Id="rId7" Type="http://schemas.openxmlformats.org/officeDocument/2006/relationships/oleObject" Target="../embeddings/oleObject8.bin"/><Relationship Id="rId12" Type="http://schemas.openxmlformats.org/officeDocument/2006/relationships/oleObject" Target="../embeddings/oleObject12.bin"/><Relationship Id="rId17" Type="http://schemas.openxmlformats.org/officeDocument/2006/relationships/image" Target="../media/image27.wmf"/><Relationship Id="rId2" Type="http://schemas.openxmlformats.org/officeDocument/2006/relationships/slideLayout" Target="../slideLayouts/slideLayout7.xml"/><Relationship Id="rId16" Type="http://schemas.openxmlformats.org/officeDocument/2006/relationships/oleObject" Target="../embeddings/oleObject14.bin"/><Relationship Id="rId1" Type="http://schemas.openxmlformats.org/officeDocument/2006/relationships/vmlDrawing" Target="../drawings/vmlDrawing2.vml"/><Relationship Id="rId6" Type="http://schemas.openxmlformats.org/officeDocument/2006/relationships/image" Target="../media/image15.wmf"/><Relationship Id="rId11" Type="http://schemas.openxmlformats.org/officeDocument/2006/relationships/oleObject" Target="../embeddings/oleObject11.bin"/><Relationship Id="rId5" Type="http://schemas.openxmlformats.org/officeDocument/2006/relationships/oleObject" Target="../embeddings/oleObject7.bin"/><Relationship Id="rId15" Type="http://schemas.openxmlformats.org/officeDocument/2006/relationships/image" Target="../media/image26.wmf"/><Relationship Id="rId10" Type="http://schemas.openxmlformats.org/officeDocument/2006/relationships/oleObject" Target="../embeddings/oleObject10.bin"/><Relationship Id="rId4" Type="http://schemas.openxmlformats.org/officeDocument/2006/relationships/image" Target="../media/image1.png"/><Relationship Id="rId9" Type="http://schemas.openxmlformats.org/officeDocument/2006/relationships/oleObject" Target="../embeddings/oleObject9.bin"/><Relationship Id="rId14"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29.wmf"/><Relationship Id="rId5" Type="http://schemas.openxmlformats.org/officeDocument/2006/relationships/oleObject" Target="../embeddings/oleObject15.bin"/><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Ref idx="1001">
        <a:schemeClr val="bg1"/>
      </p:bgRef>
    </p:bg>
    <p:spTree>
      <p:nvGrpSpPr>
        <p:cNvPr id="1" name=""/>
        <p:cNvGrpSpPr/>
        <p:nvPr/>
      </p:nvGrpSpPr>
      <p:grpSpPr>
        <a:xfrm>
          <a:off x="0" y="0"/>
          <a:ext cx="0" cy="0"/>
          <a:chOff x="0" y="0"/>
          <a:chExt cx="0" cy="0"/>
        </a:xfrm>
      </p:grpSpPr>
      <p:pic>
        <p:nvPicPr>
          <p:cNvPr id="2" name="图片 1" descr="沈阳建筑大学抠图"/>
          <p:cNvPicPr>
            <a:picLocks noChangeAspect="1"/>
          </p:cNvPicPr>
          <p:nvPr/>
        </p:nvPicPr>
        <p:blipFill>
          <a:blip r:embed="rId5"/>
          <a:stretch>
            <a:fillRect/>
          </a:stretch>
        </p:blipFill>
        <p:spPr>
          <a:xfrm>
            <a:off x="2350135" y="-1321435"/>
            <a:ext cx="6969760" cy="5031105"/>
          </a:xfrm>
          <a:prstGeom prst="rect">
            <a:avLst/>
          </a:prstGeom>
        </p:spPr>
      </p:pic>
      <p:pic>
        <p:nvPicPr>
          <p:cNvPr id="9" name="MH_Other_8"/>
          <p:cNvPicPr/>
          <p:nvPr>
            <p:custDataLst>
              <p:tags r:id="rId1"/>
            </p:custDataLst>
          </p:nvPr>
        </p:nvPicPr>
        <p:blipFill>
          <a:blip r:embed="rId6"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6"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133984"/>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99293" y="3355727"/>
            <a:ext cx="12482147" cy="646331"/>
          </a:xfrm>
          <a:prstGeom prst="rect">
            <a:avLst/>
          </a:prstGeom>
          <a:noFill/>
        </p:spPr>
        <p:txBody>
          <a:bodyPr wrap="square" rtlCol="0">
            <a:spAutoFit/>
          </a:bodyPr>
          <a:lstStyle/>
          <a:p>
            <a:pPr algn="ctr"/>
            <a:r>
              <a:rPr lang="zh-CN" altLang="en-US" sz="3600" b="1" dirty="0">
                <a:solidFill>
                  <a:schemeClr val="bg1">
                    <a:lumMod val="95000"/>
                  </a:schemeClr>
                </a:solidFill>
                <a:latin typeface="思源黑体" panose="020B0400000000000000" pitchFamily="34" charset="-122"/>
                <a:ea typeface="思源黑体" panose="020B0400000000000000" pitchFamily="34" charset="-122"/>
              </a:rPr>
              <a:t>基于深度强化学习的多智能体通信与协同编队控制研究</a:t>
            </a:r>
          </a:p>
        </p:txBody>
      </p:sp>
      <p:sp>
        <p:nvSpPr>
          <p:cNvPr id="13" name="TextBox 6"/>
          <p:cNvSpPr txBox="1"/>
          <p:nvPr/>
        </p:nvSpPr>
        <p:spPr>
          <a:xfrm>
            <a:off x="4148436" y="5644929"/>
            <a:ext cx="1959610" cy="397510"/>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dirty="0">
                <a:solidFill>
                  <a:srgbClr val="133984"/>
                </a:solidFill>
                <a:latin typeface="微软雅黑" panose="020B0503020204020204" pitchFamily="34" charset="-122"/>
                <a:ea typeface="微软雅黑" panose="020B0503020204020204" pitchFamily="34" charset="-122"/>
              </a:rPr>
              <a:t>汇报人：高艺泷</a:t>
            </a:r>
            <a:endParaRPr lang="en-US" altLang="zh-CN" dirty="0">
              <a:solidFill>
                <a:srgbClr val="133984"/>
              </a:solidFill>
              <a:latin typeface="微软雅黑" panose="020B0503020204020204" pitchFamily="34" charset="-122"/>
              <a:ea typeface="微软雅黑" panose="020B0503020204020204" pitchFamily="34" charset="-122"/>
            </a:endParaRPr>
          </a:p>
        </p:txBody>
      </p:sp>
      <p:sp>
        <p:nvSpPr>
          <p:cNvPr id="14" name="TextBox 7"/>
          <p:cNvSpPr txBox="1"/>
          <p:nvPr/>
        </p:nvSpPr>
        <p:spPr>
          <a:xfrm>
            <a:off x="7031192" y="5644929"/>
            <a:ext cx="2288540" cy="397510"/>
          </a:xfrm>
          <a:prstGeom prst="rect">
            <a:avLst/>
          </a:prstGeom>
          <a:noFill/>
        </p:spPr>
        <p:txBody>
          <a:bodyPr wrap="none" lIns="91416" tIns="45708" rIns="91416" bIns="45708" rtlCol="0">
            <a:spAutoFit/>
          </a:bodyPr>
          <a:lstStyle/>
          <a:p>
            <a:pPr algn="ctr"/>
            <a:r>
              <a:rPr lang="zh-CN" altLang="en-US" sz="2000" b="1" dirty="0">
                <a:solidFill>
                  <a:srgbClr val="133984"/>
                </a:solidFill>
                <a:latin typeface="微软雅黑" panose="020B0503020204020204" pitchFamily="34" charset="-122"/>
                <a:ea typeface="微软雅黑" panose="020B0503020204020204" pitchFamily="34" charset="-122"/>
              </a:rPr>
              <a:t>指导老师</a:t>
            </a:r>
            <a:r>
              <a:rPr lang="zh-CN" altLang="en-US" sz="2000" dirty="0">
                <a:solidFill>
                  <a:srgbClr val="133984"/>
                </a:solidFill>
                <a:latin typeface="微软雅黑" panose="020B0503020204020204" pitchFamily="34" charset="-122"/>
                <a:ea typeface="微软雅黑" panose="020B0503020204020204" pitchFamily="34" charset="-122"/>
              </a:rPr>
              <a:t>：郭彤颖</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 </a:t>
            </a:r>
          </a:p>
        </p:txBody>
      </p:sp>
      <p:sp>
        <p:nvSpPr>
          <p:cNvPr id="11" name="Freeform 7"/>
          <p:cNvSpPr>
            <a:spLocks noChangeAspect="1" noEditPoints="1"/>
          </p:cNvSpPr>
          <p:nvPr/>
        </p:nvSpPr>
        <p:spPr bwMode="auto">
          <a:xfrm>
            <a:off x="3596444" y="561184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133984"/>
          </a:solidFill>
          <a:ln>
            <a:noFill/>
          </a:ln>
        </p:spPr>
        <p:txBody>
          <a:bodyPr vert="horz" wrap="square" lIns="91416" tIns="45708" rIns="91416" bIns="45708"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12" name="Freeform 8"/>
          <p:cNvSpPr>
            <a:spLocks noChangeAspect="1" noEditPoints="1"/>
          </p:cNvSpPr>
          <p:nvPr/>
        </p:nvSpPr>
        <p:spPr bwMode="auto">
          <a:xfrm>
            <a:off x="6438230" y="5611848"/>
            <a:ext cx="464288" cy="466246"/>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133984"/>
          </a:solidFill>
          <a:ln>
            <a:noFill/>
          </a:ln>
        </p:spPr>
        <p:txBody>
          <a:bodyPr vert="horz" wrap="square" lIns="91416" tIns="45708" rIns="91416" bIns="45708" numCol="1" anchor="t" anchorCtr="0" compatLnSpc="1"/>
          <a:lstStyle/>
          <a:p>
            <a:endParaRPr lang="zh-CN" altLang="en-US" sz="28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圆角矩形 16"/>
          <p:cNvSpPr/>
          <p:nvPr/>
        </p:nvSpPr>
        <p:spPr>
          <a:xfrm>
            <a:off x="107950" y="1998345"/>
            <a:ext cx="5405755" cy="3073400"/>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圆角矩形 1"/>
          <p:cNvSpPr/>
          <p:nvPr/>
        </p:nvSpPr>
        <p:spPr>
          <a:xfrm>
            <a:off x="186649" y="2104364"/>
            <a:ext cx="5261917" cy="2861362"/>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5642044" y="1204577"/>
            <a:ext cx="9111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01</a:t>
            </a:r>
            <a:endParaRPr lang="zh-CN" altLang="en-US" b="1" dirty="0"/>
          </a:p>
        </p:txBody>
      </p:sp>
      <p:sp>
        <p:nvSpPr>
          <p:cNvPr id="6" name="圆角矩形 5"/>
          <p:cNvSpPr/>
          <p:nvPr/>
        </p:nvSpPr>
        <p:spPr>
          <a:xfrm>
            <a:off x="5642044" y="2172502"/>
            <a:ext cx="9111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02</a:t>
            </a:r>
            <a:endParaRPr lang="zh-CN" altLang="en-US" b="1" dirty="0"/>
          </a:p>
        </p:txBody>
      </p:sp>
      <p:sp>
        <p:nvSpPr>
          <p:cNvPr id="7" name="圆角矩形 6"/>
          <p:cNvSpPr/>
          <p:nvPr/>
        </p:nvSpPr>
        <p:spPr>
          <a:xfrm>
            <a:off x="5642044" y="3140427"/>
            <a:ext cx="9111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03</a:t>
            </a:r>
            <a:endParaRPr lang="zh-CN" altLang="en-US" b="1" dirty="0"/>
          </a:p>
        </p:txBody>
      </p:sp>
      <p:sp>
        <p:nvSpPr>
          <p:cNvPr id="8" name="圆角矩形 7"/>
          <p:cNvSpPr/>
          <p:nvPr/>
        </p:nvSpPr>
        <p:spPr>
          <a:xfrm>
            <a:off x="5642044" y="4108352"/>
            <a:ext cx="9111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04</a:t>
            </a:r>
            <a:endParaRPr lang="zh-CN" altLang="en-US" b="1" dirty="0"/>
          </a:p>
        </p:txBody>
      </p:sp>
      <p:sp>
        <p:nvSpPr>
          <p:cNvPr id="9" name="圆角矩形 8"/>
          <p:cNvSpPr/>
          <p:nvPr/>
        </p:nvSpPr>
        <p:spPr>
          <a:xfrm>
            <a:off x="5642044" y="5076279"/>
            <a:ext cx="9111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05</a:t>
            </a:r>
            <a:endParaRPr lang="zh-CN" altLang="en-US" b="1" dirty="0"/>
          </a:p>
        </p:txBody>
      </p:sp>
      <p:sp>
        <p:nvSpPr>
          <p:cNvPr id="59" name="圆角矩形 58"/>
          <p:cNvSpPr/>
          <p:nvPr/>
        </p:nvSpPr>
        <p:spPr>
          <a:xfrm>
            <a:off x="6746944" y="1204577"/>
            <a:ext cx="34765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研究背景及意义</a:t>
            </a:r>
          </a:p>
        </p:txBody>
      </p:sp>
      <p:sp>
        <p:nvSpPr>
          <p:cNvPr id="60" name="圆角矩形 59"/>
          <p:cNvSpPr/>
          <p:nvPr/>
        </p:nvSpPr>
        <p:spPr>
          <a:xfrm>
            <a:off x="6746944" y="2172502"/>
            <a:ext cx="34765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国内外研究现状</a:t>
            </a:r>
          </a:p>
        </p:txBody>
      </p:sp>
      <p:sp>
        <p:nvSpPr>
          <p:cNvPr id="61" name="圆角矩形 60"/>
          <p:cNvSpPr/>
          <p:nvPr/>
        </p:nvSpPr>
        <p:spPr>
          <a:xfrm>
            <a:off x="6746944" y="3140427"/>
            <a:ext cx="34765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研究内容和依据</a:t>
            </a:r>
          </a:p>
        </p:txBody>
      </p:sp>
      <p:sp>
        <p:nvSpPr>
          <p:cNvPr id="62" name="圆角矩形 61"/>
          <p:cNvSpPr/>
          <p:nvPr/>
        </p:nvSpPr>
        <p:spPr>
          <a:xfrm>
            <a:off x="6746944" y="4108352"/>
            <a:ext cx="34765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创新点</a:t>
            </a:r>
          </a:p>
        </p:txBody>
      </p:sp>
      <p:sp>
        <p:nvSpPr>
          <p:cNvPr id="63" name="圆角矩形 62"/>
          <p:cNvSpPr/>
          <p:nvPr/>
        </p:nvSpPr>
        <p:spPr>
          <a:xfrm>
            <a:off x="6746944" y="5076279"/>
            <a:ext cx="34765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论文工作计划</a:t>
            </a:r>
          </a:p>
        </p:txBody>
      </p:sp>
      <p:sp>
        <p:nvSpPr>
          <p:cNvPr id="64" name="TextBox 78"/>
          <p:cNvSpPr txBox="1"/>
          <p:nvPr/>
        </p:nvSpPr>
        <p:spPr>
          <a:xfrm>
            <a:off x="1818108" y="3717414"/>
            <a:ext cx="2063385" cy="502766"/>
          </a:xfrm>
          <a:prstGeom prst="rect">
            <a:avLst/>
          </a:prstGeom>
          <a:noFill/>
        </p:spPr>
        <p:txBody>
          <a:bodyPr wrap="none" rtlCol="0">
            <a:spAutoFit/>
          </a:bodyPr>
          <a:lstStyle/>
          <a:p>
            <a:pPr algn="ctr"/>
            <a:r>
              <a:rPr lang="en-US" altLang="zh-CN" sz="2665" b="1" dirty="0">
                <a:solidFill>
                  <a:schemeClr val="bg1"/>
                </a:solidFill>
                <a:latin typeface="Impact MT Std" pitchFamily="34" charset="0"/>
                <a:ea typeface="微软雅黑" panose="020B0503020204020204" pitchFamily="34" charset="-122"/>
              </a:rPr>
              <a:t>CONTENTS</a:t>
            </a:r>
            <a:endParaRPr lang="zh-CN" altLang="en-US" sz="2665" b="1" dirty="0">
              <a:solidFill>
                <a:schemeClr val="bg1"/>
              </a:solidFill>
              <a:latin typeface="Impact MT Std" pitchFamily="34" charset="0"/>
              <a:ea typeface="微软雅黑" panose="020B0503020204020204" pitchFamily="34" charset="-122"/>
            </a:endParaRPr>
          </a:p>
        </p:txBody>
      </p:sp>
      <p:sp>
        <p:nvSpPr>
          <p:cNvPr id="65" name="TextBox 79"/>
          <p:cNvSpPr txBox="1"/>
          <p:nvPr/>
        </p:nvSpPr>
        <p:spPr>
          <a:xfrm>
            <a:off x="1893450" y="2677173"/>
            <a:ext cx="1912703" cy="995209"/>
          </a:xfrm>
          <a:prstGeom prst="rect">
            <a:avLst/>
          </a:prstGeom>
          <a:noFill/>
        </p:spPr>
        <p:txBody>
          <a:bodyPr wrap="none" rtlCol="0">
            <a:spAutoFit/>
          </a:bodyPr>
          <a:lstStyle/>
          <a:p>
            <a:pPr algn="ctr"/>
            <a:r>
              <a:rPr lang="zh-CN" altLang="en-US" sz="5865" b="1" dirty="0">
                <a:solidFill>
                  <a:schemeClr val="bg1"/>
                </a:solidFill>
                <a:latin typeface="微软雅黑" panose="020B0503020204020204" pitchFamily="34" charset="-122"/>
                <a:ea typeface="微软雅黑" panose="020B0503020204020204" pitchFamily="34" charset="-122"/>
              </a:rPr>
              <a:t>目 录</a:t>
            </a:r>
          </a:p>
        </p:txBody>
      </p:sp>
      <p:pic>
        <p:nvPicPr>
          <p:cNvPr id="12" name="图片 11" descr="沈阳建筑大学抠图"/>
          <p:cNvPicPr>
            <a:picLocks noChangeAspect="1"/>
          </p:cNvPicPr>
          <p:nvPr/>
        </p:nvPicPr>
        <p:blipFill>
          <a:blip r:embed="rId3"/>
          <a:stretch>
            <a:fillRect/>
          </a:stretch>
        </p:blipFill>
        <p:spPr>
          <a:xfrm>
            <a:off x="400685" y="-692785"/>
            <a:ext cx="4194175" cy="3027680"/>
          </a:xfrm>
          <a:prstGeom prst="rect">
            <a:avLst/>
          </a:prstGeom>
        </p:spPr>
      </p:pic>
      <p:sp>
        <p:nvSpPr>
          <p:cNvPr id="18" name="圆角矩形 8">
            <a:extLst>
              <a:ext uri="{FF2B5EF4-FFF2-40B4-BE49-F238E27FC236}">
                <a16:creationId xmlns:a16="http://schemas.microsoft.com/office/drawing/2014/main" id="{8FBBB7F1-4088-4D4F-939E-AFD0028F756F}"/>
              </a:ext>
            </a:extLst>
          </p:cNvPr>
          <p:cNvSpPr/>
          <p:nvPr/>
        </p:nvSpPr>
        <p:spPr>
          <a:xfrm>
            <a:off x="5642044" y="5940856"/>
            <a:ext cx="9111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06</a:t>
            </a:r>
            <a:endParaRPr lang="zh-CN" altLang="en-US" b="1" dirty="0"/>
          </a:p>
        </p:txBody>
      </p:sp>
      <p:sp>
        <p:nvSpPr>
          <p:cNvPr id="19" name="圆角矩形 62">
            <a:extLst>
              <a:ext uri="{FF2B5EF4-FFF2-40B4-BE49-F238E27FC236}">
                <a16:creationId xmlns:a16="http://schemas.microsoft.com/office/drawing/2014/main" id="{4DDC1062-4564-4F71-8392-9543FF83954A}"/>
              </a:ext>
            </a:extLst>
          </p:cNvPr>
          <p:cNvSpPr/>
          <p:nvPr/>
        </p:nvSpPr>
        <p:spPr>
          <a:xfrm>
            <a:off x="6746944" y="5940856"/>
            <a:ext cx="3476556" cy="577144"/>
          </a:xfrm>
          <a:prstGeom prst="roundRect">
            <a:avLst>
              <a:gd name="adj" fmla="val 50000"/>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参考文献</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196340" cy="460375"/>
          </a:xfrm>
          <a:prstGeom prst="rect">
            <a:avLst/>
          </a:prstGeom>
          <a:noFill/>
        </p:spPr>
        <p:txBody>
          <a:bodyPr wrap="none" rtlCol="0">
            <a:spAutoFit/>
          </a:bodyPr>
          <a:lstStyle/>
          <a:p>
            <a:r>
              <a:rPr lang="en-US" altLang="zh-CN" sz="2400" dirty="0">
                <a:solidFill>
                  <a:srgbClr val="133984"/>
                </a:solidFill>
                <a:latin typeface="微软雅黑" panose="020B0503020204020204" pitchFamily="34" charset="-122"/>
                <a:ea typeface="微软雅黑" panose="020B0503020204020204" pitchFamily="34" charset="-122"/>
              </a:rPr>
              <a:t>Part.01</a:t>
            </a:r>
          </a:p>
        </p:txBody>
      </p:sp>
      <p:sp>
        <p:nvSpPr>
          <p:cNvPr id="9" name="文本框 8"/>
          <p:cNvSpPr txBox="1"/>
          <p:nvPr/>
        </p:nvSpPr>
        <p:spPr>
          <a:xfrm>
            <a:off x="3327401" y="4779456"/>
            <a:ext cx="5537198" cy="706755"/>
          </a:xfrm>
          <a:prstGeom prst="rect">
            <a:avLst/>
          </a:prstGeom>
          <a:noFill/>
          <a:ln>
            <a:noFill/>
          </a:ln>
        </p:spPr>
        <p:txBody>
          <a:bodyPr wrap="square" rtlCol="0">
            <a:spAutoFit/>
          </a:bodyPr>
          <a:lstStyle/>
          <a:p>
            <a:pPr algn="ctr"/>
            <a:r>
              <a:rPr lang="zh-CN" altLang="en-US" sz="4000" b="1" spc="600" dirty="0">
                <a:solidFill>
                  <a:srgbClr val="133984"/>
                </a:solidFill>
                <a:latin typeface="微软雅黑" panose="020B0503020204020204" pitchFamily="34" charset="-122"/>
                <a:ea typeface="微软雅黑" panose="020B0503020204020204" pitchFamily="34" charset="-122"/>
              </a:rPr>
              <a:t>研究背景及意义</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F2C3AD52-0012-4E04-8B14-77BF2F963181}"/>
              </a:ext>
            </a:extLst>
          </p:cNvPr>
          <p:cNvPicPr>
            <a:picLocks noChangeAspect="1"/>
          </p:cNvPicPr>
          <p:nvPr/>
        </p:nvPicPr>
        <p:blipFill>
          <a:blip r:embed="rId3"/>
          <a:stretch>
            <a:fillRect/>
          </a:stretch>
        </p:blipFill>
        <p:spPr>
          <a:xfrm>
            <a:off x="6541135" y="4398171"/>
            <a:ext cx="3179445" cy="2336259"/>
          </a:xfrm>
          <a:prstGeom prst="rect">
            <a:avLst/>
          </a:prstGeom>
        </p:spPr>
      </p:pic>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solidFill>
                <a:latin typeface="微软雅黑" panose="020B0503020204020204" pitchFamily="34" charset="-122"/>
                <a:ea typeface="微软雅黑" panose="020B0503020204020204" pitchFamily="34" charset="-122"/>
              </a:rPr>
              <a:t>1.1 </a:t>
            </a:r>
            <a:r>
              <a:rPr lang="zh-CN" altLang="en-US" sz="1865" b="1" dirty="0">
                <a:solidFill>
                  <a:schemeClr val="tx1"/>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425753" y="1579703"/>
            <a:ext cx="11495220" cy="517073"/>
          </a:xfrm>
          <a:prstGeom prst="rect">
            <a:avLst/>
          </a:prstGeom>
          <a:solidFill>
            <a:srgbClr val="133984"/>
          </a:solidFill>
          <a:ln w="12700" cap="flat" cmpd="sng" algn="ctr">
            <a:solidFill>
              <a:srgbClr val="448AD7"/>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研究背景概述</a:t>
            </a:r>
          </a:p>
        </p:txBody>
      </p:sp>
      <p:sp>
        <p:nvSpPr>
          <p:cNvPr id="52" name="学论网-矩形 1"/>
          <p:cNvSpPr/>
          <p:nvPr/>
        </p:nvSpPr>
        <p:spPr>
          <a:xfrm>
            <a:off x="425753" y="2096776"/>
            <a:ext cx="11495220" cy="460279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3" name="文本框 2"/>
          <p:cNvSpPr txBox="1"/>
          <p:nvPr/>
        </p:nvSpPr>
        <p:spPr>
          <a:xfrm>
            <a:off x="559184" y="2203974"/>
            <a:ext cx="10751127" cy="2585323"/>
          </a:xfrm>
          <a:prstGeom prst="rect">
            <a:avLst/>
          </a:prstGeom>
          <a:noFill/>
        </p:spPr>
        <p:txBody>
          <a:bodyPr wrap="square" rtlCol="0">
            <a:spAutoFit/>
          </a:bodyPr>
          <a:lstStyle/>
          <a:p>
            <a:pPr>
              <a:lnSpc>
                <a:spcPct val="150000"/>
              </a:lnSpc>
            </a:pPr>
            <a:r>
              <a:rPr lang="zh-CN" altLang="en-US" b="0" i="0" dirty="0">
                <a:effectLst/>
                <a:latin typeface="微软雅黑" panose="020B0503020204020204" pitchFamily="34" charset="-122"/>
                <a:ea typeface="微软雅黑" panose="020B0503020204020204" pitchFamily="34" charset="-122"/>
              </a:rPr>
              <a:t>         </a:t>
            </a:r>
            <a:r>
              <a:rPr lang="zh-CN" altLang="en-US" b="0" i="0" dirty="0">
                <a:effectLst/>
                <a:latin typeface="苹方字体" panose="020B0300000000000000" pitchFamily="34" charset="-122"/>
                <a:ea typeface="苹方字体" panose="020B0300000000000000" pitchFamily="34" charset="-122"/>
              </a:rPr>
              <a:t>随着交通流量的不断增长，高速公路面临的拥堵问题日益严重，尤其在发生交通事故时，常常引发长时间的“幽灵堵车”，导致交通效率大幅下降。传统人工驾驶难以迅速响应并有效缓解此类突发状况，主要体现在以下几个方面：</a:t>
            </a:r>
            <a:r>
              <a:rPr lang="zh-CN" altLang="en-US" b="1" i="0" dirty="0">
                <a:solidFill>
                  <a:srgbClr val="FF0000"/>
                </a:solidFill>
                <a:effectLst/>
                <a:latin typeface="苹方字体" panose="020B0300000000000000" pitchFamily="34" charset="-122"/>
                <a:ea typeface="苹方字体" panose="020B0300000000000000" pitchFamily="34" charset="-122"/>
              </a:rPr>
              <a:t>①反应迟缓 ②资源浪费</a:t>
            </a:r>
            <a:r>
              <a:rPr lang="zh-CN" altLang="en-US" dirty="0">
                <a:solidFill>
                  <a:srgbClr val="FF0000"/>
                </a:solidFill>
                <a:latin typeface="苹方字体" panose="020B0300000000000000" pitchFamily="34" charset="-122"/>
                <a:ea typeface="苹方字体" panose="020B0300000000000000" pitchFamily="34" charset="-122"/>
              </a:rPr>
              <a:t> </a:t>
            </a:r>
            <a:r>
              <a:rPr lang="zh-CN" altLang="en-US" b="1" i="0" dirty="0">
                <a:solidFill>
                  <a:srgbClr val="FF0000"/>
                </a:solidFill>
                <a:effectLst/>
                <a:latin typeface="苹方字体" panose="020B0300000000000000" pitchFamily="34" charset="-122"/>
                <a:ea typeface="苹方字体" panose="020B0300000000000000" pitchFamily="34" charset="-122"/>
              </a:rPr>
              <a:t>③管理难度大</a:t>
            </a:r>
            <a:r>
              <a:rPr lang="zh-CN" altLang="en-US" b="0" i="0" dirty="0">
                <a:effectLst/>
                <a:latin typeface="苹方字体" panose="020B0300000000000000" pitchFamily="34" charset="-122"/>
                <a:ea typeface="苹方字体" panose="020B0300000000000000" pitchFamily="34" charset="-122"/>
              </a:rPr>
              <a:t>                 </a:t>
            </a:r>
            <a:endParaRPr lang="zh-CN" altLang="en-US" dirty="0">
              <a:latin typeface="苹方字体" panose="020B0300000000000000" pitchFamily="34" charset="-122"/>
              <a:ea typeface="苹方字体" panose="020B0300000000000000" pitchFamily="34" charset="-122"/>
            </a:endParaRPr>
          </a:p>
          <a:p>
            <a:pPr>
              <a:lnSpc>
                <a:spcPct val="150000"/>
              </a:lnSpc>
            </a:pPr>
            <a:r>
              <a:rPr lang="zh-CN" altLang="en-US" sz="2400" b="0" i="0" dirty="0">
                <a:effectLst/>
                <a:latin typeface="Inter"/>
              </a:rPr>
              <a:t>       </a:t>
            </a:r>
            <a:r>
              <a:rPr lang="zh-CN" altLang="en-US" b="0" i="0" dirty="0">
                <a:effectLst/>
                <a:latin typeface="苹方字体" panose="020B0300000000000000" pitchFamily="34" charset="-122"/>
                <a:ea typeface="苹方字体" panose="020B0300000000000000" pitchFamily="34" charset="-122"/>
              </a:rPr>
              <a:t>对于高速公路场景下的通信延迟与堵塞带来的经济损失和能源消耗问题，运用基于深度强化学习的通信</a:t>
            </a:r>
            <a:r>
              <a:rPr lang="en-US" altLang="zh-CN" b="0" i="0" dirty="0">
                <a:effectLst/>
                <a:latin typeface="苹方字体" panose="020B0300000000000000" pitchFamily="34" charset="-122"/>
                <a:ea typeface="苹方字体" panose="020B0300000000000000" pitchFamily="34" charset="-122"/>
              </a:rPr>
              <a:t>-</a:t>
            </a:r>
            <a:r>
              <a:rPr lang="zh-CN" altLang="en-US" b="0" i="0" dirty="0">
                <a:effectLst/>
                <a:latin typeface="苹方字体" panose="020B0300000000000000" pitchFamily="34" charset="-122"/>
                <a:ea typeface="苹方字体" panose="020B0300000000000000" pitchFamily="34" charset="-122"/>
              </a:rPr>
              <a:t>编队协同优化技术可以为编队系统赋予更高水平的协同智能与安全保障。</a:t>
            </a:r>
            <a:endParaRPr lang="en-US" altLang="zh-CN" b="0" i="0" dirty="0">
              <a:effectLst/>
              <a:latin typeface="苹方字体" panose="020B0300000000000000" pitchFamily="34" charset="-122"/>
              <a:ea typeface="苹方字体" panose="020B0300000000000000" pitchFamily="34" charset="-122"/>
            </a:endParaRPr>
          </a:p>
          <a:p>
            <a:r>
              <a:rPr lang="zh-CN" altLang="en-US" b="0" i="0" dirty="0">
                <a:effectLst/>
                <a:latin typeface="苹方字体" panose="020B0300000000000000" pitchFamily="34" charset="-122"/>
                <a:ea typeface="苹方字体" panose="020B0300000000000000" pitchFamily="34" charset="-122"/>
              </a:rPr>
              <a:t>      </a:t>
            </a:r>
            <a:endParaRPr lang="zh-CN" altLang="en-US" dirty="0"/>
          </a:p>
        </p:txBody>
      </p:sp>
      <p:pic>
        <p:nvPicPr>
          <p:cNvPr id="4" name="图片 3">
            <a:extLst>
              <a:ext uri="{FF2B5EF4-FFF2-40B4-BE49-F238E27FC236}">
                <a16:creationId xmlns:a16="http://schemas.microsoft.com/office/drawing/2014/main" id="{A6FF6110-0440-4801-9798-15E0BEEC45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04401" y="4645879"/>
            <a:ext cx="1609045" cy="1996221"/>
          </a:xfrm>
          <a:prstGeom prst="rect">
            <a:avLst/>
          </a:prstGeom>
        </p:spPr>
      </p:pic>
      <p:pic>
        <p:nvPicPr>
          <p:cNvPr id="6" name="图片 5">
            <a:extLst>
              <a:ext uri="{FF2B5EF4-FFF2-40B4-BE49-F238E27FC236}">
                <a16:creationId xmlns:a16="http://schemas.microsoft.com/office/drawing/2014/main" id="{250C849C-7A4A-49A2-A9B8-B3943E44E5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05002" y="4554340"/>
            <a:ext cx="1107871" cy="2132859"/>
          </a:xfrm>
          <a:prstGeom prst="rect">
            <a:avLst/>
          </a:prstGeom>
        </p:spPr>
      </p:pic>
      <p:cxnSp>
        <p:nvCxnSpPr>
          <p:cNvPr id="11" name="直接连接符 10">
            <a:extLst>
              <a:ext uri="{FF2B5EF4-FFF2-40B4-BE49-F238E27FC236}">
                <a16:creationId xmlns:a16="http://schemas.microsoft.com/office/drawing/2014/main" id="{768FAF21-5799-470C-9731-4D677B41C52D}"/>
              </a:ext>
            </a:extLst>
          </p:cNvPr>
          <p:cNvCxnSpPr>
            <a:cxnSpLocks/>
          </p:cNvCxnSpPr>
          <p:nvPr/>
        </p:nvCxnSpPr>
        <p:spPr>
          <a:xfrm>
            <a:off x="425752" y="4530065"/>
            <a:ext cx="3795309" cy="0"/>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a:extLst>
              <a:ext uri="{FF2B5EF4-FFF2-40B4-BE49-F238E27FC236}">
                <a16:creationId xmlns:a16="http://schemas.microsoft.com/office/drawing/2014/main" id="{63D7F409-224E-4062-8DDE-0C2D63B02D38}"/>
              </a:ext>
            </a:extLst>
          </p:cNvPr>
          <p:cNvCxnSpPr/>
          <p:nvPr/>
        </p:nvCxnSpPr>
        <p:spPr>
          <a:xfrm>
            <a:off x="4221061" y="4530065"/>
            <a:ext cx="6967571" cy="0"/>
          </a:xfrm>
          <a:prstGeom prst="line">
            <a:avLst/>
          </a:prstGeom>
        </p:spPr>
        <p:style>
          <a:lnRef idx="1">
            <a:schemeClr val="dk1"/>
          </a:lnRef>
          <a:fillRef idx="0">
            <a:schemeClr val="dk1"/>
          </a:fillRef>
          <a:effectRef idx="0">
            <a:schemeClr val="dk1"/>
          </a:effectRef>
          <a:fontRef idx="minor">
            <a:schemeClr val="tx1"/>
          </a:fontRef>
        </p:style>
      </p:cxnSp>
      <p:sp>
        <p:nvSpPr>
          <p:cNvPr id="39" name="矩形 4">
            <a:extLst>
              <a:ext uri="{FF2B5EF4-FFF2-40B4-BE49-F238E27FC236}">
                <a16:creationId xmlns:a16="http://schemas.microsoft.com/office/drawing/2014/main" id="{8ACA55FF-FA4F-41B7-A61A-80FA77BBD250}"/>
              </a:ext>
            </a:extLst>
          </p:cNvPr>
          <p:cNvSpPr/>
          <p:nvPr/>
        </p:nvSpPr>
        <p:spPr>
          <a:xfrm>
            <a:off x="-10066" y="-1861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40" name="直接连接符 39">
            <a:extLst>
              <a:ext uri="{FF2B5EF4-FFF2-40B4-BE49-F238E27FC236}">
                <a16:creationId xmlns:a16="http://schemas.microsoft.com/office/drawing/2014/main" id="{D66CBD48-865E-424A-B63F-2C9AB5526E88}"/>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CA64BA73-CDD7-4357-8DFB-5846FDB6BCA9}"/>
              </a:ext>
            </a:extLst>
          </p:cNvPr>
          <p:cNvSpPr/>
          <p:nvPr/>
        </p:nvSpPr>
        <p:spPr>
          <a:xfrm>
            <a:off x="3231850" y="0"/>
            <a:ext cx="1666001" cy="792000"/>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2" name="直接连接符 41">
            <a:extLst>
              <a:ext uri="{FF2B5EF4-FFF2-40B4-BE49-F238E27FC236}">
                <a16:creationId xmlns:a16="http://schemas.microsoft.com/office/drawing/2014/main" id="{076307E0-00A3-4D31-B7C3-5061F89DCE69}"/>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TextBox 6">
            <a:extLst>
              <a:ext uri="{FF2B5EF4-FFF2-40B4-BE49-F238E27FC236}">
                <a16:creationId xmlns:a16="http://schemas.microsoft.com/office/drawing/2014/main" id="{FF5F8D31-1125-4DAC-B253-2A0F7D30B278}"/>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研究背景及意义</a:t>
            </a:r>
          </a:p>
        </p:txBody>
      </p:sp>
      <p:sp>
        <p:nvSpPr>
          <p:cNvPr id="44" name="TextBox 7">
            <a:extLst>
              <a:ext uri="{FF2B5EF4-FFF2-40B4-BE49-F238E27FC236}">
                <a16:creationId xmlns:a16="http://schemas.microsoft.com/office/drawing/2014/main" id="{E4A35539-E478-4B51-BC92-BDE953A70FFF}"/>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国内外研究现状</a:t>
            </a:r>
          </a:p>
        </p:txBody>
      </p:sp>
      <p:sp>
        <p:nvSpPr>
          <p:cNvPr id="45" name="TextBox 9">
            <a:extLst>
              <a:ext uri="{FF2B5EF4-FFF2-40B4-BE49-F238E27FC236}">
                <a16:creationId xmlns:a16="http://schemas.microsoft.com/office/drawing/2014/main" id="{4DB25E63-61EB-4368-AFFC-E40FA9D6E5F6}"/>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研究内容和依据</a:t>
            </a:r>
          </a:p>
        </p:txBody>
      </p:sp>
      <p:sp>
        <p:nvSpPr>
          <p:cNvPr id="46" name="TextBox 10">
            <a:extLst>
              <a:ext uri="{FF2B5EF4-FFF2-40B4-BE49-F238E27FC236}">
                <a16:creationId xmlns:a16="http://schemas.microsoft.com/office/drawing/2014/main" id="{0D4FE864-D73C-439F-A547-D22EC7792FFA}"/>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47" name="TextBox 11">
            <a:extLst>
              <a:ext uri="{FF2B5EF4-FFF2-40B4-BE49-F238E27FC236}">
                <a16:creationId xmlns:a16="http://schemas.microsoft.com/office/drawing/2014/main" id="{89083854-C42F-4B0D-95C1-ECC8FF6681D0}"/>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48" name="直接连接符 47">
            <a:extLst>
              <a:ext uri="{FF2B5EF4-FFF2-40B4-BE49-F238E27FC236}">
                <a16:creationId xmlns:a16="http://schemas.microsoft.com/office/drawing/2014/main" id="{591A6D57-C023-49D2-A530-C4953C95B702}"/>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193E68C6-031D-4247-90C7-49D7F1823F82}"/>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TextBox 7">
            <a:extLst>
              <a:ext uri="{FF2B5EF4-FFF2-40B4-BE49-F238E27FC236}">
                <a16:creationId xmlns:a16="http://schemas.microsoft.com/office/drawing/2014/main" id="{308D2354-B7AB-4F95-BC37-0648C9B550FD}"/>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12" name="图片 11" descr="沈阳建筑大学抠图"/>
          <p:cNvPicPr>
            <a:picLocks noChangeAspect="1"/>
          </p:cNvPicPr>
          <p:nvPr/>
        </p:nvPicPr>
        <p:blipFill>
          <a:blip r:embed="rId6"/>
          <a:stretch>
            <a:fillRect/>
          </a:stretch>
        </p:blipFill>
        <p:spPr>
          <a:xfrm>
            <a:off x="-23495" y="-774065"/>
            <a:ext cx="3274695" cy="236410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solidFill>
                <a:latin typeface="微软雅黑" panose="020B0503020204020204" pitchFamily="34" charset="-122"/>
                <a:ea typeface="微软雅黑" panose="020B0503020204020204" pitchFamily="34" charset="-122"/>
              </a:rPr>
              <a:t>1.2 </a:t>
            </a:r>
            <a:r>
              <a:rPr lang="zh-CN" altLang="en-US" sz="1865" b="1" dirty="0">
                <a:solidFill>
                  <a:schemeClr val="tx1"/>
                </a:solidFill>
                <a:latin typeface="微软雅黑" panose="020B0503020204020204" pitchFamily="34" charset="-122"/>
                <a:ea typeface="微软雅黑" panose="020B0503020204020204" pitchFamily="34" charset="-122"/>
              </a:rPr>
              <a:t>研究意义</a:t>
            </a:r>
          </a:p>
        </p:txBody>
      </p:sp>
      <p:sp>
        <p:nvSpPr>
          <p:cNvPr id="32" name="矩形 4">
            <a:extLst>
              <a:ext uri="{FF2B5EF4-FFF2-40B4-BE49-F238E27FC236}">
                <a16:creationId xmlns:a16="http://schemas.microsoft.com/office/drawing/2014/main" id="{83682C66-4BAE-4686-910A-3315CA8F0509}"/>
              </a:ext>
            </a:extLst>
          </p:cNvPr>
          <p:cNvSpPr/>
          <p:nvPr/>
        </p:nvSpPr>
        <p:spPr>
          <a:xfrm>
            <a:off x="-10066" y="-1861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3" name="直接连接符 32">
            <a:extLst>
              <a:ext uri="{FF2B5EF4-FFF2-40B4-BE49-F238E27FC236}">
                <a16:creationId xmlns:a16="http://schemas.microsoft.com/office/drawing/2014/main" id="{FA2E4093-E82B-4F29-ADCC-04DF57BFCA98}"/>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D792D010-00E0-445F-ACC6-283152A29CA4}"/>
              </a:ext>
            </a:extLst>
          </p:cNvPr>
          <p:cNvSpPr/>
          <p:nvPr/>
        </p:nvSpPr>
        <p:spPr>
          <a:xfrm>
            <a:off x="3231850" y="0"/>
            <a:ext cx="1666001" cy="792000"/>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9" name="直接连接符 48">
            <a:extLst>
              <a:ext uri="{FF2B5EF4-FFF2-40B4-BE49-F238E27FC236}">
                <a16:creationId xmlns:a16="http://schemas.microsoft.com/office/drawing/2014/main" id="{B63D948C-1D1E-4AB8-B105-E77BBC9E3618}"/>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TextBox 6">
            <a:extLst>
              <a:ext uri="{FF2B5EF4-FFF2-40B4-BE49-F238E27FC236}">
                <a16:creationId xmlns:a16="http://schemas.microsoft.com/office/drawing/2014/main" id="{4D7E9ED1-AF55-4DD0-96CD-0C50825AC77F}"/>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研究背景及意义</a:t>
            </a:r>
          </a:p>
        </p:txBody>
      </p:sp>
      <p:sp>
        <p:nvSpPr>
          <p:cNvPr id="51" name="TextBox 7">
            <a:extLst>
              <a:ext uri="{FF2B5EF4-FFF2-40B4-BE49-F238E27FC236}">
                <a16:creationId xmlns:a16="http://schemas.microsoft.com/office/drawing/2014/main" id="{95EB2483-C94E-45C2-A16A-3F2F5475701F}"/>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国内外研究现状</a:t>
            </a:r>
          </a:p>
        </p:txBody>
      </p:sp>
      <p:sp>
        <p:nvSpPr>
          <p:cNvPr id="52" name="TextBox 9">
            <a:extLst>
              <a:ext uri="{FF2B5EF4-FFF2-40B4-BE49-F238E27FC236}">
                <a16:creationId xmlns:a16="http://schemas.microsoft.com/office/drawing/2014/main" id="{6CF17A3A-84B0-4FA1-A752-163DBBE1F7FC}"/>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研究内容和依据</a:t>
            </a:r>
          </a:p>
        </p:txBody>
      </p:sp>
      <p:sp>
        <p:nvSpPr>
          <p:cNvPr id="53" name="TextBox 10">
            <a:extLst>
              <a:ext uri="{FF2B5EF4-FFF2-40B4-BE49-F238E27FC236}">
                <a16:creationId xmlns:a16="http://schemas.microsoft.com/office/drawing/2014/main" id="{3517B853-ACA3-4DA7-9C86-656743D059CB}"/>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54" name="TextBox 11">
            <a:extLst>
              <a:ext uri="{FF2B5EF4-FFF2-40B4-BE49-F238E27FC236}">
                <a16:creationId xmlns:a16="http://schemas.microsoft.com/office/drawing/2014/main" id="{2B7F6229-65AD-46A6-AA49-7235741FD525}"/>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55" name="直接连接符 54">
            <a:extLst>
              <a:ext uri="{FF2B5EF4-FFF2-40B4-BE49-F238E27FC236}">
                <a16:creationId xmlns:a16="http://schemas.microsoft.com/office/drawing/2014/main" id="{5342AE95-11E8-4EB7-AAA3-91358C5CA716}"/>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CA04DD8E-7CE8-4B47-B4E0-2736F7C1F401}"/>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7" name="TextBox 7">
            <a:extLst>
              <a:ext uri="{FF2B5EF4-FFF2-40B4-BE49-F238E27FC236}">
                <a16:creationId xmlns:a16="http://schemas.microsoft.com/office/drawing/2014/main" id="{354F6997-432E-4A44-84E2-247A8871E93F}"/>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12" name="图片 11" descr="沈阳建筑大学抠图"/>
          <p:cNvPicPr>
            <a:picLocks noChangeAspect="1"/>
          </p:cNvPicPr>
          <p:nvPr/>
        </p:nvPicPr>
        <p:blipFill>
          <a:blip r:embed="rId3"/>
          <a:stretch>
            <a:fillRect/>
          </a:stretch>
        </p:blipFill>
        <p:spPr>
          <a:xfrm>
            <a:off x="-15902" y="-804665"/>
            <a:ext cx="3274695" cy="2364105"/>
          </a:xfrm>
          <a:prstGeom prst="rect">
            <a:avLst/>
          </a:prstGeom>
        </p:spPr>
      </p:pic>
      <p:pic>
        <p:nvPicPr>
          <p:cNvPr id="5" name="图片 4">
            <a:extLst>
              <a:ext uri="{FF2B5EF4-FFF2-40B4-BE49-F238E27FC236}">
                <a16:creationId xmlns:a16="http://schemas.microsoft.com/office/drawing/2014/main" id="{D6B85D33-B847-43E4-97D8-A8300FA645E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8728"/>
          <a:stretch/>
        </p:blipFill>
        <p:spPr>
          <a:xfrm>
            <a:off x="5076369" y="1583885"/>
            <a:ext cx="3719929" cy="2137856"/>
          </a:xfrm>
          <a:prstGeom prst="rect">
            <a:avLst/>
          </a:prstGeom>
          <a:effectLst>
            <a:outerShdw blurRad="50800" dist="38100" dir="2700000" algn="tl" rotWithShape="0">
              <a:prstClr val="black">
                <a:alpha val="40000"/>
              </a:prstClr>
            </a:outerShdw>
          </a:effectLst>
        </p:spPr>
      </p:pic>
      <p:pic>
        <p:nvPicPr>
          <p:cNvPr id="7" name="图片 6">
            <a:extLst>
              <a:ext uri="{FF2B5EF4-FFF2-40B4-BE49-F238E27FC236}">
                <a16:creationId xmlns:a16="http://schemas.microsoft.com/office/drawing/2014/main" id="{BC2BF801-F215-4B6C-BA22-657FF33F561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3111" b="11327"/>
          <a:stretch/>
        </p:blipFill>
        <p:spPr>
          <a:xfrm>
            <a:off x="8903357" y="1580300"/>
            <a:ext cx="3172414" cy="2137857"/>
          </a:xfrm>
          <a:prstGeom prst="rect">
            <a:avLst/>
          </a:prstGeom>
          <a:effectLst>
            <a:outerShdw blurRad="50800" dist="38100" dir="2700000" algn="tl" rotWithShape="0">
              <a:prstClr val="black">
                <a:alpha val="40000"/>
              </a:prstClr>
            </a:outerShdw>
          </a:effectLst>
        </p:spPr>
      </p:pic>
      <p:pic>
        <p:nvPicPr>
          <p:cNvPr id="11" name="图片 10">
            <a:extLst>
              <a:ext uri="{FF2B5EF4-FFF2-40B4-BE49-F238E27FC236}">
                <a16:creationId xmlns:a16="http://schemas.microsoft.com/office/drawing/2014/main" id="{6B6E41A7-7F37-4A6F-8847-DCF146E84646}"/>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22659" r="14811"/>
          <a:stretch/>
        </p:blipFill>
        <p:spPr>
          <a:xfrm>
            <a:off x="5077282" y="4138817"/>
            <a:ext cx="3719472" cy="2251210"/>
          </a:xfrm>
          <a:prstGeom prst="rect">
            <a:avLst/>
          </a:prstGeom>
          <a:effectLst>
            <a:outerShdw blurRad="50800" dist="38100" dir="2700000" algn="tl" rotWithShape="0">
              <a:prstClr val="black">
                <a:alpha val="40000"/>
              </a:prstClr>
            </a:outerShdw>
          </a:effectLst>
        </p:spPr>
      </p:pic>
      <p:sp>
        <p:nvSpPr>
          <p:cNvPr id="2" name="文本框 1">
            <a:extLst>
              <a:ext uri="{FF2B5EF4-FFF2-40B4-BE49-F238E27FC236}">
                <a16:creationId xmlns:a16="http://schemas.microsoft.com/office/drawing/2014/main" id="{46AF59BF-33E2-4284-AB44-E3A223968048}"/>
              </a:ext>
            </a:extLst>
          </p:cNvPr>
          <p:cNvSpPr txBox="1"/>
          <p:nvPr/>
        </p:nvSpPr>
        <p:spPr>
          <a:xfrm>
            <a:off x="668216" y="1731977"/>
            <a:ext cx="3719929" cy="646331"/>
          </a:xfrm>
          <a:prstGeom prst="rect">
            <a:avLst/>
          </a:prstGeom>
          <a:noFill/>
        </p:spPr>
        <p:txBody>
          <a:bodyPr wrap="square" rtlCol="0">
            <a:spAutoFit/>
          </a:bodyPr>
          <a:lstStyle/>
          <a:p>
            <a:r>
              <a:rPr lang="zh-CN" altLang="en-US" dirty="0"/>
              <a:t> 同时本项研究还可以在其他多智能体领域应用如：</a:t>
            </a:r>
          </a:p>
        </p:txBody>
      </p:sp>
      <p:sp>
        <p:nvSpPr>
          <p:cNvPr id="4" name="左大括号 3">
            <a:extLst>
              <a:ext uri="{FF2B5EF4-FFF2-40B4-BE49-F238E27FC236}">
                <a16:creationId xmlns:a16="http://schemas.microsoft.com/office/drawing/2014/main" id="{2691A19E-238F-47A7-A882-4F297A3D1FD3}"/>
              </a:ext>
            </a:extLst>
          </p:cNvPr>
          <p:cNvSpPr/>
          <p:nvPr/>
        </p:nvSpPr>
        <p:spPr>
          <a:xfrm rot="10800000" flipH="1">
            <a:off x="425752" y="2669415"/>
            <a:ext cx="400235" cy="3182814"/>
          </a:xfrm>
          <a:prstGeom prst="leftBrace">
            <a:avLst/>
          </a:prstGeom>
          <a:ln w="38100">
            <a:solidFill>
              <a:srgbClr val="133984"/>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705FD636-F4CE-4974-AAEC-B99FFE92F375}"/>
              </a:ext>
            </a:extLst>
          </p:cNvPr>
          <p:cNvSpPr txBox="1"/>
          <p:nvPr/>
        </p:nvSpPr>
        <p:spPr>
          <a:xfrm>
            <a:off x="1099339" y="2635880"/>
            <a:ext cx="2472836" cy="369332"/>
          </a:xfrm>
          <a:prstGeom prst="rect">
            <a:avLst/>
          </a:prstGeom>
          <a:noFill/>
        </p:spPr>
        <p:txBody>
          <a:bodyPr wrap="square">
            <a:spAutoFit/>
          </a:bodyPr>
          <a:lstStyle/>
          <a:p>
            <a:r>
              <a:rPr lang="zh-CN" altLang="en-US" dirty="0">
                <a:latin typeface="苹方 粗体" panose="020B0600000000000000" pitchFamily="34" charset="-122"/>
                <a:ea typeface="苹方 粗体" panose="020B0600000000000000" pitchFamily="34" charset="-122"/>
              </a:rPr>
              <a:t>①城市无人配送车队</a:t>
            </a:r>
          </a:p>
        </p:txBody>
      </p:sp>
      <p:sp>
        <p:nvSpPr>
          <p:cNvPr id="27" name="文本框 26">
            <a:extLst>
              <a:ext uri="{FF2B5EF4-FFF2-40B4-BE49-F238E27FC236}">
                <a16:creationId xmlns:a16="http://schemas.microsoft.com/office/drawing/2014/main" id="{723FBCAE-9640-441D-86D5-34603D0097BB}"/>
              </a:ext>
            </a:extLst>
          </p:cNvPr>
          <p:cNvSpPr txBox="1"/>
          <p:nvPr/>
        </p:nvSpPr>
        <p:spPr>
          <a:xfrm>
            <a:off x="1098542" y="3597579"/>
            <a:ext cx="3164625" cy="369332"/>
          </a:xfrm>
          <a:prstGeom prst="rect">
            <a:avLst/>
          </a:prstGeom>
          <a:noFill/>
        </p:spPr>
        <p:txBody>
          <a:bodyPr wrap="square">
            <a:spAutoFit/>
          </a:bodyPr>
          <a:lstStyle/>
          <a:p>
            <a:r>
              <a:rPr lang="zh-CN" altLang="en-US" dirty="0">
                <a:latin typeface="苹方 粗体" panose="020B0600000000000000" pitchFamily="34" charset="-122"/>
                <a:ea typeface="苹方 粗体" panose="020B0600000000000000" pitchFamily="34" charset="-122"/>
              </a:rPr>
              <a:t>②港口自动化集装箱卡车队列</a:t>
            </a:r>
          </a:p>
        </p:txBody>
      </p:sp>
      <p:sp>
        <p:nvSpPr>
          <p:cNvPr id="29" name="文本框 28">
            <a:extLst>
              <a:ext uri="{FF2B5EF4-FFF2-40B4-BE49-F238E27FC236}">
                <a16:creationId xmlns:a16="http://schemas.microsoft.com/office/drawing/2014/main" id="{603E200C-8C4B-4E5B-A2F8-4F1157D67DF6}"/>
              </a:ext>
            </a:extLst>
          </p:cNvPr>
          <p:cNvSpPr txBox="1"/>
          <p:nvPr/>
        </p:nvSpPr>
        <p:spPr>
          <a:xfrm>
            <a:off x="1098542" y="4540238"/>
            <a:ext cx="2600304" cy="369332"/>
          </a:xfrm>
          <a:prstGeom prst="rect">
            <a:avLst/>
          </a:prstGeom>
          <a:noFill/>
        </p:spPr>
        <p:txBody>
          <a:bodyPr wrap="square">
            <a:spAutoFit/>
          </a:bodyPr>
          <a:lstStyle/>
          <a:p>
            <a:r>
              <a:rPr lang="zh-CN" altLang="en-US" dirty="0">
                <a:latin typeface="苹方 粗体" panose="020B0600000000000000" pitchFamily="34" charset="-122"/>
                <a:ea typeface="苹方 粗体" panose="020B0600000000000000" pitchFamily="34" charset="-122"/>
              </a:rPr>
              <a:t>③农业喷药无人机队列</a:t>
            </a:r>
          </a:p>
        </p:txBody>
      </p:sp>
      <p:sp>
        <p:nvSpPr>
          <p:cNvPr id="31" name="文本框 30">
            <a:extLst>
              <a:ext uri="{FF2B5EF4-FFF2-40B4-BE49-F238E27FC236}">
                <a16:creationId xmlns:a16="http://schemas.microsoft.com/office/drawing/2014/main" id="{39BFE178-74F9-47E9-ADF9-52D8EEB6A6B3}"/>
              </a:ext>
            </a:extLst>
          </p:cNvPr>
          <p:cNvSpPr txBox="1"/>
          <p:nvPr/>
        </p:nvSpPr>
        <p:spPr>
          <a:xfrm>
            <a:off x="1099340" y="5482897"/>
            <a:ext cx="2472836" cy="369332"/>
          </a:xfrm>
          <a:prstGeom prst="rect">
            <a:avLst/>
          </a:prstGeom>
          <a:noFill/>
        </p:spPr>
        <p:txBody>
          <a:bodyPr wrap="square">
            <a:spAutoFit/>
          </a:bodyPr>
          <a:lstStyle/>
          <a:p>
            <a:r>
              <a:rPr lang="zh-CN" altLang="en-US" dirty="0">
                <a:latin typeface="苹方 粗体" panose="020B0600000000000000" pitchFamily="34" charset="-122"/>
                <a:ea typeface="苹方 粗体" panose="020B0600000000000000" pitchFamily="34" charset="-122"/>
              </a:rPr>
              <a:t>④</a:t>
            </a:r>
            <a:r>
              <a:rPr lang="zh-CN" altLang="en-US" b="1" i="0" dirty="0">
                <a:solidFill>
                  <a:srgbClr val="010409"/>
                </a:solidFill>
                <a:effectLst/>
                <a:latin typeface="-apple-system"/>
              </a:rPr>
              <a:t>仓储物流机器人队列</a:t>
            </a:r>
            <a:endParaRPr lang="zh-CN" altLang="en-US" dirty="0">
              <a:latin typeface="苹方 粗体" panose="020B0600000000000000" pitchFamily="34" charset="-122"/>
              <a:ea typeface="苹方 粗体" panose="020B0600000000000000" pitchFamily="34" charset="-122"/>
            </a:endParaRPr>
          </a:p>
        </p:txBody>
      </p:sp>
      <p:pic>
        <p:nvPicPr>
          <p:cNvPr id="15" name="图片 14">
            <a:extLst>
              <a:ext uri="{FF2B5EF4-FFF2-40B4-BE49-F238E27FC236}">
                <a16:creationId xmlns:a16="http://schemas.microsoft.com/office/drawing/2014/main" id="{B26182DD-5915-454C-92EE-822EE82E3BF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 t="12500" r="17796"/>
          <a:stretch/>
        </p:blipFill>
        <p:spPr>
          <a:xfrm>
            <a:off x="8930054" y="4157910"/>
            <a:ext cx="3172414" cy="2251210"/>
          </a:xfrm>
          <a:prstGeom prst="rect">
            <a:avLst/>
          </a:prstGeom>
          <a:effectLst>
            <a:innerShdw blurRad="63500" dist="50800" dir="8100000">
              <a:prstClr val="black">
                <a:alpha val="50000"/>
              </a:prstClr>
            </a:inn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209562" cy="461665"/>
          </a:xfrm>
          <a:prstGeom prst="rect">
            <a:avLst/>
          </a:prstGeom>
          <a:noFill/>
        </p:spPr>
        <p:txBody>
          <a:bodyPr wrap="none" rtlCol="0">
            <a:spAutoFit/>
          </a:bodyPr>
          <a:lstStyle/>
          <a:p>
            <a:r>
              <a:rPr lang="en-US" altLang="zh-CN" sz="2400" dirty="0">
                <a:solidFill>
                  <a:srgbClr val="133984"/>
                </a:solidFill>
                <a:latin typeface="微软雅黑" panose="020B0503020204020204" pitchFamily="34" charset="-122"/>
                <a:ea typeface="微软雅黑" panose="020B0503020204020204" pitchFamily="34" charset="-122"/>
              </a:rPr>
              <a:t>Part.02</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133984"/>
                </a:solidFill>
                <a:latin typeface="微软雅黑" panose="020B0503020204020204" pitchFamily="34" charset="-122"/>
                <a:ea typeface="微软雅黑" panose="020B0503020204020204" pitchFamily="34" charset="-122"/>
              </a:rPr>
              <a:t>国内外研究现状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355" y="1108710"/>
            <a:ext cx="2143760" cy="382270"/>
          </a:xfrm>
          <a:prstGeom prst="rect">
            <a:avLst/>
          </a:prstGeom>
          <a:noFill/>
        </p:spPr>
        <p:txBody>
          <a:bodyPr wrap="square" lIns="0" tIns="48000" rIns="0" bIns="48000" rtlCol="0">
            <a:spAutoFit/>
          </a:bodyPr>
          <a:lstStyle/>
          <a:p>
            <a:pPr algn="ctr"/>
            <a:r>
              <a:rPr lang="en-US" altLang="zh-CN" sz="1865" b="1" dirty="0">
                <a:solidFill>
                  <a:schemeClr val="tx1"/>
                </a:solidFill>
                <a:latin typeface="微软雅黑" panose="020B0503020204020204" pitchFamily="34" charset="-122"/>
                <a:ea typeface="微软雅黑" panose="020B0503020204020204" pitchFamily="34" charset="-122"/>
              </a:rPr>
              <a:t>2.1 </a:t>
            </a:r>
            <a:r>
              <a:rPr lang="zh-CN" altLang="en-US" sz="1865" b="1" dirty="0">
                <a:solidFill>
                  <a:schemeClr val="tx1"/>
                </a:solidFill>
                <a:latin typeface="微软雅黑" panose="020B0503020204020204" pitchFamily="34" charset="-122"/>
                <a:ea typeface="微软雅黑" panose="020B0503020204020204" pitchFamily="34" charset="-122"/>
              </a:rPr>
              <a:t>国内外研究现状</a:t>
            </a:r>
          </a:p>
        </p:txBody>
      </p:sp>
      <p:sp>
        <p:nvSpPr>
          <p:cNvPr id="46" name="矩形 4">
            <a:extLst>
              <a:ext uri="{FF2B5EF4-FFF2-40B4-BE49-F238E27FC236}">
                <a16:creationId xmlns:a16="http://schemas.microsoft.com/office/drawing/2014/main" id="{2DF04454-BA67-4F29-BE58-C3F2C65666F5}"/>
              </a:ext>
            </a:extLst>
          </p:cNvPr>
          <p:cNvSpPr/>
          <p:nvPr/>
        </p:nvSpPr>
        <p:spPr>
          <a:xfrm>
            <a:off x="-10066" y="-1861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47" name="直接连接符 46">
            <a:extLst>
              <a:ext uri="{FF2B5EF4-FFF2-40B4-BE49-F238E27FC236}">
                <a16:creationId xmlns:a16="http://schemas.microsoft.com/office/drawing/2014/main" id="{CB4D9CCB-C9C4-4690-8D8A-95DF181E2B54}"/>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DFF22BAE-CCD2-4B00-BCE8-C0C597C4EA13}"/>
              </a:ext>
            </a:extLst>
          </p:cNvPr>
          <p:cNvSpPr/>
          <p:nvPr/>
        </p:nvSpPr>
        <p:spPr>
          <a:xfrm>
            <a:off x="4972754" y="-18612"/>
            <a:ext cx="1626896"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49" name="直接连接符 48">
            <a:extLst>
              <a:ext uri="{FF2B5EF4-FFF2-40B4-BE49-F238E27FC236}">
                <a16:creationId xmlns:a16="http://schemas.microsoft.com/office/drawing/2014/main" id="{548D376B-9666-478D-ACA2-79D9A132119C}"/>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TextBox 6">
            <a:extLst>
              <a:ext uri="{FF2B5EF4-FFF2-40B4-BE49-F238E27FC236}">
                <a16:creationId xmlns:a16="http://schemas.microsoft.com/office/drawing/2014/main" id="{E2E1524D-78B1-497F-93E6-667FB7BC5299}"/>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51" name="TextBox 7">
            <a:extLst>
              <a:ext uri="{FF2B5EF4-FFF2-40B4-BE49-F238E27FC236}">
                <a16:creationId xmlns:a16="http://schemas.microsoft.com/office/drawing/2014/main" id="{36A76E05-F5E5-4DE5-9158-75A74D5F8549}"/>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国内外研究现状</a:t>
            </a:r>
          </a:p>
        </p:txBody>
      </p:sp>
      <p:sp>
        <p:nvSpPr>
          <p:cNvPr id="52" name="TextBox 9">
            <a:extLst>
              <a:ext uri="{FF2B5EF4-FFF2-40B4-BE49-F238E27FC236}">
                <a16:creationId xmlns:a16="http://schemas.microsoft.com/office/drawing/2014/main" id="{15D29A55-3219-4C4D-BF7D-5B78656AA41F}"/>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研究内容和依据</a:t>
            </a:r>
          </a:p>
        </p:txBody>
      </p:sp>
      <p:sp>
        <p:nvSpPr>
          <p:cNvPr id="53" name="TextBox 10">
            <a:extLst>
              <a:ext uri="{FF2B5EF4-FFF2-40B4-BE49-F238E27FC236}">
                <a16:creationId xmlns:a16="http://schemas.microsoft.com/office/drawing/2014/main" id="{FC171ACF-1993-427A-AB9C-6A410CFE7727}"/>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54" name="TextBox 11">
            <a:extLst>
              <a:ext uri="{FF2B5EF4-FFF2-40B4-BE49-F238E27FC236}">
                <a16:creationId xmlns:a16="http://schemas.microsoft.com/office/drawing/2014/main" id="{30D4157C-E7E9-4105-B17E-8296C2CB534B}"/>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55" name="直接连接符 54">
            <a:extLst>
              <a:ext uri="{FF2B5EF4-FFF2-40B4-BE49-F238E27FC236}">
                <a16:creationId xmlns:a16="http://schemas.microsoft.com/office/drawing/2014/main" id="{65FA2074-0057-4C18-82F9-109F85742C86}"/>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64D9E982-D990-4625-8E8E-34A168D22216}"/>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7" name="TextBox 7">
            <a:extLst>
              <a:ext uri="{FF2B5EF4-FFF2-40B4-BE49-F238E27FC236}">
                <a16:creationId xmlns:a16="http://schemas.microsoft.com/office/drawing/2014/main" id="{E150FE0D-E63B-45BB-AA83-5C8CD991AC1D}"/>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12" name="图片 11" descr="沈阳建筑大学抠图"/>
          <p:cNvPicPr>
            <a:picLocks noChangeAspect="1"/>
          </p:cNvPicPr>
          <p:nvPr/>
        </p:nvPicPr>
        <p:blipFill>
          <a:blip r:embed="rId3"/>
          <a:stretch>
            <a:fillRect/>
          </a:stretch>
        </p:blipFill>
        <p:spPr>
          <a:xfrm>
            <a:off x="-23495" y="-774065"/>
            <a:ext cx="3274695" cy="2364105"/>
          </a:xfrm>
          <a:prstGeom prst="rect">
            <a:avLst/>
          </a:prstGeom>
        </p:spPr>
      </p:pic>
      <p:pic>
        <p:nvPicPr>
          <p:cNvPr id="9" name="图片 8">
            <a:extLst>
              <a:ext uri="{FF2B5EF4-FFF2-40B4-BE49-F238E27FC236}">
                <a16:creationId xmlns:a16="http://schemas.microsoft.com/office/drawing/2014/main" id="{3303EB2E-2771-4708-B231-F906B569F0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18" y="1725692"/>
            <a:ext cx="12060164" cy="49164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209562" cy="461665"/>
          </a:xfrm>
          <a:prstGeom prst="rect">
            <a:avLst/>
          </a:prstGeom>
          <a:noFill/>
        </p:spPr>
        <p:txBody>
          <a:bodyPr wrap="none" rtlCol="0">
            <a:spAutoFit/>
          </a:bodyPr>
          <a:lstStyle/>
          <a:p>
            <a:r>
              <a:rPr lang="en-US" altLang="zh-CN" sz="2400" dirty="0">
                <a:solidFill>
                  <a:srgbClr val="133984"/>
                </a:solidFill>
                <a:latin typeface="微软雅黑" panose="020B0503020204020204" pitchFamily="34" charset="-122"/>
                <a:ea typeface="微软雅黑" panose="020B0503020204020204" pitchFamily="34" charset="-122"/>
              </a:rPr>
              <a:t>Part.03</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133984"/>
                </a:solidFill>
                <a:latin typeface="微软雅黑" panose="020B0503020204020204" pitchFamily="34" charset="-122"/>
                <a:ea typeface="微软雅黑" panose="020B0503020204020204" pitchFamily="34" charset="-122"/>
              </a:rPr>
              <a:t>研究内容和依据</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en-US" altLang="zh-CN" sz="1865" b="1" dirty="0">
                <a:solidFill>
                  <a:schemeClr val="tx1"/>
                </a:solidFill>
                <a:latin typeface="微软雅黑" panose="020B0503020204020204" pitchFamily="34" charset="-122"/>
                <a:ea typeface="微软雅黑" panose="020B0503020204020204" pitchFamily="34" charset="-122"/>
              </a:rPr>
              <a:t>3.1 </a:t>
            </a:r>
            <a:r>
              <a:rPr lang="zh-CN" altLang="en-US" sz="1865" b="1" dirty="0">
                <a:solidFill>
                  <a:schemeClr val="tx1"/>
                </a:solidFill>
                <a:latin typeface="微软雅黑" panose="020B0503020204020204" pitchFamily="34" charset="-122"/>
                <a:ea typeface="微软雅黑" panose="020B0503020204020204" pitchFamily="34" charset="-122"/>
              </a:rPr>
              <a:t>研究内容</a:t>
            </a:r>
          </a:p>
        </p:txBody>
      </p:sp>
      <p:sp>
        <p:nvSpPr>
          <p:cNvPr id="37" name="矩形 4">
            <a:extLst>
              <a:ext uri="{FF2B5EF4-FFF2-40B4-BE49-F238E27FC236}">
                <a16:creationId xmlns:a16="http://schemas.microsoft.com/office/drawing/2014/main" id="{23A86E53-CD09-401E-9BF7-61597BC9100B}"/>
              </a:ext>
            </a:extLst>
          </p:cNvPr>
          <p:cNvSpPr/>
          <p:nvPr/>
        </p:nvSpPr>
        <p:spPr>
          <a:xfrm>
            <a:off x="-10066" y="-1861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8" name="直接连接符 37">
            <a:extLst>
              <a:ext uri="{FF2B5EF4-FFF2-40B4-BE49-F238E27FC236}">
                <a16:creationId xmlns:a16="http://schemas.microsoft.com/office/drawing/2014/main" id="{CC2242CB-FBD2-48F4-8470-E97DE178671A}"/>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id="{D07B6A1F-2EB8-45B4-8D11-8E3B9DB87756}"/>
              </a:ext>
            </a:extLst>
          </p:cNvPr>
          <p:cNvSpPr/>
          <p:nvPr/>
        </p:nvSpPr>
        <p:spPr>
          <a:xfrm>
            <a:off x="6611792" y="-18947"/>
            <a:ext cx="1684342"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40" name="直接连接符 39">
            <a:extLst>
              <a:ext uri="{FF2B5EF4-FFF2-40B4-BE49-F238E27FC236}">
                <a16:creationId xmlns:a16="http://schemas.microsoft.com/office/drawing/2014/main" id="{E85CE963-E2BF-4EFF-8482-CFE9C8A1A612}"/>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TextBox 6">
            <a:extLst>
              <a:ext uri="{FF2B5EF4-FFF2-40B4-BE49-F238E27FC236}">
                <a16:creationId xmlns:a16="http://schemas.microsoft.com/office/drawing/2014/main" id="{0F3A90B4-0212-4F13-8A2E-2729AB9F01F9}"/>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42" name="TextBox 7">
            <a:extLst>
              <a:ext uri="{FF2B5EF4-FFF2-40B4-BE49-F238E27FC236}">
                <a16:creationId xmlns:a16="http://schemas.microsoft.com/office/drawing/2014/main" id="{CFCCC029-D741-471D-901B-92874E2C0F9B}"/>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43" name="TextBox 9">
            <a:extLst>
              <a:ext uri="{FF2B5EF4-FFF2-40B4-BE49-F238E27FC236}">
                <a16:creationId xmlns:a16="http://schemas.microsoft.com/office/drawing/2014/main" id="{3F2F77FA-18E1-41F2-A6DC-B7917DB3B968}"/>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研究内容和依据</a:t>
            </a:r>
          </a:p>
        </p:txBody>
      </p:sp>
      <p:sp>
        <p:nvSpPr>
          <p:cNvPr id="44" name="TextBox 10">
            <a:extLst>
              <a:ext uri="{FF2B5EF4-FFF2-40B4-BE49-F238E27FC236}">
                <a16:creationId xmlns:a16="http://schemas.microsoft.com/office/drawing/2014/main" id="{119C28FA-7D8C-4475-BDBB-567A5DD9794F}"/>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45" name="TextBox 11">
            <a:extLst>
              <a:ext uri="{FF2B5EF4-FFF2-40B4-BE49-F238E27FC236}">
                <a16:creationId xmlns:a16="http://schemas.microsoft.com/office/drawing/2014/main" id="{3A40693A-3C87-4E62-B535-EB6AF2584123}"/>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46" name="直接连接符 45">
            <a:extLst>
              <a:ext uri="{FF2B5EF4-FFF2-40B4-BE49-F238E27FC236}">
                <a16:creationId xmlns:a16="http://schemas.microsoft.com/office/drawing/2014/main" id="{A33F824E-D1D4-411F-B905-78C6CBF20AF0}"/>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C42600EE-E6B8-4D54-9E87-24D6BFEC746A}"/>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TextBox 7">
            <a:extLst>
              <a:ext uri="{FF2B5EF4-FFF2-40B4-BE49-F238E27FC236}">
                <a16:creationId xmlns:a16="http://schemas.microsoft.com/office/drawing/2014/main" id="{93F85FCD-0B08-42C0-ABA5-34BF695A634B}"/>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12" name="图片 11" descr="沈阳建筑大学抠图"/>
          <p:cNvPicPr>
            <a:picLocks noChangeAspect="1"/>
          </p:cNvPicPr>
          <p:nvPr/>
        </p:nvPicPr>
        <p:blipFill>
          <a:blip r:embed="rId3"/>
          <a:stretch>
            <a:fillRect/>
          </a:stretch>
        </p:blipFill>
        <p:spPr>
          <a:xfrm>
            <a:off x="-23495" y="-774065"/>
            <a:ext cx="3274695" cy="2364105"/>
          </a:xfrm>
          <a:prstGeom prst="rect">
            <a:avLst/>
          </a:prstGeom>
        </p:spPr>
      </p:pic>
      <p:sp>
        <p:nvSpPr>
          <p:cNvPr id="6" name="文本框 5">
            <a:extLst>
              <a:ext uri="{FF2B5EF4-FFF2-40B4-BE49-F238E27FC236}">
                <a16:creationId xmlns:a16="http://schemas.microsoft.com/office/drawing/2014/main" id="{1B9DFE8D-F55C-477F-98AD-DF572417F37A}"/>
              </a:ext>
            </a:extLst>
          </p:cNvPr>
          <p:cNvSpPr txBox="1"/>
          <p:nvPr/>
        </p:nvSpPr>
        <p:spPr>
          <a:xfrm>
            <a:off x="4125850" y="1590040"/>
            <a:ext cx="2120900" cy="369332"/>
          </a:xfrm>
          <a:prstGeom prst="rect">
            <a:avLst/>
          </a:prstGeom>
          <a:noFill/>
        </p:spPr>
        <p:txBody>
          <a:bodyPr wrap="square" rtlCol="0">
            <a:spAutoFit/>
          </a:bodyPr>
          <a:lstStyle/>
          <a:p>
            <a:r>
              <a:rPr lang="zh-CN" altLang="en-US" dirty="0">
                <a:latin typeface="苹方字体" panose="020B0300000000000000" pitchFamily="34" charset="-122"/>
                <a:ea typeface="苹方字体" panose="020B0300000000000000" pitchFamily="34" charset="-122"/>
              </a:rPr>
              <a:t>拟定实验部分环境</a:t>
            </a:r>
          </a:p>
        </p:txBody>
      </p:sp>
      <p:pic>
        <p:nvPicPr>
          <p:cNvPr id="3" name="图片 2">
            <a:extLst>
              <a:ext uri="{FF2B5EF4-FFF2-40B4-BE49-F238E27FC236}">
                <a16:creationId xmlns:a16="http://schemas.microsoft.com/office/drawing/2014/main" id="{D75E8F21-72EC-4B3F-9926-7EE2914E94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569" y="1007900"/>
            <a:ext cx="10867101" cy="5727816"/>
          </a:xfrm>
          <a:prstGeom prst="rect">
            <a:avLst/>
          </a:prstGeom>
        </p:spPr>
      </p:pic>
    </p:spTree>
    <p:extLst>
      <p:ext uri="{BB962C8B-B14F-4D97-AF65-F5344CB8AC3E}">
        <p14:creationId xmlns:p14="http://schemas.microsoft.com/office/powerpoint/2010/main" val="933614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en-US" altLang="zh-CN" sz="1865" b="1" dirty="0">
                <a:solidFill>
                  <a:schemeClr val="tx1"/>
                </a:solidFill>
                <a:latin typeface="微软雅黑" panose="020B0503020204020204" pitchFamily="34" charset="-122"/>
                <a:ea typeface="微软雅黑" panose="020B0503020204020204" pitchFamily="34" charset="-122"/>
              </a:rPr>
              <a:t>3.1 </a:t>
            </a:r>
            <a:r>
              <a:rPr lang="zh-CN" altLang="en-US" sz="1865" b="1" dirty="0">
                <a:solidFill>
                  <a:schemeClr val="tx1"/>
                </a:solidFill>
                <a:latin typeface="微软雅黑" panose="020B0503020204020204" pitchFamily="34" charset="-122"/>
                <a:ea typeface="微软雅黑" panose="020B0503020204020204" pitchFamily="34" charset="-122"/>
              </a:rPr>
              <a:t>研究内容</a:t>
            </a:r>
          </a:p>
        </p:txBody>
      </p:sp>
      <p:sp>
        <p:nvSpPr>
          <p:cNvPr id="17" name="学论网www.xuelun.me-矩形 1"/>
          <p:cNvSpPr/>
          <p:nvPr>
            <p:custDataLst>
              <p:tags r:id="rId1"/>
            </p:custDataLst>
          </p:nvPr>
        </p:nvSpPr>
        <p:spPr>
          <a:xfrm>
            <a:off x="1125414" y="2345492"/>
            <a:ext cx="1107832" cy="509849"/>
          </a:xfrm>
          <a:prstGeom prst="rect">
            <a:avLst/>
          </a:prstGeom>
          <a:solidFill>
            <a:srgbClr val="133984"/>
          </a:solidFill>
          <a:ln w="19050">
            <a:solidFill>
              <a:srgbClr val="0D8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研究内容</a:t>
            </a:r>
            <a:endParaRPr lang="en-US" altLang="zh-CN"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37" name="矩形 4">
            <a:extLst>
              <a:ext uri="{FF2B5EF4-FFF2-40B4-BE49-F238E27FC236}">
                <a16:creationId xmlns:a16="http://schemas.microsoft.com/office/drawing/2014/main" id="{23A86E53-CD09-401E-9BF7-61597BC9100B}"/>
              </a:ext>
            </a:extLst>
          </p:cNvPr>
          <p:cNvSpPr/>
          <p:nvPr/>
        </p:nvSpPr>
        <p:spPr>
          <a:xfrm>
            <a:off x="-10066" y="-18612"/>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8" name="直接连接符 37">
            <a:extLst>
              <a:ext uri="{FF2B5EF4-FFF2-40B4-BE49-F238E27FC236}">
                <a16:creationId xmlns:a16="http://schemas.microsoft.com/office/drawing/2014/main" id="{CC2242CB-FBD2-48F4-8470-E97DE178671A}"/>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id="{D07B6A1F-2EB8-45B4-8D11-8E3B9DB87756}"/>
              </a:ext>
            </a:extLst>
          </p:cNvPr>
          <p:cNvSpPr/>
          <p:nvPr/>
        </p:nvSpPr>
        <p:spPr>
          <a:xfrm>
            <a:off x="6611792" y="-18947"/>
            <a:ext cx="1684342"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40" name="直接连接符 39">
            <a:extLst>
              <a:ext uri="{FF2B5EF4-FFF2-40B4-BE49-F238E27FC236}">
                <a16:creationId xmlns:a16="http://schemas.microsoft.com/office/drawing/2014/main" id="{E85CE963-E2BF-4EFF-8482-CFE9C8A1A612}"/>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TextBox 6">
            <a:extLst>
              <a:ext uri="{FF2B5EF4-FFF2-40B4-BE49-F238E27FC236}">
                <a16:creationId xmlns:a16="http://schemas.microsoft.com/office/drawing/2014/main" id="{0F3A90B4-0212-4F13-8A2E-2729AB9F01F9}"/>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42" name="TextBox 7">
            <a:extLst>
              <a:ext uri="{FF2B5EF4-FFF2-40B4-BE49-F238E27FC236}">
                <a16:creationId xmlns:a16="http://schemas.microsoft.com/office/drawing/2014/main" id="{CFCCC029-D741-471D-901B-92874E2C0F9B}"/>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43" name="TextBox 9">
            <a:extLst>
              <a:ext uri="{FF2B5EF4-FFF2-40B4-BE49-F238E27FC236}">
                <a16:creationId xmlns:a16="http://schemas.microsoft.com/office/drawing/2014/main" id="{3F2F77FA-18E1-41F2-A6DC-B7917DB3B968}"/>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研究内容和依据</a:t>
            </a:r>
          </a:p>
        </p:txBody>
      </p:sp>
      <p:sp>
        <p:nvSpPr>
          <p:cNvPr id="44" name="TextBox 10">
            <a:extLst>
              <a:ext uri="{FF2B5EF4-FFF2-40B4-BE49-F238E27FC236}">
                <a16:creationId xmlns:a16="http://schemas.microsoft.com/office/drawing/2014/main" id="{119C28FA-7D8C-4475-BDBB-567A5DD9794F}"/>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45" name="TextBox 11">
            <a:extLst>
              <a:ext uri="{FF2B5EF4-FFF2-40B4-BE49-F238E27FC236}">
                <a16:creationId xmlns:a16="http://schemas.microsoft.com/office/drawing/2014/main" id="{3A40693A-3C87-4E62-B535-EB6AF2584123}"/>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46" name="直接连接符 45">
            <a:extLst>
              <a:ext uri="{FF2B5EF4-FFF2-40B4-BE49-F238E27FC236}">
                <a16:creationId xmlns:a16="http://schemas.microsoft.com/office/drawing/2014/main" id="{A33F824E-D1D4-411F-B905-78C6CBF20AF0}"/>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C42600EE-E6B8-4D54-9E87-24D6BFEC746A}"/>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TextBox 7">
            <a:extLst>
              <a:ext uri="{FF2B5EF4-FFF2-40B4-BE49-F238E27FC236}">
                <a16:creationId xmlns:a16="http://schemas.microsoft.com/office/drawing/2014/main" id="{93F85FCD-0B08-42C0-ABA5-34BF695A634B}"/>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12" name="图片 11" descr="沈阳建筑大学抠图"/>
          <p:cNvPicPr>
            <a:picLocks noChangeAspect="1"/>
          </p:cNvPicPr>
          <p:nvPr/>
        </p:nvPicPr>
        <p:blipFill>
          <a:blip r:embed="rId4"/>
          <a:stretch>
            <a:fillRect/>
          </a:stretch>
        </p:blipFill>
        <p:spPr>
          <a:xfrm>
            <a:off x="-23495" y="-774065"/>
            <a:ext cx="3274695" cy="2364105"/>
          </a:xfrm>
          <a:prstGeom prst="rect">
            <a:avLst/>
          </a:prstGeom>
        </p:spPr>
      </p:pic>
      <p:sp>
        <p:nvSpPr>
          <p:cNvPr id="4" name="左大括号 3">
            <a:extLst>
              <a:ext uri="{FF2B5EF4-FFF2-40B4-BE49-F238E27FC236}">
                <a16:creationId xmlns:a16="http://schemas.microsoft.com/office/drawing/2014/main" id="{1571E14B-BC28-4152-94CD-AA95C0E396A8}"/>
              </a:ext>
            </a:extLst>
          </p:cNvPr>
          <p:cNvSpPr/>
          <p:nvPr/>
        </p:nvSpPr>
        <p:spPr>
          <a:xfrm>
            <a:off x="2409194" y="1686323"/>
            <a:ext cx="1287345" cy="1814298"/>
          </a:xfrm>
          <a:prstGeom prst="leftBrace">
            <a:avLst/>
          </a:prstGeom>
          <a:solidFill>
            <a:schemeClr val="bg1"/>
          </a:solidFill>
          <a:ln w="2222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流程图: 接点 4">
            <a:extLst>
              <a:ext uri="{FF2B5EF4-FFF2-40B4-BE49-F238E27FC236}">
                <a16:creationId xmlns:a16="http://schemas.microsoft.com/office/drawing/2014/main" id="{51004D2C-9369-46CE-BAAF-6799FB27E59D}"/>
              </a:ext>
            </a:extLst>
          </p:cNvPr>
          <p:cNvSpPr/>
          <p:nvPr/>
        </p:nvSpPr>
        <p:spPr>
          <a:xfrm>
            <a:off x="3911380" y="1616109"/>
            <a:ext cx="237392" cy="249691"/>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095A2004-291E-48DB-A20A-F3937BF5C048}"/>
              </a:ext>
            </a:extLst>
          </p:cNvPr>
          <p:cNvSpPr txBox="1"/>
          <p:nvPr/>
        </p:nvSpPr>
        <p:spPr>
          <a:xfrm>
            <a:off x="4148772" y="1556288"/>
            <a:ext cx="6326064" cy="369332"/>
          </a:xfrm>
          <a:prstGeom prst="rect">
            <a:avLst/>
          </a:prstGeom>
          <a:noFill/>
        </p:spPr>
        <p:txBody>
          <a:bodyPr wrap="square">
            <a:spAutoFit/>
          </a:bodyPr>
          <a:lstStyle/>
          <a:p>
            <a:r>
              <a:rPr lang="zh-CN" altLang="en-US" b="0" i="0" dirty="0">
                <a:effectLst/>
                <a:latin typeface="苹方 粗体" panose="020B0600000000000000" pitchFamily="34" charset="-122"/>
                <a:ea typeface="苹方 粗体" panose="020B0600000000000000" pitchFamily="34" charset="-122"/>
              </a:rPr>
              <a:t>通信资源调度流程（</a:t>
            </a:r>
            <a:r>
              <a:rPr lang="en-US" altLang="zh-CN" b="0" i="0" dirty="0">
                <a:effectLst/>
                <a:latin typeface="苹方 粗体" panose="020B0600000000000000" pitchFamily="34" charset="-122"/>
                <a:ea typeface="苹方 粗体" panose="020B0600000000000000" pitchFamily="34" charset="-122"/>
              </a:rPr>
              <a:t>GATv2→DDQN+Top-K</a:t>
            </a:r>
            <a:r>
              <a:rPr lang="zh-CN" altLang="en-US" b="0" i="0" dirty="0">
                <a:effectLst/>
                <a:latin typeface="苹方 粗体" panose="020B0600000000000000" pitchFamily="34" charset="-122"/>
                <a:ea typeface="苹方 粗体" panose="020B0600000000000000" pitchFamily="34" charset="-122"/>
              </a:rPr>
              <a:t>） </a:t>
            </a:r>
            <a:endParaRPr lang="zh-CN" altLang="en-US" dirty="0">
              <a:latin typeface="苹方 粗体" panose="020B0600000000000000" pitchFamily="34" charset="-122"/>
              <a:ea typeface="苹方 粗体" panose="020B0600000000000000" pitchFamily="34" charset="-122"/>
            </a:endParaRPr>
          </a:p>
        </p:txBody>
      </p:sp>
      <p:sp>
        <p:nvSpPr>
          <p:cNvPr id="33" name="流程图: 接点 32">
            <a:extLst>
              <a:ext uri="{FF2B5EF4-FFF2-40B4-BE49-F238E27FC236}">
                <a16:creationId xmlns:a16="http://schemas.microsoft.com/office/drawing/2014/main" id="{7BD4F9B6-5BBA-4C46-B527-55471D2F9CAB}"/>
              </a:ext>
            </a:extLst>
          </p:cNvPr>
          <p:cNvSpPr/>
          <p:nvPr/>
        </p:nvSpPr>
        <p:spPr>
          <a:xfrm>
            <a:off x="3911380" y="2466630"/>
            <a:ext cx="237392" cy="249691"/>
          </a:xfrm>
          <a:prstGeom prst="flowChartConnector">
            <a:avLst/>
          </a:prstGeom>
          <a:solidFill>
            <a:srgbClr val="0CDA4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461F4B4A-1933-4CC2-9F8B-5B5A24DD2663}"/>
              </a:ext>
            </a:extLst>
          </p:cNvPr>
          <p:cNvSpPr txBox="1"/>
          <p:nvPr/>
        </p:nvSpPr>
        <p:spPr>
          <a:xfrm>
            <a:off x="4148772" y="2406809"/>
            <a:ext cx="6326064" cy="369332"/>
          </a:xfrm>
          <a:prstGeom prst="rect">
            <a:avLst/>
          </a:prstGeom>
          <a:noFill/>
        </p:spPr>
        <p:txBody>
          <a:bodyPr wrap="square">
            <a:spAutoFit/>
          </a:bodyPr>
          <a:lstStyle/>
          <a:p>
            <a:r>
              <a:rPr lang="zh-CN" altLang="en-US" b="0" i="0" dirty="0">
                <a:effectLst/>
                <a:latin typeface="苹方 粗体" panose="020B0600000000000000" pitchFamily="34" charset="-122"/>
                <a:ea typeface="苹方 粗体" panose="020B0600000000000000" pitchFamily="34" charset="-122"/>
              </a:rPr>
              <a:t>分层优化结构（高层</a:t>
            </a:r>
            <a:r>
              <a:rPr lang="en-US" altLang="zh-CN" b="0" i="0" dirty="0">
                <a:effectLst/>
                <a:latin typeface="苹方 粗体" panose="020B0600000000000000" pitchFamily="34" charset="-122"/>
                <a:ea typeface="苹方 粗体" panose="020B0600000000000000" pitchFamily="34" charset="-122"/>
              </a:rPr>
              <a:t>DDQN←</a:t>
            </a:r>
            <a:r>
              <a:rPr lang="zh-CN" altLang="en-US" b="0" i="0" dirty="0">
                <a:effectLst/>
                <a:latin typeface="苹方 粗体" panose="020B0600000000000000" pitchFamily="34" charset="-122"/>
                <a:ea typeface="苹方 粗体" panose="020B0600000000000000" pitchFamily="34" charset="-122"/>
              </a:rPr>
              <a:t>共享嵌入→低层</a:t>
            </a:r>
            <a:r>
              <a:rPr lang="en-US" altLang="zh-CN" b="0" i="0" dirty="0">
                <a:effectLst/>
                <a:latin typeface="苹方 粗体" panose="020B0600000000000000" pitchFamily="34" charset="-122"/>
                <a:ea typeface="苹方 粗体" panose="020B0600000000000000" pitchFamily="34" charset="-122"/>
              </a:rPr>
              <a:t>SAC</a:t>
            </a:r>
            <a:r>
              <a:rPr lang="zh-CN" altLang="en-US" b="0" i="0" dirty="0">
                <a:effectLst/>
                <a:latin typeface="苹方 粗体" panose="020B0600000000000000" pitchFamily="34" charset="-122"/>
                <a:ea typeface="苹方 粗体" panose="020B0600000000000000" pitchFamily="34" charset="-122"/>
              </a:rPr>
              <a:t>） </a:t>
            </a:r>
            <a:endParaRPr lang="zh-CN" altLang="en-US" dirty="0">
              <a:latin typeface="苹方 粗体" panose="020B0600000000000000" pitchFamily="34" charset="-122"/>
              <a:ea typeface="苹方 粗体" panose="020B0600000000000000" pitchFamily="34" charset="-122"/>
            </a:endParaRPr>
          </a:p>
        </p:txBody>
      </p:sp>
      <p:sp>
        <p:nvSpPr>
          <p:cNvPr id="50" name="流程图: 接点 49">
            <a:extLst>
              <a:ext uri="{FF2B5EF4-FFF2-40B4-BE49-F238E27FC236}">
                <a16:creationId xmlns:a16="http://schemas.microsoft.com/office/drawing/2014/main" id="{B8ADF3CF-9D7C-433A-9845-2F2A75045D9D}"/>
              </a:ext>
            </a:extLst>
          </p:cNvPr>
          <p:cNvSpPr/>
          <p:nvPr/>
        </p:nvSpPr>
        <p:spPr>
          <a:xfrm>
            <a:off x="3911380" y="3317153"/>
            <a:ext cx="237392" cy="249691"/>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1A33A939-7B7B-4344-A92E-FA1BAE87A554}"/>
              </a:ext>
            </a:extLst>
          </p:cNvPr>
          <p:cNvSpPr txBox="1"/>
          <p:nvPr/>
        </p:nvSpPr>
        <p:spPr>
          <a:xfrm>
            <a:off x="4148772" y="3257332"/>
            <a:ext cx="6326064" cy="369332"/>
          </a:xfrm>
          <a:prstGeom prst="rect">
            <a:avLst/>
          </a:prstGeom>
          <a:noFill/>
        </p:spPr>
        <p:txBody>
          <a:bodyPr wrap="square">
            <a:spAutoFit/>
          </a:bodyPr>
          <a:lstStyle/>
          <a:p>
            <a:r>
              <a:rPr lang="zh-CN" altLang="en-US" b="0" i="0" dirty="0">
                <a:effectLst/>
                <a:latin typeface="苹方 粗体" panose="020B0600000000000000" pitchFamily="34" charset="-122"/>
                <a:ea typeface="苹方 粗体" panose="020B0600000000000000" pitchFamily="34" charset="-122"/>
              </a:rPr>
              <a:t>协同集成逻辑（通信↔</a:t>
            </a:r>
            <a:r>
              <a:rPr lang="zh-CN" altLang="en-US" dirty="0">
                <a:latin typeface="苹方 粗体" panose="020B0600000000000000" pitchFamily="34" charset="-122"/>
                <a:ea typeface="苹方 粗体" panose="020B0600000000000000" pitchFamily="34" charset="-122"/>
              </a:rPr>
              <a:t>编队</a:t>
            </a:r>
            <a:r>
              <a:rPr lang="zh-CN" altLang="en-US" b="0" i="0" dirty="0">
                <a:effectLst/>
                <a:latin typeface="苹方 粗体" panose="020B0600000000000000" pitchFamily="34" charset="-122"/>
                <a:ea typeface="苹方 粗体" panose="020B0600000000000000" pitchFamily="34" charset="-122"/>
              </a:rPr>
              <a:t>→安全盾） </a:t>
            </a:r>
            <a:endParaRPr lang="zh-CN" altLang="en-US" dirty="0">
              <a:latin typeface="苹方 粗体" panose="020B0600000000000000" pitchFamily="34" charset="-122"/>
              <a:ea typeface="苹方 粗体" panose="020B0600000000000000" pitchFamily="34" charset="-122"/>
            </a:endParaRPr>
          </a:p>
        </p:txBody>
      </p:sp>
      <p:pic>
        <p:nvPicPr>
          <p:cNvPr id="3" name="图片 2">
            <a:extLst>
              <a:ext uri="{FF2B5EF4-FFF2-40B4-BE49-F238E27FC236}">
                <a16:creationId xmlns:a16="http://schemas.microsoft.com/office/drawing/2014/main" id="{74D6350B-BF5F-45E0-BBDC-FF5FBEDEAC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5414" y="3848345"/>
            <a:ext cx="10405541" cy="3009655"/>
          </a:xfrm>
          <a:prstGeom prst="rect">
            <a:avLst/>
          </a:prstGeom>
        </p:spPr>
      </p:pic>
    </p:spTree>
    <p:extLst>
      <p:ext uri="{BB962C8B-B14F-4D97-AF65-F5344CB8AC3E}">
        <p14:creationId xmlns:p14="http://schemas.microsoft.com/office/powerpoint/2010/main" val="1952812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A5E8D12-66A2-4835-A74B-D1EEA9C659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7036" y="1025842"/>
            <a:ext cx="10682654" cy="5818942"/>
          </a:xfrm>
          <a:prstGeom prst="rect">
            <a:avLst/>
          </a:prstGeom>
        </p:spPr>
      </p:pic>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3.1 </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研究</a:t>
            </a:r>
            <a:r>
              <a:rPr lang="zh-CN" altLang="en-US" sz="1865" b="1" dirty="0">
                <a:solidFill>
                  <a:prstClr val="black"/>
                </a:solidFill>
                <a:latin typeface="微软雅黑" panose="020B0503020204020204" pitchFamily="34" charset="-122"/>
                <a:ea typeface="微软雅黑" panose="020B0503020204020204" pitchFamily="34" charset="-122"/>
              </a:rPr>
              <a:t>依据</a:t>
            </a:r>
            <a:endPar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矩形 4">
            <a:extLst>
              <a:ext uri="{FF2B5EF4-FFF2-40B4-BE49-F238E27FC236}">
                <a16:creationId xmlns:a16="http://schemas.microsoft.com/office/drawing/2014/main" id="{EB0321DA-A295-493E-8672-97538E7DE127}"/>
              </a:ext>
            </a:extLst>
          </p:cNvPr>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3" name="直接连接符 32">
            <a:extLst>
              <a:ext uri="{FF2B5EF4-FFF2-40B4-BE49-F238E27FC236}">
                <a16:creationId xmlns:a16="http://schemas.microsoft.com/office/drawing/2014/main" id="{45E596EA-D2BB-4449-812E-C4612C0D35A3}"/>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91936D2E-AA97-4EBE-ADB5-62F960CB1C56}"/>
              </a:ext>
            </a:extLst>
          </p:cNvPr>
          <p:cNvSpPr/>
          <p:nvPr/>
        </p:nvSpPr>
        <p:spPr>
          <a:xfrm>
            <a:off x="6611792" y="-18947"/>
            <a:ext cx="1684342"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37" name="直接连接符 36">
            <a:extLst>
              <a:ext uri="{FF2B5EF4-FFF2-40B4-BE49-F238E27FC236}">
                <a16:creationId xmlns:a16="http://schemas.microsoft.com/office/drawing/2014/main" id="{AF3E68FA-DCD6-4B29-93AC-07A89EF43426}"/>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6">
            <a:extLst>
              <a:ext uri="{FF2B5EF4-FFF2-40B4-BE49-F238E27FC236}">
                <a16:creationId xmlns:a16="http://schemas.microsoft.com/office/drawing/2014/main" id="{DFF7E5CA-A533-48D2-B0AA-CB769ED28F07}"/>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39" name="TextBox 7">
            <a:extLst>
              <a:ext uri="{FF2B5EF4-FFF2-40B4-BE49-F238E27FC236}">
                <a16:creationId xmlns:a16="http://schemas.microsoft.com/office/drawing/2014/main" id="{0DFD0A09-74DF-4BD2-8641-6C86A9F3CD68}"/>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40" name="TextBox 9">
            <a:extLst>
              <a:ext uri="{FF2B5EF4-FFF2-40B4-BE49-F238E27FC236}">
                <a16:creationId xmlns:a16="http://schemas.microsoft.com/office/drawing/2014/main" id="{DAEC004F-D9BF-4EE4-8A6B-F6A1AA82461F}"/>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研究内容和依据</a:t>
            </a:r>
          </a:p>
        </p:txBody>
      </p:sp>
      <p:sp>
        <p:nvSpPr>
          <p:cNvPr id="41" name="TextBox 10">
            <a:extLst>
              <a:ext uri="{FF2B5EF4-FFF2-40B4-BE49-F238E27FC236}">
                <a16:creationId xmlns:a16="http://schemas.microsoft.com/office/drawing/2014/main" id="{48DB3322-1D81-44C6-BFC2-E3F316E6AE31}"/>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42" name="TextBox 11">
            <a:extLst>
              <a:ext uri="{FF2B5EF4-FFF2-40B4-BE49-F238E27FC236}">
                <a16:creationId xmlns:a16="http://schemas.microsoft.com/office/drawing/2014/main" id="{65799531-88D3-483B-8FB5-83A1342514F4}"/>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43" name="直接连接符 42">
            <a:extLst>
              <a:ext uri="{FF2B5EF4-FFF2-40B4-BE49-F238E27FC236}">
                <a16:creationId xmlns:a16="http://schemas.microsoft.com/office/drawing/2014/main" id="{990C99A5-FB8D-461C-A32E-991134B2A439}"/>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D296A1A8-4CAC-49A0-909B-3CC4D6326ABF}"/>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Box 7">
            <a:extLst>
              <a:ext uri="{FF2B5EF4-FFF2-40B4-BE49-F238E27FC236}">
                <a16:creationId xmlns:a16="http://schemas.microsoft.com/office/drawing/2014/main" id="{D7A854A3-209B-4258-96AC-5D348DDFF03F}"/>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12" name="图片 11" descr="沈阳建筑大学抠图"/>
          <p:cNvPicPr>
            <a:picLocks noChangeAspect="1"/>
          </p:cNvPicPr>
          <p:nvPr/>
        </p:nvPicPr>
        <p:blipFill>
          <a:blip r:embed="rId4"/>
          <a:stretch>
            <a:fillRect/>
          </a:stretch>
        </p:blipFill>
        <p:spPr>
          <a:xfrm>
            <a:off x="-53293" y="-821691"/>
            <a:ext cx="3274695" cy="2364105"/>
          </a:xfrm>
          <a:prstGeom prst="rect">
            <a:avLst/>
          </a:prstGeom>
        </p:spPr>
      </p:pic>
      <p:sp>
        <p:nvSpPr>
          <p:cNvPr id="4" name="文本框 3">
            <a:extLst>
              <a:ext uri="{FF2B5EF4-FFF2-40B4-BE49-F238E27FC236}">
                <a16:creationId xmlns:a16="http://schemas.microsoft.com/office/drawing/2014/main" id="{C947DC23-7F35-447D-ACFB-C1311567C419}"/>
              </a:ext>
            </a:extLst>
          </p:cNvPr>
          <p:cNvSpPr txBox="1"/>
          <p:nvPr/>
        </p:nvSpPr>
        <p:spPr>
          <a:xfrm>
            <a:off x="3221402" y="1094933"/>
            <a:ext cx="2046017" cy="371186"/>
          </a:xfrm>
          <a:prstGeom prst="rect">
            <a:avLst/>
          </a:prstGeom>
          <a:noFill/>
        </p:spPr>
        <p:txBody>
          <a:bodyPr wrap="square" rtlCol="0">
            <a:spAutoFit/>
          </a:bodyPr>
          <a:lstStyle/>
          <a:p>
            <a:r>
              <a:rPr lang="zh-CN" altLang="en-US" dirty="0">
                <a:solidFill>
                  <a:srgbClr val="FF0000"/>
                </a:solidFill>
              </a:rPr>
              <a:t>总体流程简要图</a:t>
            </a:r>
          </a:p>
        </p:txBody>
      </p:sp>
    </p:spTree>
    <p:extLst>
      <p:ext uri="{BB962C8B-B14F-4D97-AF65-F5344CB8AC3E}">
        <p14:creationId xmlns:p14="http://schemas.microsoft.com/office/powerpoint/2010/main" val="1253818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en-US" altLang="zh-CN" sz="1865" b="1" dirty="0">
                <a:solidFill>
                  <a:schemeClr val="tx1"/>
                </a:solidFill>
                <a:latin typeface="微软雅黑" panose="020B0503020204020204" pitchFamily="34" charset="-122"/>
                <a:ea typeface="微软雅黑" panose="020B0503020204020204" pitchFamily="34" charset="-122"/>
              </a:rPr>
              <a:t>3.1 </a:t>
            </a:r>
            <a:r>
              <a:rPr lang="zh-CN" altLang="en-US" sz="1865" b="1" dirty="0">
                <a:solidFill>
                  <a:schemeClr val="tx1"/>
                </a:solidFill>
                <a:latin typeface="微软雅黑" panose="020B0503020204020204" pitchFamily="34" charset="-122"/>
                <a:ea typeface="微软雅黑" panose="020B0503020204020204" pitchFamily="34" charset="-122"/>
              </a:rPr>
              <a:t>研究依据</a:t>
            </a:r>
          </a:p>
        </p:txBody>
      </p:sp>
      <p:sp>
        <p:nvSpPr>
          <p:cNvPr id="5" name="文本框 4">
            <a:extLst>
              <a:ext uri="{FF2B5EF4-FFF2-40B4-BE49-F238E27FC236}">
                <a16:creationId xmlns:a16="http://schemas.microsoft.com/office/drawing/2014/main" id="{AAC8DAF2-7241-444F-A035-4D8F8016BFBE}"/>
              </a:ext>
            </a:extLst>
          </p:cNvPr>
          <p:cNvSpPr txBox="1"/>
          <p:nvPr/>
        </p:nvSpPr>
        <p:spPr>
          <a:xfrm>
            <a:off x="4047172" y="1157946"/>
            <a:ext cx="8603074" cy="369332"/>
          </a:xfrm>
          <a:prstGeom prst="rect">
            <a:avLst/>
          </a:prstGeom>
          <a:noFill/>
        </p:spPr>
        <p:txBody>
          <a:bodyPr wrap="square" rtlCol="0">
            <a:spAutoFit/>
          </a:bodyPr>
          <a:lstStyle/>
          <a:p>
            <a:r>
              <a:rPr lang="en-US" altLang="zh-CN" dirty="0">
                <a:latin typeface="苹方字体" panose="020B0300000000000000" pitchFamily="34" charset="-122"/>
                <a:ea typeface="苹方字体" panose="020B0300000000000000" pitchFamily="34" charset="-122"/>
              </a:rPr>
              <a:t>GATV2</a:t>
            </a:r>
            <a:r>
              <a:rPr lang="zh-CN" altLang="en-US" dirty="0">
                <a:latin typeface="苹方字体" panose="020B0300000000000000" pitchFamily="34" charset="-122"/>
                <a:ea typeface="苹方字体" panose="020B0300000000000000" pitchFamily="34" charset="-122"/>
              </a:rPr>
              <a:t>图注意机制应用结构框图</a:t>
            </a:r>
          </a:p>
        </p:txBody>
      </p:sp>
      <p:sp>
        <p:nvSpPr>
          <p:cNvPr id="33" name="文本框 32">
            <a:extLst>
              <a:ext uri="{FF2B5EF4-FFF2-40B4-BE49-F238E27FC236}">
                <a16:creationId xmlns:a16="http://schemas.microsoft.com/office/drawing/2014/main" id="{952BBF10-422F-4B12-BA71-7E49B6ED8DAB}"/>
              </a:ext>
            </a:extLst>
          </p:cNvPr>
          <p:cNvSpPr txBox="1"/>
          <p:nvPr/>
        </p:nvSpPr>
        <p:spPr>
          <a:xfrm>
            <a:off x="9715356" y="2149743"/>
            <a:ext cx="2600325" cy="4524315"/>
          </a:xfrm>
          <a:prstGeom prst="rect">
            <a:avLst/>
          </a:prstGeom>
          <a:noFill/>
        </p:spPr>
        <p:txBody>
          <a:bodyPr wrap="square">
            <a:spAutoFit/>
          </a:bodyPr>
          <a:lstStyle/>
          <a:p>
            <a:pPr algn="l"/>
            <a:r>
              <a:rPr lang="en-US" altLang="zh-CN" b="1" i="0" dirty="0">
                <a:solidFill>
                  <a:srgbClr val="010409"/>
                </a:solidFill>
                <a:effectLst/>
                <a:latin typeface="苹方 粗体" panose="020B0600000000000000" pitchFamily="34" charset="-122"/>
                <a:ea typeface="苹方 粗体" panose="020B0600000000000000" pitchFamily="34" charset="-122"/>
              </a:rPr>
              <a:t>GATv2+DDQN </a:t>
            </a:r>
            <a:r>
              <a:rPr lang="zh-CN" altLang="en-US" b="1" i="0" dirty="0">
                <a:solidFill>
                  <a:srgbClr val="010409"/>
                </a:solidFill>
                <a:effectLst/>
                <a:latin typeface="苹方 粗体" panose="020B0600000000000000" pitchFamily="34" charset="-122"/>
                <a:ea typeface="苹方 粗体" panose="020B0600000000000000" pitchFamily="34" charset="-122"/>
              </a:rPr>
              <a:t>算法流程</a:t>
            </a:r>
            <a:endParaRPr lang="en-US" altLang="zh-CN" b="1" i="0" dirty="0">
              <a:solidFill>
                <a:srgbClr val="010409"/>
              </a:solidFill>
              <a:effectLst/>
              <a:latin typeface="苹方 粗体" panose="020B0600000000000000" pitchFamily="34" charset="-122"/>
              <a:ea typeface="苹方 粗体" panose="020B0600000000000000" pitchFamily="34" charset="-122"/>
            </a:endParaRPr>
          </a:p>
          <a:p>
            <a:pPr algn="l"/>
            <a:endParaRPr lang="zh-CN" altLang="en-US" b="0" i="0" dirty="0">
              <a:solidFill>
                <a:srgbClr val="010409"/>
              </a:solidFill>
              <a:effectLst/>
              <a:latin typeface="苹方 粗体" panose="020B0600000000000000" pitchFamily="34" charset="-122"/>
              <a:ea typeface="苹方 粗体" panose="020B0600000000000000" pitchFamily="34" charset="-122"/>
            </a:endParaRPr>
          </a:p>
          <a:p>
            <a:pPr algn="l">
              <a:buFont typeface="Arial" panose="020B0604020202020204" pitchFamily="34" charset="0"/>
              <a:buChar char="•"/>
            </a:pPr>
            <a:r>
              <a:rPr lang="zh-CN" altLang="en-US" b="0" i="0" dirty="0">
                <a:solidFill>
                  <a:srgbClr val="010409"/>
                </a:solidFill>
                <a:effectLst/>
                <a:latin typeface="苹方字体" panose="020B0300000000000000" pitchFamily="34" charset="-122"/>
                <a:ea typeface="苹方字体" panose="020B0300000000000000" pitchFamily="34" charset="-122"/>
              </a:rPr>
              <a:t>输入：节点与边特征</a:t>
            </a:r>
            <a:endParaRPr lang="en-US" altLang="zh-CN" b="0" i="0" dirty="0">
              <a:solidFill>
                <a:srgbClr val="010409"/>
              </a:solidFill>
              <a:effectLst/>
              <a:latin typeface="苹方字体" panose="020B0300000000000000" pitchFamily="34" charset="-122"/>
              <a:ea typeface="苹方字体" panose="020B0300000000000000" pitchFamily="34" charset="-122"/>
            </a:endParaRPr>
          </a:p>
          <a:p>
            <a:pPr algn="l"/>
            <a:endParaRPr lang="zh-CN" altLang="en-US" b="0" i="0" dirty="0">
              <a:solidFill>
                <a:srgbClr val="010409"/>
              </a:solidFill>
              <a:effectLst/>
              <a:latin typeface="苹方字体" panose="020B0300000000000000" pitchFamily="34" charset="-122"/>
              <a:ea typeface="苹方字体" panose="020B0300000000000000" pitchFamily="34" charset="-122"/>
            </a:endParaRPr>
          </a:p>
          <a:p>
            <a:pPr algn="l">
              <a:buFont typeface="Arial" panose="020B0604020202020204" pitchFamily="34" charset="0"/>
              <a:buChar char="•"/>
            </a:pPr>
            <a:r>
              <a:rPr lang="en-US" altLang="zh-CN" b="0" i="0" dirty="0">
                <a:solidFill>
                  <a:srgbClr val="010409"/>
                </a:solidFill>
                <a:effectLst/>
                <a:latin typeface="苹方字体" panose="020B0300000000000000" pitchFamily="34" charset="-122"/>
                <a:ea typeface="苹方字体" panose="020B0300000000000000" pitchFamily="34" charset="-122"/>
              </a:rPr>
              <a:t>GATv2</a:t>
            </a:r>
            <a:r>
              <a:rPr lang="zh-CN" altLang="en-US" b="0" i="0" dirty="0">
                <a:solidFill>
                  <a:srgbClr val="010409"/>
                </a:solidFill>
                <a:effectLst/>
                <a:latin typeface="苹方字体" panose="020B0300000000000000" pitchFamily="34" charset="-122"/>
                <a:ea typeface="苹方字体" panose="020B0300000000000000" pitchFamily="34" charset="-122"/>
              </a:rPr>
              <a:t>编码，提取节点嵌入</a:t>
            </a:r>
            <a:endParaRPr lang="en-US" altLang="zh-CN" b="0" i="0" dirty="0">
              <a:solidFill>
                <a:srgbClr val="010409"/>
              </a:solidFill>
              <a:effectLst/>
              <a:latin typeface="苹方字体" panose="020B0300000000000000" pitchFamily="34" charset="-122"/>
              <a:ea typeface="苹方字体" panose="020B0300000000000000" pitchFamily="34" charset="-122"/>
            </a:endParaRPr>
          </a:p>
          <a:p>
            <a:pPr algn="l"/>
            <a:endParaRPr lang="zh-CN" altLang="en-US" b="0" i="0" dirty="0">
              <a:solidFill>
                <a:srgbClr val="010409"/>
              </a:solidFill>
              <a:effectLst/>
              <a:latin typeface="苹方字体" panose="020B0300000000000000" pitchFamily="34" charset="-122"/>
              <a:ea typeface="苹方字体" panose="020B0300000000000000" pitchFamily="34" charset="-122"/>
            </a:endParaRPr>
          </a:p>
          <a:p>
            <a:pPr algn="l">
              <a:buFont typeface="Arial" panose="020B0604020202020204" pitchFamily="34" charset="0"/>
              <a:buChar char="•"/>
            </a:pPr>
            <a:r>
              <a:rPr lang="zh-CN" altLang="en-US" b="0" i="0" dirty="0">
                <a:solidFill>
                  <a:srgbClr val="010409"/>
                </a:solidFill>
                <a:effectLst/>
                <a:latin typeface="苹方字体" panose="020B0300000000000000" pitchFamily="34" charset="-122"/>
                <a:ea typeface="苹方字体" panose="020B0300000000000000" pitchFamily="34" charset="-122"/>
              </a:rPr>
              <a:t>边</a:t>
            </a:r>
            <a:r>
              <a:rPr lang="en-US" altLang="zh-CN" b="0" i="0" dirty="0">
                <a:solidFill>
                  <a:srgbClr val="010409"/>
                </a:solidFill>
                <a:effectLst/>
                <a:latin typeface="苹方字体" panose="020B0300000000000000" pitchFamily="34" charset="-122"/>
                <a:ea typeface="苹方字体" panose="020B0300000000000000" pitchFamily="34" charset="-122"/>
              </a:rPr>
              <a:t>/</a:t>
            </a:r>
            <a:r>
              <a:rPr lang="zh-CN" altLang="en-US" b="0" i="0" dirty="0">
                <a:solidFill>
                  <a:srgbClr val="010409"/>
                </a:solidFill>
                <a:effectLst/>
                <a:latin typeface="苹方字体" panose="020B0300000000000000" pitchFamily="34" charset="-122"/>
                <a:ea typeface="苹方字体" panose="020B0300000000000000" pitchFamily="34" charset="-122"/>
              </a:rPr>
              <a:t>图头处理特征，汇总为状态</a:t>
            </a:r>
            <a:endParaRPr lang="en-US" altLang="zh-CN" b="0" i="0" dirty="0">
              <a:solidFill>
                <a:srgbClr val="010409"/>
              </a:solidFill>
              <a:effectLst/>
              <a:latin typeface="苹方字体" panose="020B0300000000000000" pitchFamily="34" charset="-122"/>
              <a:ea typeface="苹方字体" panose="020B0300000000000000" pitchFamily="34" charset="-122"/>
            </a:endParaRPr>
          </a:p>
          <a:p>
            <a:pPr algn="l"/>
            <a:endParaRPr lang="zh-CN" altLang="en-US" b="0" i="0" dirty="0">
              <a:solidFill>
                <a:srgbClr val="010409"/>
              </a:solidFill>
              <a:effectLst/>
              <a:latin typeface="苹方字体" panose="020B0300000000000000" pitchFamily="34" charset="-122"/>
              <a:ea typeface="苹方字体" panose="020B0300000000000000" pitchFamily="34" charset="-122"/>
            </a:endParaRPr>
          </a:p>
          <a:p>
            <a:pPr algn="l">
              <a:buFont typeface="Arial" panose="020B0604020202020204" pitchFamily="34" charset="0"/>
              <a:buChar char="•"/>
            </a:pPr>
            <a:r>
              <a:rPr lang="en-US" altLang="zh-CN" b="0" i="0" dirty="0">
                <a:solidFill>
                  <a:srgbClr val="010409"/>
                </a:solidFill>
                <a:effectLst/>
                <a:latin typeface="苹方字体" panose="020B0300000000000000" pitchFamily="34" charset="-122"/>
                <a:ea typeface="苹方字体" panose="020B0300000000000000" pitchFamily="34" charset="-122"/>
              </a:rPr>
              <a:t>DDQN</a:t>
            </a:r>
            <a:r>
              <a:rPr lang="zh-CN" altLang="en-US" b="0" i="0" dirty="0">
                <a:solidFill>
                  <a:srgbClr val="010409"/>
                </a:solidFill>
                <a:effectLst/>
                <a:latin typeface="苹方字体" panose="020B0300000000000000" pitchFamily="34" charset="-122"/>
                <a:ea typeface="苹方字体" panose="020B0300000000000000" pitchFamily="34" charset="-122"/>
              </a:rPr>
              <a:t>决策，选最优动作</a:t>
            </a:r>
            <a:endParaRPr lang="en-US" altLang="zh-CN" b="0" i="0" dirty="0">
              <a:solidFill>
                <a:srgbClr val="010409"/>
              </a:solidFill>
              <a:effectLst/>
              <a:latin typeface="苹方字体" panose="020B0300000000000000" pitchFamily="34" charset="-122"/>
              <a:ea typeface="苹方字体" panose="020B0300000000000000" pitchFamily="34" charset="-122"/>
            </a:endParaRPr>
          </a:p>
          <a:p>
            <a:pPr algn="l"/>
            <a:endParaRPr lang="zh-CN" altLang="en-US" b="0" i="0" dirty="0">
              <a:solidFill>
                <a:srgbClr val="010409"/>
              </a:solidFill>
              <a:effectLst/>
              <a:latin typeface="苹方字体" panose="020B0300000000000000" pitchFamily="34" charset="-122"/>
              <a:ea typeface="苹方字体" panose="020B0300000000000000" pitchFamily="34" charset="-122"/>
            </a:endParaRPr>
          </a:p>
          <a:p>
            <a:pPr algn="l">
              <a:buFont typeface="Arial" panose="020B0604020202020204" pitchFamily="34" charset="0"/>
              <a:buChar char="•"/>
            </a:pPr>
            <a:r>
              <a:rPr lang="zh-CN" altLang="en-US" b="0" i="0" dirty="0">
                <a:solidFill>
                  <a:srgbClr val="010409"/>
                </a:solidFill>
                <a:effectLst/>
                <a:latin typeface="苹方字体" panose="020B0300000000000000" pitchFamily="34" charset="-122"/>
                <a:ea typeface="苹方字体" panose="020B0300000000000000" pitchFamily="34" charset="-122"/>
              </a:rPr>
              <a:t>环境交互与回放，持续更新策略</a:t>
            </a:r>
          </a:p>
        </p:txBody>
      </p:sp>
      <p:cxnSp>
        <p:nvCxnSpPr>
          <p:cNvPr id="37" name="直接连接符 36">
            <a:extLst>
              <a:ext uri="{FF2B5EF4-FFF2-40B4-BE49-F238E27FC236}">
                <a16:creationId xmlns:a16="http://schemas.microsoft.com/office/drawing/2014/main" id="{6FCF4F61-2AA6-4C3A-A656-2AF73561A2FF}"/>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8123A038-79B1-4EC9-8535-1C66534D3BC1}"/>
              </a:ext>
            </a:extLst>
          </p:cNvPr>
          <p:cNvSpPr/>
          <p:nvPr/>
        </p:nvSpPr>
        <p:spPr>
          <a:xfrm>
            <a:off x="6611792" y="-18947"/>
            <a:ext cx="1684342"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39" name="直接连接符 38">
            <a:extLst>
              <a:ext uri="{FF2B5EF4-FFF2-40B4-BE49-F238E27FC236}">
                <a16:creationId xmlns:a16="http://schemas.microsoft.com/office/drawing/2014/main" id="{8FEECA53-2C94-43B8-81E5-5AE58331CB98}"/>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6">
            <a:extLst>
              <a:ext uri="{FF2B5EF4-FFF2-40B4-BE49-F238E27FC236}">
                <a16:creationId xmlns:a16="http://schemas.microsoft.com/office/drawing/2014/main" id="{AD00D2FE-B605-4312-A677-74CB98E16CC1}"/>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41" name="TextBox 7">
            <a:extLst>
              <a:ext uri="{FF2B5EF4-FFF2-40B4-BE49-F238E27FC236}">
                <a16:creationId xmlns:a16="http://schemas.microsoft.com/office/drawing/2014/main" id="{C7B76B00-A919-4289-A7CE-52E2BF1B6419}"/>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42" name="TextBox 9">
            <a:extLst>
              <a:ext uri="{FF2B5EF4-FFF2-40B4-BE49-F238E27FC236}">
                <a16:creationId xmlns:a16="http://schemas.microsoft.com/office/drawing/2014/main" id="{8AA3C22C-79F2-4D09-9CDA-8F97A30CA274}"/>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研究内容和依据</a:t>
            </a:r>
          </a:p>
        </p:txBody>
      </p:sp>
      <p:sp>
        <p:nvSpPr>
          <p:cNvPr id="43" name="TextBox 10">
            <a:extLst>
              <a:ext uri="{FF2B5EF4-FFF2-40B4-BE49-F238E27FC236}">
                <a16:creationId xmlns:a16="http://schemas.microsoft.com/office/drawing/2014/main" id="{E6D2BBAA-DD3E-4903-A5AE-13117ECF0E8F}"/>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44" name="TextBox 11">
            <a:extLst>
              <a:ext uri="{FF2B5EF4-FFF2-40B4-BE49-F238E27FC236}">
                <a16:creationId xmlns:a16="http://schemas.microsoft.com/office/drawing/2014/main" id="{138D93D0-6E27-42FC-A792-5295DC6D7BAE}"/>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45" name="直接连接符 44">
            <a:extLst>
              <a:ext uri="{FF2B5EF4-FFF2-40B4-BE49-F238E27FC236}">
                <a16:creationId xmlns:a16="http://schemas.microsoft.com/office/drawing/2014/main" id="{330B208B-6A5D-43FD-BEB2-F70C6820D767}"/>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5DE93E0A-6285-4E43-8A7A-F57BC629D902}"/>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Box 7">
            <a:extLst>
              <a:ext uri="{FF2B5EF4-FFF2-40B4-BE49-F238E27FC236}">
                <a16:creationId xmlns:a16="http://schemas.microsoft.com/office/drawing/2014/main" id="{40155268-0FA6-478A-982D-6188872C938A}"/>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8FEF9140-90F7-4FE1-AE3B-3FC5F4CD95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752" y="1527278"/>
            <a:ext cx="9057845" cy="4989189"/>
          </a:xfrm>
          <a:prstGeom prst="rect">
            <a:avLst/>
          </a:prstGeom>
        </p:spPr>
      </p:pic>
      <p:pic>
        <p:nvPicPr>
          <p:cNvPr id="12" name="图片 11" descr="沈阳建筑大学抠图"/>
          <p:cNvPicPr>
            <a:picLocks noChangeAspect="1"/>
          </p:cNvPicPr>
          <p:nvPr/>
        </p:nvPicPr>
        <p:blipFill>
          <a:blip r:embed="rId4"/>
          <a:stretch>
            <a:fillRect/>
          </a:stretch>
        </p:blipFill>
        <p:spPr>
          <a:xfrm>
            <a:off x="-221823" y="-770400"/>
            <a:ext cx="3274695" cy="2364105"/>
          </a:xfrm>
          <a:prstGeom prst="rect">
            <a:avLst/>
          </a:prstGeom>
        </p:spPr>
      </p:pic>
    </p:spTree>
    <p:extLst>
      <p:ext uri="{BB962C8B-B14F-4D97-AF65-F5344CB8AC3E}">
        <p14:creationId xmlns:p14="http://schemas.microsoft.com/office/powerpoint/2010/main" val="2678665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en-US" altLang="zh-CN" sz="1865" b="1" dirty="0">
                <a:solidFill>
                  <a:schemeClr val="tx1"/>
                </a:solidFill>
                <a:latin typeface="微软雅黑" panose="020B0503020204020204" pitchFamily="34" charset="-122"/>
                <a:ea typeface="微软雅黑" panose="020B0503020204020204" pitchFamily="34" charset="-122"/>
              </a:rPr>
              <a:t>3.1 </a:t>
            </a:r>
            <a:r>
              <a:rPr lang="zh-CN" altLang="en-US" sz="1865" b="1" dirty="0">
                <a:solidFill>
                  <a:schemeClr val="tx1"/>
                </a:solidFill>
                <a:latin typeface="微软雅黑" panose="020B0503020204020204" pitchFamily="34" charset="-122"/>
                <a:ea typeface="微软雅黑" panose="020B0503020204020204" pitchFamily="34" charset="-122"/>
              </a:rPr>
              <a:t>研究</a:t>
            </a:r>
            <a:r>
              <a:rPr lang="zh-CN" altLang="en-US" sz="1865" b="1" dirty="0">
                <a:latin typeface="微软雅黑" panose="020B0503020204020204" pitchFamily="34" charset="-122"/>
                <a:ea typeface="微软雅黑" panose="020B0503020204020204" pitchFamily="34" charset="-122"/>
              </a:rPr>
              <a:t>依据</a:t>
            </a:r>
            <a:endParaRPr lang="zh-CN" altLang="en-US" sz="1865" b="1" dirty="0">
              <a:solidFill>
                <a:schemeClr val="tx1"/>
              </a:solidFill>
              <a:latin typeface="微软雅黑" panose="020B0503020204020204" pitchFamily="34" charset="-122"/>
              <a:ea typeface="微软雅黑" panose="020B0503020204020204" pitchFamily="34" charset="-122"/>
            </a:endParaRPr>
          </a:p>
        </p:txBody>
      </p:sp>
      <p:cxnSp>
        <p:nvCxnSpPr>
          <p:cNvPr id="37" name="直接连接符 36">
            <a:extLst>
              <a:ext uri="{FF2B5EF4-FFF2-40B4-BE49-F238E27FC236}">
                <a16:creationId xmlns:a16="http://schemas.microsoft.com/office/drawing/2014/main" id="{6FCF4F61-2AA6-4C3A-A656-2AF73561A2FF}"/>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8123A038-79B1-4EC9-8535-1C66534D3BC1}"/>
              </a:ext>
            </a:extLst>
          </p:cNvPr>
          <p:cNvSpPr/>
          <p:nvPr/>
        </p:nvSpPr>
        <p:spPr>
          <a:xfrm>
            <a:off x="6611792" y="-18947"/>
            <a:ext cx="1684342"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39" name="直接连接符 38">
            <a:extLst>
              <a:ext uri="{FF2B5EF4-FFF2-40B4-BE49-F238E27FC236}">
                <a16:creationId xmlns:a16="http://schemas.microsoft.com/office/drawing/2014/main" id="{8FEECA53-2C94-43B8-81E5-5AE58331CB98}"/>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6">
            <a:extLst>
              <a:ext uri="{FF2B5EF4-FFF2-40B4-BE49-F238E27FC236}">
                <a16:creationId xmlns:a16="http://schemas.microsoft.com/office/drawing/2014/main" id="{AD00D2FE-B605-4312-A677-74CB98E16CC1}"/>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41" name="TextBox 7">
            <a:extLst>
              <a:ext uri="{FF2B5EF4-FFF2-40B4-BE49-F238E27FC236}">
                <a16:creationId xmlns:a16="http://schemas.microsoft.com/office/drawing/2014/main" id="{C7B76B00-A919-4289-A7CE-52E2BF1B6419}"/>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42" name="TextBox 9">
            <a:extLst>
              <a:ext uri="{FF2B5EF4-FFF2-40B4-BE49-F238E27FC236}">
                <a16:creationId xmlns:a16="http://schemas.microsoft.com/office/drawing/2014/main" id="{8AA3C22C-79F2-4D09-9CDA-8F97A30CA274}"/>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研究内容和依据</a:t>
            </a:r>
          </a:p>
        </p:txBody>
      </p:sp>
      <p:sp>
        <p:nvSpPr>
          <p:cNvPr id="43" name="TextBox 10">
            <a:extLst>
              <a:ext uri="{FF2B5EF4-FFF2-40B4-BE49-F238E27FC236}">
                <a16:creationId xmlns:a16="http://schemas.microsoft.com/office/drawing/2014/main" id="{E6D2BBAA-DD3E-4903-A5AE-13117ECF0E8F}"/>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44" name="TextBox 11">
            <a:extLst>
              <a:ext uri="{FF2B5EF4-FFF2-40B4-BE49-F238E27FC236}">
                <a16:creationId xmlns:a16="http://schemas.microsoft.com/office/drawing/2014/main" id="{138D93D0-6E27-42FC-A792-5295DC6D7BAE}"/>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45" name="直接连接符 44">
            <a:extLst>
              <a:ext uri="{FF2B5EF4-FFF2-40B4-BE49-F238E27FC236}">
                <a16:creationId xmlns:a16="http://schemas.microsoft.com/office/drawing/2014/main" id="{330B208B-6A5D-43FD-BEB2-F70C6820D767}"/>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5DE93E0A-6285-4E43-8A7A-F57BC629D902}"/>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Box 7">
            <a:extLst>
              <a:ext uri="{FF2B5EF4-FFF2-40B4-BE49-F238E27FC236}">
                <a16:creationId xmlns:a16="http://schemas.microsoft.com/office/drawing/2014/main" id="{40155268-0FA6-478A-982D-6188872C938A}"/>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graphicFrame>
        <p:nvGraphicFramePr>
          <p:cNvPr id="2" name="对象 1">
            <a:extLst>
              <a:ext uri="{FF2B5EF4-FFF2-40B4-BE49-F238E27FC236}">
                <a16:creationId xmlns:a16="http://schemas.microsoft.com/office/drawing/2014/main" id="{C07792EB-C815-41BF-A5F9-0F9A9CFCD9AC}"/>
              </a:ext>
            </a:extLst>
          </p:cNvPr>
          <p:cNvGraphicFramePr>
            <a:graphicFrameLocks noChangeAspect="1"/>
          </p:cNvGraphicFramePr>
          <p:nvPr>
            <p:extLst>
              <p:ext uri="{D42A27DB-BD31-4B8C-83A1-F6EECF244321}">
                <p14:modId xmlns:p14="http://schemas.microsoft.com/office/powerpoint/2010/main" val="3147692171"/>
              </p:ext>
            </p:extLst>
          </p:nvPr>
        </p:nvGraphicFramePr>
        <p:xfrm>
          <a:off x="6607087" y="1900342"/>
          <a:ext cx="914400" cy="198438"/>
        </p:xfrm>
        <a:graphic>
          <a:graphicData uri="http://schemas.openxmlformats.org/presentationml/2006/ole">
            <mc:AlternateContent xmlns:mc="http://schemas.openxmlformats.org/markup-compatibility/2006">
              <mc:Choice xmlns:v="urn:schemas-microsoft-com:vml" Requires="v">
                <p:oleObj spid="_x0000_s15862" name="Equation" r:id="rId4" imgW="914400" imgH="198720" progId="Equation.DSMT4">
                  <p:embed/>
                </p:oleObj>
              </mc:Choice>
              <mc:Fallback>
                <p:oleObj name="Equation" r:id="rId4" imgW="914400" imgH="198720" progId="Equation.DSMT4">
                  <p:embed/>
                  <p:pic>
                    <p:nvPicPr>
                      <p:cNvPr id="0" name=""/>
                      <p:cNvPicPr/>
                      <p:nvPr/>
                    </p:nvPicPr>
                    <p:blipFill>
                      <a:blip r:embed="rId5"/>
                      <a:stretch>
                        <a:fillRect/>
                      </a:stretch>
                    </p:blipFill>
                    <p:spPr>
                      <a:xfrm>
                        <a:off x="6607087" y="1900342"/>
                        <a:ext cx="914400" cy="198438"/>
                      </a:xfrm>
                      <a:prstGeom prst="rect">
                        <a:avLst/>
                      </a:prstGeom>
                    </p:spPr>
                  </p:pic>
                </p:oleObj>
              </mc:Fallback>
            </mc:AlternateContent>
          </a:graphicData>
        </a:graphic>
      </p:graphicFrame>
      <p:sp>
        <p:nvSpPr>
          <p:cNvPr id="162" name="文本框 161">
            <a:extLst>
              <a:ext uri="{FF2B5EF4-FFF2-40B4-BE49-F238E27FC236}">
                <a16:creationId xmlns:a16="http://schemas.microsoft.com/office/drawing/2014/main" id="{EB268D70-0F92-4091-A3C7-2CE7E05C00C0}"/>
              </a:ext>
            </a:extLst>
          </p:cNvPr>
          <p:cNvSpPr txBox="1"/>
          <p:nvPr/>
        </p:nvSpPr>
        <p:spPr>
          <a:xfrm>
            <a:off x="994079" y="1591894"/>
            <a:ext cx="2362005" cy="369332"/>
          </a:xfrm>
          <a:prstGeom prst="rect">
            <a:avLst/>
          </a:prstGeom>
          <a:noFill/>
        </p:spPr>
        <p:txBody>
          <a:bodyPr wrap="square" rtlCol="0">
            <a:spAutoFit/>
          </a:bodyPr>
          <a:lstStyle/>
          <a:p>
            <a:r>
              <a:rPr lang="zh-CN" altLang="en-US" dirty="0"/>
              <a:t>第一步</a:t>
            </a:r>
            <a:r>
              <a:rPr lang="zh-CN" altLang="en-US" b="1" i="0" dirty="0">
                <a:solidFill>
                  <a:srgbClr val="010409"/>
                </a:solidFill>
                <a:effectLst/>
                <a:latin typeface="-apple-system"/>
              </a:rPr>
              <a:t>特征嵌入变换</a:t>
            </a:r>
            <a:endParaRPr lang="zh-CN" altLang="en-US" b="1" dirty="0"/>
          </a:p>
        </p:txBody>
      </p:sp>
      <p:graphicFrame>
        <p:nvGraphicFramePr>
          <p:cNvPr id="163" name="对象 162">
            <a:extLst>
              <a:ext uri="{FF2B5EF4-FFF2-40B4-BE49-F238E27FC236}">
                <a16:creationId xmlns:a16="http://schemas.microsoft.com/office/drawing/2014/main" id="{2FFA536D-7072-49C4-8036-8BC8A52AAAE5}"/>
              </a:ext>
            </a:extLst>
          </p:cNvPr>
          <p:cNvGraphicFramePr>
            <a:graphicFrameLocks noChangeAspect="1"/>
          </p:cNvGraphicFramePr>
          <p:nvPr>
            <p:extLst>
              <p:ext uri="{D42A27DB-BD31-4B8C-83A1-F6EECF244321}">
                <p14:modId xmlns:p14="http://schemas.microsoft.com/office/powerpoint/2010/main" val="2416074729"/>
              </p:ext>
            </p:extLst>
          </p:nvPr>
        </p:nvGraphicFramePr>
        <p:xfrm>
          <a:off x="1581919" y="1922971"/>
          <a:ext cx="1470953" cy="588381"/>
        </p:xfrm>
        <a:graphic>
          <a:graphicData uri="http://schemas.openxmlformats.org/presentationml/2006/ole">
            <mc:AlternateContent xmlns:mc="http://schemas.openxmlformats.org/markup-compatibility/2006">
              <mc:Choice xmlns:v="urn:schemas-microsoft-com:vml" Requires="v">
                <p:oleObj spid="_x0000_s15863" name="Equation" r:id="rId6" imgW="634680" imgH="253800" progId="Equation.DSMT4">
                  <p:embed/>
                </p:oleObj>
              </mc:Choice>
              <mc:Fallback>
                <p:oleObj name="Equation" r:id="rId6" imgW="634680" imgH="253800" progId="Equation.DSMT4">
                  <p:embed/>
                  <p:pic>
                    <p:nvPicPr>
                      <p:cNvPr id="0" name=""/>
                      <p:cNvPicPr/>
                      <p:nvPr/>
                    </p:nvPicPr>
                    <p:blipFill>
                      <a:blip r:embed="rId7"/>
                      <a:stretch>
                        <a:fillRect/>
                      </a:stretch>
                    </p:blipFill>
                    <p:spPr>
                      <a:xfrm>
                        <a:off x="1581919" y="1922971"/>
                        <a:ext cx="1470953" cy="588381"/>
                      </a:xfrm>
                      <a:prstGeom prst="rect">
                        <a:avLst/>
                      </a:prstGeom>
                    </p:spPr>
                  </p:pic>
                </p:oleObj>
              </mc:Fallback>
            </mc:AlternateContent>
          </a:graphicData>
        </a:graphic>
      </p:graphicFrame>
      <p:sp>
        <p:nvSpPr>
          <p:cNvPr id="167" name="文本框 166">
            <a:extLst>
              <a:ext uri="{FF2B5EF4-FFF2-40B4-BE49-F238E27FC236}">
                <a16:creationId xmlns:a16="http://schemas.microsoft.com/office/drawing/2014/main" id="{42AE1029-23EA-447D-B6AC-AAEE245AFCEF}"/>
              </a:ext>
            </a:extLst>
          </p:cNvPr>
          <p:cNvSpPr txBox="1"/>
          <p:nvPr/>
        </p:nvSpPr>
        <p:spPr>
          <a:xfrm>
            <a:off x="879852" y="2614383"/>
            <a:ext cx="2875085" cy="369332"/>
          </a:xfrm>
          <a:prstGeom prst="rect">
            <a:avLst/>
          </a:prstGeom>
          <a:noFill/>
        </p:spPr>
        <p:txBody>
          <a:bodyPr wrap="square" rtlCol="0">
            <a:spAutoFit/>
          </a:bodyPr>
          <a:lstStyle/>
          <a:p>
            <a:r>
              <a:rPr lang="zh-CN" altLang="en-US" dirty="0"/>
              <a:t>第二步</a:t>
            </a:r>
            <a:r>
              <a:rPr lang="zh-CN" altLang="en-US" b="1" i="0" dirty="0">
                <a:solidFill>
                  <a:srgbClr val="010409"/>
                </a:solidFill>
                <a:effectLst/>
                <a:latin typeface="-apple-system"/>
              </a:rPr>
              <a:t>邻居</a:t>
            </a:r>
            <a:r>
              <a:rPr lang="en-US" altLang="zh-CN" b="1" i="0" dirty="0">
                <a:solidFill>
                  <a:srgbClr val="010409"/>
                </a:solidFill>
                <a:effectLst/>
                <a:latin typeface="-apple-system"/>
              </a:rPr>
              <a:t>-</a:t>
            </a:r>
            <a:r>
              <a:rPr lang="zh-CN" altLang="en-US" b="1" i="0" dirty="0">
                <a:solidFill>
                  <a:srgbClr val="010409"/>
                </a:solidFill>
                <a:effectLst/>
                <a:latin typeface="-apple-system"/>
              </a:rPr>
              <a:t>目标融合打分</a:t>
            </a:r>
            <a:endParaRPr lang="zh-CN" altLang="en-US" dirty="0"/>
          </a:p>
        </p:txBody>
      </p:sp>
      <p:graphicFrame>
        <p:nvGraphicFramePr>
          <p:cNvPr id="168" name="对象 167">
            <a:extLst>
              <a:ext uri="{FF2B5EF4-FFF2-40B4-BE49-F238E27FC236}">
                <a16:creationId xmlns:a16="http://schemas.microsoft.com/office/drawing/2014/main" id="{B9EAF266-68F1-4B2C-93B3-057A36DAC317}"/>
              </a:ext>
            </a:extLst>
          </p:cNvPr>
          <p:cNvGraphicFramePr>
            <a:graphicFrameLocks noChangeAspect="1"/>
          </p:cNvGraphicFramePr>
          <p:nvPr>
            <p:extLst>
              <p:ext uri="{D42A27DB-BD31-4B8C-83A1-F6EECF244321}">
                <p14:modId xmlns:p14="http://schemas.microsoft.com/office/powerpoint/2010/main" val="4262142896"/>
              </p:ext>
            </p:extLst>
          </p:nvPr>
        </p:nvGraphicFramePr>
        <p:xfrm>
          <a:off x="879852" y="3087262"/>
          <a:ext cx="2641494" cy="825467"/>
        </p:xfrm>
        <a:graphic>
          <a:graphicData uri="http://schemas.openxmlformats.org/presentationml/2006/ole">
            <mc:AlternateContent xmlns:mc="http://schemas.openxmlformats.org/markup-compatibility/2006">
              <mc:Choice xmlns:v="urn:schemas-microsoft-com:vml" Requires="v">
                <p:oleObj spid="_x0000_s15864" name="Equation" r:id="rId8" imgW="1422360" imgH="444240" progId="Equation.DSMT4">
                  <p:embed/>
                </p:oleObj>
              </mc:Choice>
              <mc:Fallback>
                <p:oleObj name="Equation" r:id="rId8" imgW="1422360" imgH="444240" progId="Equation.DSMT4">
                  <p:embed/>
                  <p:pic>
                    <p:nvPicPr>
                      <p:cNvPr id="0" name=""/>
                      <p:cNvPicPr/>
                      <p:nvPr/>
                    </p:nvPicPr>
                    <p:blipFill>
                      <a:blip r:embed="rId9"/>
                      <a:stretch>
                        <a:fillRect/>
                      </a:stretch>
                    </p:blipFill>
                    <p:spPr>
                      <a:xfrm>
                        <a:off x="879852" y="3087262"/>
                        <a:ext cx="2641494" cy="825467"/>
                      </a:xfrm>
                      <a:prstGeom prst="rect">
                        <a:avLst/>
                      </a:prstGeom>
                    </p:spPr>
                  </p:pic>
                </p:oleObj>
              </mc:Fallback>
            </mc:AlternateContent>
          </a:graphicData>
        </a:graphic>
      </p:graphicFrame>
      <p:graphicFrame>
        <p:nvGraphicFramePr>
          <p:cNvPr id="174" name="对象 173">
            <a:extLst>
              <a:ext uri="{FF2B5EF4-FFF2-40B4-BE49-F238E27FC236}">
                <a16:creationId xmlns:a16="http://schemas.microsoft.com/office/drawing/2014/main" id="{6E50C619-9880-40DA-A8D4-6ADAAF23A253}"/>
              </a:ext>
            </a:extLst>
          </p:cNvPr>
          <p:cNvGraphicFramePr>
            <a:graphicFrameLocks noChangeAspect="1"/>
          </p:cNvGraphicFramePr>
          <p:nvPr>
            <p:extLst>
              <p:ext uri="{D42A27DB-BD31-4B8C-83A1-F6EECF244321}">
                <p14:modId xmlns:p14="http://schemas.microsoft.com/office/powerpoint/2010/main" val="2341892625"/>
              </p:ext>
            </p:extLst>
          </p:nvPr>
        </p:nvGraphicFramePr>
        <p:xfrm>
          <a:off x="6607087" y="1900342"/>
          <a:ext cx="914400" cy="198438"/>
        </p:xfrm>
        <a:graphic>
          <a:graphicData uri="http://schemas.openxmlformats.org/presentationml/2006/ole">
            <mc:AlternateContent xmlns:mc="http://schemas.openxmlformats.org/markup-compatibility/2006">
              <mc:Choice xmlns:v="urn:schemas-microsoft-com:vml" Requires="v">
                <p:oleObj spid="_x0000_s15865" name="Equation" r:id="rId10" imgW="914400" imgH="198720" progId="Equation.DSMT4">
                  <p:embed/>
                </p:oleObj>
              </mc:Choice>
              <mc:Fallback>
                <p:oleObj name="Equation" r:id="rId10" imgW="914400" imgH="198720" progId="Equation.DSMT4">
                  <p:embed/>
                  <p:pic>
                    <p:nvPicPr>
                      <p:cNvPr id="0" name=""/>
                      <p:cNvPicPr/>
                      <p:nvPr/>
                    </p:nvPicPr>
                    <p:blipFill>
                      <a:blip r:embed="rId5"/>
                      <a:stretch>
                        <a:fillRect/>
                      </a:stretch>
                    </p:blipFill>
                    <p:spPr>
                      <a:xfrm>
                        <a:off x="6607087" y="1900342"/>
                        <a:ext cx="914400" cy="198438"/>
                      </a:xfrm>
                      <a:prstGeom prst="rect">
                        <a:avLst/>
                      </a:prstGeom>
                    </p:spPr>
                  </p:pic>
                </p:oleObj>
              </mc:Fallback>
            </mc:AlternateContent>
          </a:graphicData>
        </a:graphic>
      </p:graphicFrame>
      <p:pic>
        <p:nvPicPr>
          <p:cNvPr id="12" name="图片 11" descr="沈阳建筑大学抠图"/>
          <p:cNvPicPr>
            <a:picLocks noChangeAspect="1"/>
          </p:cNvPicPr>
          <p:nvPr/>
        </p:nvPicPr>
        <p:blipFill>
          <a:blip r:embed="rId11"/>
          <a:stretch>
            <a:fillRect/>
          </a:stretch>
        </p:blipFill>
        <p:spPr>
          <a:xfrm>
            <a:off x="-221823" y="-770400"/>
            <a:ext cx="3274695" cy="2364105"/>
          </a:xfrm>
          <a:prstGeom prst="rect">
            <a:avLst/>
          </a:prstGeom>
        </p:spPr>
      </p:pic>
      <p:graphicFrame>
        <p:nvGraphicFramePr>
          <p:cNvPr id="3" name="对象 2">
            <a:extLst>
              <a:ext uri="{FF2B5EF4-FFF2-40B4-BE49-F238E27FC236}">
                <a16:creationId xmlns:a16="http://schemas.microsoft.com/office/drawing/2014/main" id="{8F663490-D30E-49D0-AA19-EC7255933555}"/>
              </a:ext>
            </a:extLst>
          </p:cNvPr>
          <p:cNvGraphicFramePr>
            <a:graphicFrameLocks noChangeAspect="1"/>
          </p:cNvGraphicFramePr>
          <p:nvPr>
            <p:extLst>
              <p:ext uri="{D42A27DB-BD31-4B8C-83A1-F6EECF244321}">
                <p14:modId xmlns:p14="http://schemas.microsoft.com/office/powerpoint/2010/main" val="2534832376"/>
              </p:ext>
            </p:extLst>
          </p:nvPr>
        </p:nvGraphicFramePr>
        <p:xfrm>
          <a:off x="1322642" y="4436415"/>
          <a:ext cx="1704875" cy="1022925"/>
        </p:xfrm>
        <a:graphic>
          <a:graphicData uri="http://schemas.openxmlformats.org/presentationml/2006/ole">
            <mc:AlternateContent xmlns:mc="http://schemas.openxmlformats.org/markup-compatibility/2006">
              <mc:Choice xmlns:v="urn:schemas-microsoft-com:vml" Requires="v">
                <p:oleObj spid="_x0000_s15866" name="Equation" r:id="rId12" imgW="1015920" imgH="609480" progId="Equation.DSMT4">
                  <p:embed/>
                </p:oleObj>
              </mc:Choice>
              <mc:Fallback>
                <p:oleObj name="Equation" r:id="rId12" imgW="1015920" imgH="609480" progId="Equation.DSMT4">
                  <p:embed/>
                  <p:pic>
                    <p:nvPicPr>
                      <p:cNvPr id="0" name=""/>
                      <p:cNvPicPr/>
                      <p:nvPr/>
                    </p:nvPicPr>
                    <p:blipFill>
                      <a:blip r:embed="rId13"/>
                      <a:stretch>
                        <a:fillRect/>
                      </a:stretch>
                    </p:blipFill>
                    <p:spPr>
                      <a:xfrm>
                        <a:off x="1322642" y="4436415"/>
                        <a:ext cx="1704875" cy="1022925"/>
                      </a:xfrm>
                      <a:prstGeom prst="rect">
                        <a:avLst/>
                      </a:prstGeom>
                    </p:spPr>
                  </p:pic>
                </p:oleObj>
              </mc:Fallback>
            </mc:AlternateContent>
          </a:graphicData>
        </a:graphic>
      </p:graphicFrame>
      <p:sp>
        <p:nvSpPr>
          <p:cNvPr id="48" name="文本框 47">
            <a:extLst>
              <a:ext uri="{FF2B5EF4-FFF2-40B4-BE49-F238E27FC236}">
                <a16:creationId xmlns:a16="http://schemas.microsoft.com/office/drawing/2014/main" id="{5138F675-A421-408D-8BB7-009088B2C0FF}"/>
              </a:ext>
            </a:extLst>
          </p:cNvPr>
          <p:cNvSpPr txBox="1"/>
          <p:nvPr/>
        </p:nvSpPr>
        <p:spPr>
          <a:xfrm>
            <a:off x="879851" y="4067083"/>
            <a:ext cx="3274695" cy="369332"/>
          </a:xfrm>
          <a:prstGeom prst="rect">
            <a:avLst/>
          </a:prstGeom>
          <a:noFill/>
        </p:spPr>
        <p:txBody>
          <a:bodyPr wrap="square" rtlCol="0">
            <a:spAutoFit/>
          </a:bodyPr>
          <a:lstStyle/>
          <a:p>
            <a:r>
              <a:rPr lang="zh-CN" altLang="en-US" dirty="0"/>
              <a:t>第三步</a:t>
            </a:r>
            <a:r>
              <a:rPr lang="zh-CN" altLang="en-US" b="1" i="0" dirty="0">
                <a:solidFill>
                  <a:srgbClr val="010409"/>
                </a:solidFill>
                <a:effectLst/>
                <a:latin typeface="-apple-system"/>
              </a:rPr>
              <a:t>注意力权重归一化分配</a:t>
            </a:r>
            <a:endParaRPr lang="zh-CN" altLang="en-US" b="1" dirty="0"/>
          </a:p>
        </p:txBody>
      </p:sp>
      <p:sp>
        <p:nvSpPr>
          <p:cNvPr id="53" name="文本框 52">
            <a:extLst>
              <a:ext uri="{FF2B5EF4-FFF2-40B4-BE49-F238E27FC236}">
                <a16:creationId xmlns:a16="http://schemas.microsoft.com/office/drawing/2014/main" id="{A8977C24-CDDC-4E3D-866A-3682A737CAC0}"/>
              </a:ext>
            </a:extLst>
          </p:cNvPr>
          <p:cNvSpPr txBox="1"/>
          <p:nvPr/>
        </p:nvSpPr>
        <p:spPr>
          <a:xfrm>
            <a:off x="879850" y="5409362"/>
            <a:ext cx="2875085" cy="369332"/>
          </a:xfrm>
          <a:prstGeom prst="rect">
            <a:avLst/>
          </a:prstGeom>
          <a:noFill/>
        </p:spPr>
        <p:txBody>
          <a:bodyPr wrap="square" rtlCol="0">
            <a:spAutoFit/>
          </a:bodyPr>
          <a:lstStyle/>
          <a:p>
            <a:r>
              <a:rPr lang="zh-CN" altLang="en-US" dirty="0"/>
              <a:t>第四步</a:t>
            </a:r>
            <a:r>
              <a:rPr lang="zh-CN" altLang="en-US" b="1" i="0" dirty="0">
                <a:solidFill>
                  <a:srgbClr val="010409"/>
                </a:solidFill>
                <a:effectLst/>
                <a:latin typeface="-apple-system"/>
              </a:rPr>
              <a:t>加权信息聚合融合</a:t>
            </a:r>
            <a:endParaRPr lang="zh-CN" altLang="en-US" b="1" dirty="0"/>
          </a:p>
        </p:txBody>
      </p:sp>
      <p:graphicFrame>
        <p:nvGraphicFramePr>
          <p:cNvPr id="10" name="对象 9">
            <a:extLst>
              <a:ext uri="{FF2B5EF4-FFF2-40B4-BE49-F238E27FC236}">
                <a16:creationId xmlns:a16="http://schemas.microsoft.com/office/drawing/2014/main" id="{DA598E82-AC16-4821-80D3-790FB0E52608}"/>
              </a:ext>
            </a:extLst>
          </p:cNvPr>
          <p:cNvGraphicFramePr>
            <a:graphicFrameLocks noChangeAspect="1"/>
          </p:cNvGraphicFramePr>
          <p:nvPr>
            <p:extLst>
              <p:ext uri="{D42A27DB-BD31-4B8C-83A1-F6EECF244321}">
                <p14:modId xmlns:p14="http://schemas.microsoft.com/office/powerpoint/2010/main" val="3494609633"/>
              </p:ext>
            </p:extLst>
          </p:nvPr>
        </p:nvGraphicFramePr>
        <p:xfrm>
          <a:off x="1283358" y="5925995"/>
          <a:ext cx="1975462" cy="716105"/>
        </p:xfrm>
        <a:graphic>
          <a:graphicData uri="http://schemas.openxmlformats.org/presentationml/2006/ole">
            <mc:AlternateContent xmlns:mc="http://schemas.openxmlformats.org/markup-compatibility/2006">
              <mc:Choice xmlns:v="urn:schemas-microsoft-com:vml" Requires="v">
                <p:oleObj spid="_x0000_s15867" name="Equation" r:id="rId14" imgW="1015920" imgH="368280" progId="Equation.DSMT4">
                  <p:embed/>
                </p:oleObj>
              </mc:Choice>
              <mc:Fallback>
                <p:oleObj name="Equation" r:id="rId14" imgW="1015920" imgH="368280" progId="Equation.DSMT4">
                  <p:embed/>
                  <p:pic>
                    <p:nvPicPr>
                      <p:cNvPr id="0" name=""/>
                      <p:cNvPicPr/>
                      <p:nvPr/>
                    </p:nvPicPr>
                    <p:blipFill>
                      <a:blip r:embed="rId15"/>
                      <a:stretch>
                        <a:fillRect/>
                      </a:stretch>
                    </p:blipFill>
                    <p:spPr>
                      <a:xfrm>
                        <a:off x="1283358" y="5925995"/>
                        <a:ext cx="1975462" cy="716105"/>
                      </a:xfrm>
                      <a:prstGeom prst="rect">
                        <a:avLst/>
                      </a:prstGeom>
                    </p:spPr>
                  </p:pic>
                </p:oleObj>
              </mc:Fallback>
            </mc:AlternateContent>
          </a:graphicData>
        </a:graphic>
      </p:graphicFrame>
      <p:sp>
        <p:nvSpPr>
          <p:cNvPr id="56" name="文本框 55">
            <a:extLst>
              <a:ext uri="{FF2B5EF4-FFF2-40B4-BE49-F238E27FC236}">
                <a16:creationId xmlns:a16="http://schemas.microsoft.com/office/drawing/2014/main" id="{B635134B-B475-47C7-B782-509A26759A31}"/>
              </a:ext>
            </a:extLst>
          </p:cNvPr>
          <p:cNvSpPr txBox="1"/>
          <p:nvPr/>
        </p:nvSpPr>
        <p:spPr>
          <a:xfrm>
            <a:off x="4473087" y="1914114"/>
            <a:ext cx="6326064" cy="369332"/>
          </a:xfrm>
          <a:prstGeom prst="rect">
            <a:avLst/>
          </a:prstGeom>
          <a:noFill/>
        </p:spPr>
        <p:txBody>
          <a:bodyPr wrap="square">
            <a:spAutoFit/>
          </a:bodyPr>
          <a:lstStyle/>
          <a:p>
            <a:r>
              <a:rPr lang="zh-CN" altLang="en-US" b="0" i="0" dirty="0">
                <a:solidFill>
                  <a:srgbClr val="010409"/>
                </a:solidFill>
                <a:effectLst/>
                <a:latin typeface="苹方字体" panose="020B0300000000000000" pitchFamily="34" charset="-122"/>
                <a:ea typeface="苹方字体" panose="020B0300000000000000" pitchFamily="34" charset="-122"/>
              </a:rPr>
              <a:t>将原始节点信息转换为高维特征空间，便于后续处理和融合。</a:t>
            </a:r>
            <a:endParaRPr lang="zh-CN" altLang="en-US" dirty="0">
              <a:latin typeface="苹方字体" panose="020B0300000000000000" pitchFamily="34" charset="-122"/>
              <a:ea typeface="苹方字体" panose="020B0300000000000000" pitchFamily="34" charset="-122"/>
            </a:endParaRPr>
          </a:p>
        </p:txBody>
      </p:sp>
      <p:sp>
        <p:nvSpPr>
          <p:cNvPr id="57" name="文本框 56">
            <a:extLst>
              <a:ext uri="{FF2B5EF4-FFF2-40B4-BE49-F238E27FC236}">
                <a16:creationId xmlns:a16="http://schemas.microsoft.com/office/drawing/2014/main" id="{4CDEB18A-A929-4DF8-ACC1-A9C830EBC9DD}"/>
              </a:ext>
            </a:extLst>
          </p:cNvPr>
          <p:cNvSpPr txBox="1"/>
          <p:nvPr/>
        </p:nvSpPr>
        <p:spPr>
          <a:xfrm>
            <a:off x="4461559" y="3074678"/>
            <a:ext cx="6326064" cy="923330"/>
          </a:xfrm>
          <a:prstGeom prst="rect">
            <a:avLst/>
          </a:prstGeom>
          <a:noFill/>
        </p:spPr>
        <p:txBody>
          <a:bodyPr wrap="square">
            <a:spAutoFit/>
          </a:bodyPr>
          <a:lstStyle/>
          <a:p>
            <a:r>
              <a:rPr lang="zh-CN" altLang="en-US" b="0" i="0" dirty="0">
                <a:solidFill>
                  <a:srgbClr val="010409"/>
                </a:solidFill>
                <a:effectLst/>
                <a:latin typeface="苹方字体" panose="020B0300000000000000" pitchFamily="34" charset="-122"/>
                <a:ea typeface="苹方字体" panose="020B0300000000000000" pitchFamily="34" charset="-122"/>
              </a:rPr>
              <a:t>计算任意两节点之间的信息重要性（注意力分数），识别关键邻居，</a:t>
            </a:r>
            <a:r>
              <a:rPr lang="zh-CN" altLang="zh-CN" sz="1800" kern="100" dirty="0">
                <a:solidFill>
                  <a:srgbClr val="010409"/>
                </a:solidFill>
                <a:effectLst/>
                <a:latin typeface="苹方字体" panose="020B0300000000000000" pitchFamily="34" charset="-122"/>
                <a:ea typeface="苹方字体" panose="020B0300000000000000" pitchFamily="34" charset="-122"/>
                <a:cs typeface="Segoe UI" panose="020B0502040204020203" pitchFamily="34" charset="0"/>
              </a:rPr>
              <a:t>帮助我们自动甄别哪些通信链路或协同关系需要重点关注，比如谁是队列的关键节点，谁的信号最重要</a:t>
            </a:r>
            <a:r>
              <a:rPr lang="zh-CN" altLang="en-US" b="0" i="0" dirty="0">
                <a:solidFill>
                  <a:srgbClr val="010409"/>
                </a:solidFill>
                <a:effectLst/>
                <a:latin typeface="苹方字体" panose="020B0300000000000000" pitchFamily="34" charset="-122"/>
                <a:ea typeface="苹方字体" panose="020B0300000000000000" pitchFamily="34" charset="-122"/>
              </a:rPr>
              <a:t>。</a:t>
            </a:r>
            <a:endParaRPr lang="zh-CN" altLang="en-US" dirty="0">
              <a:latin typeface="苹方字体" panose="020B0300000000000000" pitchFamily="34" charset="-122"/>
              <a:ea typeface="苹方字体" panose="020B0300000000000000" pitchFamily="34" charset="-122"/>
            </a:endParaRPr>
          </a:p>
        </p:txBody>
      </p:sp>
      <p:sp>
        <p:nvSpPr>
          <p:cNvPr id="58" name="文本框 57">
            <a:extLst>
              <a:ext uri="{FF2B5EF4-FFF2-40B4-BE49-F238E27FC236}">
                <a16:creationId xmlns:a16="http://schemas.microsoft.com/office/drawing/2014/main" id="{B0BB837A-3643-47C6-95D3-ECC693980DE4}"/>
              </a:ext>
            </a:extLst>
          </p:cNvPr>
          <p:cNvSpPr txBox="1"/>
          <p:nvPr/>
        </p:nvSpPr>
        <p:spPr>
          <a:xfrm>
            <a:off x="4461559" y="4397968"/>
            <a:ext cx="6326064" cy="923330"/>
          </a:xfrm>
          <a:prstGeom prst="rect">
            <a:avLst/>
          </a:prstGeom>
          <a:noFill/>
        </p:spPr>
        <p:txBody>
          <a:bodyPr wrap="square">
            <a:spAutoFit/>
          </a:bodyPr>
          <a:lstStyle/>
          <a:p>
            <a:r>
              <a:rPr lang="zh-CN" altLang="en-US" b="0" i="0" dirty="0">
                <a:solidFill>
                  <a:srgbClr val="010409"/>
                </a:solidFill>
                <a:effectLst/>
                <a:latin typeface="苹方字体" panose="020B0300000000000000" pitchFamily="34" charset="-122"/>
                <a:ea typeface="苹方字体" panose="020B0300000000000000" pitchFamily="34" charset="-122"/>
              </a:rPr>
              <a:t>通过</a:t>
            </a:r>
            <a:r>
              <a:rPr lang="zh-CN" altLang="en-US" dirty="0">
                <a:solidFill>
                  <a:srgbClr val="010409"/>
                </a:solidFill>
                <a:latin typeface="苹方字体" panose="020B0300000000000000" pitchFamily="34" charset="-122"/>
                <a:ea typeface="苹方字体" panose="020B0300000000000000" pitchFamily="34" charset="-122"/>
              </a:rPr>
              <a:t>权重</a:t>
            </a:r>
            <a:r>
              <a:rPr lang="zh-CN" altLang="en-US" b="0" i="0" dirty="0">
                <a:solidFill>
                  <a:srgbClr val="010409"/>
                </a:solidFill>
                <a:effectLst/>
                <a:latin typeface="苹方字体" panose="020B0300000000000000" pitchFamily="34" charset="-122"/>
                <a:ea typeface="苹方字体" panose="020B0300000000000000" pitchFamily="34" charset="-122"/>
              </a:rPr>
              <a:t>归一化，将关注度分配给各邻居节点，突出重点信息</a:t>
            </a:r>
            <a:r>
              <a:rPr lang="zh-CN" altLang="zh-CN" sz="1800" kern="100" dirty="0">
                <a:solidFill>
                  <a:srgbClr val="010409"/>
                </a:solidFill>
                <a:effectLst/>
                <a:latin typeface="苹方字体" panose="020B0300000000000000" pitchFamily="34" charset="-122"/>
                <a:ea typeface="苹方字体" panose="020B0300000000000000" pitchFamily="34" charset="-122"/>
                <a:cs typeface="Segoe UI" panose="020B0502040204020203" pitchFamily="34" charset="0"/>
              </a:rPr>
              <a:t>让每个车在通信或队列协同时，可以</a:t>
            </a:r>
            <a:r>
              <a:rPr lang="en-US" altLang="zh-CN" sz="1800" kern="100" dirty="0">
                <a:solidFill>
                  <a:srgbClr val="010409"/>
                </a:solidFill>
                <a:effectLst/>
                <a:latin typeface="苹方字体" panose="020B0300000000000000" pitchFamily="34" charset="-122"/>
                <a:ea typeface="苹方字体" panose="020B0300000000000000" pitchFamily="34" charset="-122"/>
              </a:rPr>
              <a:t>“</a:t>
            </a:r>
            <a:r>
              <a:rPr lang="zh-CN" altLang="zh-CN" sz="1800" kern="100" dirty="0">
                <a:solidFill>
                  <a:srgbClr val="010409"/>
                </a:solidFill>
                <a:effectLst/>
                <a:latin typeface="苹方字体" panose="020B0300000000000000" pitchFamily="34" charset="-122"/>
                <a:ea typeface="苹方字体" panose="020B0300000000000000" pitchFamily="34" charset="-122"/>
                <a:cs typeface="Segoe UI" panose="020B0502040204020203" pitchFamily="34" charset="0"/>
              </a:rPr>
              <a:t>自适应</a:t>
            </a:r>
            <a:r>
              <a:rPr lang="en-US" altLang="zh-CN" sz="1800" kern="100" dirty="0">
                <a:solidFill>
                  <a:srgbClr val="010409"/>
                </a:solidFill>
                <a:effectLst/>
                <a:latin typeface="苹方字体" panose="020B0300000000000000" pitchFamily="34" charset="-122"/>
                <a:ea typeface="苹方字体" panose="020B0300000000000000" pitchFamily="34" charset="-122"/>
              </a:rPr>
              <a:t>”</a:t>
            </a:r>
            <a:r>
              <a:rPr lang="zh-CN" altLang="zh-CN" sz="1800" kern="100" dirty="0">
                <a:solidFill>
                  <a:srgbClr val="010409"/>
                </a:solidFill>
                <a:effectLst/>
                <a:latin typeface="苹方字体" panose="020B0300000000000000" pitchFamily="34" charset="-122"/>
                <a:ea typeface="苹方字体" panose="020B0300000000000000" pitchFamily="34" charset="-122"/>
                <a:cs typeface="Segoe UI" panose="020B0502040204020203" pitchFamily="34" charset="0"/>
              </a:rPr>
              <a:t>从关键邻居那里优先接收信息，实现智能筛选。</a:t>
            </a:r>
            <a:endParaRPr lang="zh-CN" altLang="zh-CN" sz="1800" kern="100" dirty="0">
              <a:effectLst/>
              <a:latin typeface="苹方字体" panose="020B0300000000000000" pitchFamily="34" charset="-122"/>
              <a:ea typeface="苹方字体" panose="020B0300000000000000" pitchFamily="34" charset="-122"/>
            </a:endParaRPr>
          </a:p>
        </p:txBody>
      </p:sp>
      <p:sp>
        <p:nvSpPr>
          <p:cNvPr id="59" name="文本框 58">
            <a:extLst>
              <a:ext uri="{FF2B5EF4-FFF2-40B4-BE49-F238E27FC236}">
                <a16:creationId xmlns:a16="http://schemas.microsoft.com/office/drawing/2014/main" id="{2B9C67A6-BA26-4E75-943D-02A138A90577}"/>
              </a:ext>
            </a:extLst>
          </p:cNvPr>
          <p:cNvSpPr txBox="1"/>
          <p:nvPr/>
        </p:nvSpPr>
        <p:spPr>
          <a:xfrm>
            <a:off x="4473087" y="5778694"/>
            <a:ext cx="6326064" cy="1477328"/>
          </a:xfrm>
          <a:prstGeom prst="rect">
            <a:avLst/>
          </a:prstGeom>
          <a:noFill/>
        </p:spPr>
        <p:txBody>
          <a:bodyPr wrap="square">
            <a:spAutoFit/>
          </a:bodyPr>
          <a:lstStyle/>
          <a:p>
            <a:r>
              <a:rPr lang="zh-CN" altLang="en-US" b="0" i="0" dirty="0">
                <a:solidFill>
                  <a:srgbClr val="010409"/>
                </a:solidFill>
                <a:effectLst/>
                <a:latin typeface="苹方字体" panose="020B0300000000000000" pitchFamily="34" charset="-122"/>
                <a:ea typeface="苹方字体" panose="020B0300000000000000" pitchFamily="34" charset="-122"/>
              </a:rPr>
              <a:t>根据分配的权重，聚合邻居节点信息，实现智能体的信息融合与协同感知，</a:t>
            </a:r>
            <a:r>
              <a:rPr lang="zh-CN" altLang="zh-CN" sz="1800" kern="100" dirty="0">
                <a:solidFill>
                  <a:srgbClr val="010409"/>
                </a:solidFill>
                <a:effectLst/>
                <a:latin typeface="苹方字体" panose="020B0300000000000000" pitchFamily="34" charset="-122"/>
                <a:ea typeface="苹方字体" panose="020B0300000000000000" pitchFamily="34" charset="-122"/>
                <a:cs typeface="Segoe UI" panose="020B0502040204020203" pitchFamily="34" charset="0"/>
              </a:rPr>
              <a:t>让编队每辆车都能自主融合来自周边的最有效信息，用以后续通信调度和队列协同优化。</a:t>
            </a:r>
            <a:endParaRPr lang="zh-CN" altLang="en-US" b="0" i="0" dirty="0">
              <a:solidFill>
                <a:srgbClr val="010409"/>
              </a:solidFill>
              <a:effectLst/>
              <a:latin typeface="苹方字体" panose="020B0300000000000000" pitchFamily="34" charset="-122"/>
              <a:ea typeface="苹方字体" panose="020B0300000000000000" pitchFamily="34" charset="-122"/>
            </a:endParaRPr>
          </a:p>
          <a:p>
            <a:br>
              <a:rPr lang="zh-CN" altLang="en-US" dirty="0"/>
            </a:br>
            <a:endParaRPr lang="zh-CN" altLang="en-US" dirty="0"/>
          </a:p>
        </p:txBody>
      </p:sp>
    </p:spTree>
    <p:extLst>
      <p:ext uri="{BB962C8B-B14F-4D97-AF65-F5344CB8AC3E}">
        <p14:creationId xmlns:p14="http://schemas.microsoft.com/office/powerpoint/2010/main" val="1503340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en-US" altLang="zh-CN" sz="1865" b="1" dirty="0">
                <a:solidFill>
                  <a:schemeClr val="tx1"/>
                </a:solidFill>
                <a:latin typeface="微软雅黑" panose="020B0503020204020204" pitchFamily="34" charset="-122"/>
                <a:ea typeface="微软雅黑" panose="020B0503020204020204" pitchFamily="34" charset="-122"/>
              </a:rPr>
              <a:t>3.1 </a:t>
            </a:r>
            <a:r>
              <a:rPr lang="zh-CN" altLang="en-US" sz="1865" b="1" dirty="0">
                <a:solidFill>
                  <a:schemeClr val="tx1"/>
                </a:solidFill>
                <a:latin typeface="微软雅黑" panose="020B0503020204020204" pitchFamily="34" charset="-122"/>
                <a:ea typeface="微软雅黑" panose="020B0503020204020204" pitchFamily="34" charset="-122"/>
              </a:rPr>
              <a:t>研究</a:t>
            </a:r>
            <a:r>
              <a:rPr lang="zh-CN" altLang="en-US" sz="1865" b="1" dirty="0">
                <a:latin typeface="微软雅黑" panose="020B0503020204020204" pitchFamily="34" charset="-122"/>
                <a:ea typeface="微软雅黑" panose="020B0503020204020204" pitchFamily="34" charset="-122"/>
              </a:rPr>
              <a:t>依据</a:t>
            </a:r>
            <a:endParaRPr lang="zh-CN" altLang="en-US" sz="1865" b="1" dirty="0">
              <a:solidFill>
                <a:schemeClr val="tx1"/>
              </a:solidFill>
              <a:latin typeface="微软雅黑" panose="020B0503020204020204" pitchFamily="34" charset="-122"/>
              <a:ea typeface="微软雅黑" panose="020B0503020204020204" pitchFamily="34" charset="-122"/>
            </a:endParaRPr>
          </a:p>
        </p:txBody>
      </p:sp>
      <p:pic>
        <p:nvPicPr>
          <p:cNvPr id="3" name="图形 2">
            <a:extLst>
              <a:ext uri="{FF2B5EF4-FFF2-40B4-BE49-F238E27FC236}">
                <a16:creationId xmlns:a16="http://schemas.microsoft.com/office/drawing/2014/main" id="{C3C6A979-84DD-4D27-B9C0-B312AF0F82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0146" y="1996054"/>
            <a:ext cx="5666722" cy="3626701"/>
          </a:xfrm>
          <a:prstGeom prst="rect">
            <a:avLst/>
          </a:prstGeom>
        </p:spPr>
      </p:pic>
      <p:sp>
        <p:nvSpPr>
          <p:cNvPr id="8" name="文本框 7">
            <a:extLst>
              <a:ext uri="{FF2B5EF4-FFF2-40B4-BE49-F238E27FC236}">
                <a16:creationId xmlns:a16="http://schemas.microsoft.com/office/drawing/2014/main" id="{0CFF0CE4-92EA-409E-BAC7-4BB3ED4A65B8}"/>
              </a:ext>
            </a:extLst>
          </p:cNvPr>
          <p:cNvSpPr txBox="1"/>
          <p:nvPr/>
        </p:nvSpPr>
        <p:spPr>
          <a:xfrm>
            <a:off x="1067593" y="5602769"/>
            <a:ext cx="10190162" cy="1754326"/>
          </a:xfrm>
          <a:prstGeom prst="rect">
            <a:avLst/>
          </a:prstGeom>
          <a:noFill/>
        </p:spPr>
        <p:txBody>
          <a:bodyPr wrap="square" rtlCol="0">
            <a:spAutoFit/>
          </a:bodyPr>
          <a:lstStyle/>
          <a:p>
            <a:r>
              <a:rPr lang="zh-CN" altLang="en-US" b="0" i="0" dirty="0">
                <a:solidFill>
                  <a:srgbClr val="010409"/>
                </a:solidFill>
                <a:effectLst/>
                <a:latin typeface="苹方字体" panose="020B0300000000000000" pitchFamily="34" charset="-122"/>
                <a:ea typeface="苹方字体" panose="020B0300000000000000" pitchFamily="34" charset="-122"/>
              </a:rPr>
              <a:t>○ </a:t>
            </a:r>
            <a:r>
              <a:rPr lang="en-US" altLang="zh-CN" b="0" i="0" dirty="0">
                <a:solidFill>
                  <a:srgbClr val="010409"/>
                </a:solidFill>
                <a:effectLst/>
                <a:latin typeface="苹方字体" panose="020B0300000000000000" pitchFamily="34" charset="-122"/>
                <a:ea typeface="苹方字体" panose="020B0300000000000000" pitchFamily="34" charset="-122"/>
              </a:rPr>
              <a:t>GATv2 </a:t>
            </a:r>
            <a:r>
              <a:rPr lang="zh-CN" altLang="en-US" b="0" i="0" dirty="0">
                <a:solidFill>
                  <a:srgbClr val="010409"/>
                </a:solidFill>
                <a:effectLst/>
                <a:latin typeface="苹方字体" panose="020B0300000000000000" pitchFamily="34" charset="-122"/>
                <a:ea typeface="苹方字体" panose="020B0300000000000000" pitchFamily="34" charset="-122"/>
              </a:rPr>
              <a:t>能动态分配“注意力权重”给每个邻居节点，精细刻画每个车辆之间的关系</a:t>
            </a:r>
            <a:endParaRPr lang="en-US" altLang="zh-CN" b="0" i="0" dirty="0">
              <a:solidFill>
                <a:srgbClr val="010409"/>
              </a:solidFill>
              <a:effectLst/>
              <a:latin typeface="苹方字体" panose="020B0300000000000000" pitchFamily="34" charset="-122"/>
              <a:ea typeface="苹方字体" panose="020B0300000000000000" pitchFamily="34" charset="-122"/>
            </a:endParaRPr>
          </a:p>
          <a:p>
            <a:r>
              <a:rPr lang="zh-CN" altLang="en-US" b="0" i="0" dirty="0">
                <a:solidFill>
                  <a:srgbClr val="010409"/>
                </a:solidFill>
                <a:effectLst/>
                <a:latin typeface="苹方字体" panose="020B0300000000000000" pitchFamily="34" charset="-122"/>
                <a:ea typeface="苹方字体" panose="020B0300000000000000" pitchFamily="34" charset="-122"/>
              </a:rPr>
              <a:t>○ </a:t>
            </a:r>
            <a:r>
              <a:rPr lang="en-US" altLang="zh-CN" b="0" i="0" dirty="0">
                <a:solidFill>
                  <a:srgbClr val="010409"/>
                </a:solidFill>
                <a:effectLst/>
                <a:latin typeface="苹方字体" panose="020B0300000000000000" pitchFamily="34" charset="-122"/>
                <a:ea typeface="苹方字体" panose="020B0300000000000000" pitchFamily="34" charset="-122"/>
              </a:rPr>
              <a:t>GATv2</a:t>
            </a:r>
            <a:r>
              <a:rPr lang="zh-CN" altLang="en-US" b="0" i="0" dirty="0">
                <a:solidFill>
                  <a:srgbClr val="010409"/>
                </a:solidFill>
                <a:effectLst/>
                <a:latin typeface="苹方字体" panose="020B0300000000000000" pitchFamily="34" charset="-122"/>
                <a:ea typeface="苹方字体" panose="020B0300000000000000" pitchFamily="34" charset="-122"/>
              </a:rPr>
              <a:t>在多节点、多边复杂图结构下，能更快收敛到优解，具有更高的泛化能力和鲁棒性。</a:t>
            </a:r>
            <a:endParaRPr lang="en-US" altLang="zh-CN" b="0" i="0" dirty="0">
              <a:solidFill>
                <a:srgbClr val="010409"/>
              </a:solidFill>
              <a:effectLst/>
              <a:latin typeface="苹方字体" panose="020B0300000000000000" pitchFamily="34" charset="-122"/>
              <a:ea typeface="苹方字体" panose="020B0300000000000000" pitchFamily="34" charset="-122"/>
            </a:endParaRPr>
          </a:p>
          <a:p>
            <a:r>
              <a:rPr lang="zh-CN" altLang="en-US" b="0" i="0" dirty="0">
                <a:solidFill>
                  <a:srgbClr val="010409"/>
                </a:solidFill>
                <a:effectLst/>
                <a:latin typeface="苹方字体" panose="020B0300000000000000" pitchFamily="34" charset="-122"/>
                <a:ea typeface="苹方字体" panose="020B0300000000000000" pitchFamily="34" charset="-122"/>
              </a:rPr>
              <a:t>○ </a:t>
            </a:r>
            <a:r>
              <a:rPr lang="en-US" altLang="zh-CN" b="0" i="0" dirty="0">
                <a:solidFill>
                  <a:srgbClr val="010409"/>
                </a:solidFill>
                <a:effectLst/>
                <a:latin typeface="苹方字体" panose="020B0300000000000000" pitchFamily="34" charset="-122"/>
                <a:ea typeface="苹方字体" panose="020B0300000000000000" pitchFamily="34" charset="-122"/>
              </a:rPr>
              <a:t>GATv2 </a:t>
            </a:r>
            <a:r>
              <a:rPr lang="zh-CN" altLang="en-US" b="0" i="0" dirty="0">
                <a:solidFill>
                  <a:srgbClr val="010409"/>
                </a:solidFill>
                <a:effectLst/>
                <a:latin typeface="苹方字体" panose="020B0300000000000000" pitchFamily="34" charset="-122"/>
                <a:ea typeface="苹方字体" panose="020B0300000000000000" pitchFamily="34" charset="-122"/>
              </a:rPr>
              <a:t>的注意力机制是全参数化和非线性的，能学习复杂的关系和特征交互，有利于处理交通       网络这种高度动态、异质的环境。</a:t>
            </a:r>
          </a:p>
          <a:p>
            <a:br>
              <a:rPr lang="zh-CN" altLang="en-US" dirty="0"/>
            </a:br>
            <a:endParaRPr lang="zh-CN" altLang="en-US" dirty="0"/>
          </a:p>
        </p:txBody>
      </p:sp>
      <p:sp>
        <p:nvSpPr>
          <p:cNvPr id="43" name="矩形 4">
            <a:extLst>
              <a:ext uri="{FF2B5EF4-FFF2-40B4-BE49-F238E27FC236}">
                <a16:creationId xmlns:a16="http://schemas.microsoft.com/office/drawing/2014/main" id="{40329798-D365-40B6-AAEE-651C3619200C}"/>
              </a:ext>
            </a:extLst>
          </p:cNvPr>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44" name="直接连接符 43">
            <a:extLst>
              <a:ext uri="{FF2B5EF4-FFF2-40B4-BE49-F238E27FC236}">
                <a16:creationId xmlns:a16="http://schemas.microsoft.com/office/drawing/2014/main" id="{C021A82A-5CA2-462F-9D06-001BE7C367E2}"/>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4B7D1964-4E86-40FF-AE57-5988C2560A5A}"/>
              </a:ext>
            </a:extLst>
          </p:cNvPr>
          <p:cNvSpPr/>
          <p:nvPr/>
        </p:nvSpPr>
        <p:spPr>
          <a:xfrm>
            <a:off x="6611792" y="-18947"/>
            <a:ext cx="1684342"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46" name="直接连接符 45">
            <a:extLst>
              <a:ext uri="{FF2B5EF4-FFF2-40B4-BE49-F238E27FC236}">
                <a16:creationId xmlns:a16="http://schemas.microsoft.com/office/drawing/2014/main" id="{A18F04B6-0156-4BF8-8D77-A8DF96845588}"/>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Box 6">
            <a:extLst>
              <a:ext uri="{FF2B5EF4-FFF2-40B4-BE49-F238E27FC236}">
                <a16:creationId xmlns:a16="http://schemas.microsoft.com/office/drawing/2014/main" id="{87A7729D-C463-4EE9-8035-79DD35705A1E}"/>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48" name="TextBox 7">
            <a:extLst>
              <a:ext uri="{FF2B5EF4-FFF2-40B4-BE49-F238E27FC236}">
                <a16:creationId xmlns:a16="http://schemas.microsoft.com/office/drawing/2014/main" id="{6972CA12-C373-4878-932A-D5184D06AB80}"/>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49" name="TextBox 9">
            <a:extLst>
              <a:ext uri="{FF2B5EF4-FFF2-40B4-BE49-F238E27FC236}">
                <a16:creationId xmlns:a16="http://schemas.microsoft.com/office/drawing/2014/main" id="{DB352CF3-7A15-4729-8661-A817875FD56B}"/>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研究内容和依据</a:t>
            </a:r>
          </a:p>
        </p:txBody>
      </p:sp>
      <p:sp>
        <p:nvSpPr>
          <p:cNvPr id="50" name="TextBox 10">
            <a:extLst>
              <a:ext uri="{FF2B5EF4-FFF2-40B4-BE49-F238E27FC236}">
                <a16:creationId xmlns:a16="http://schemas.microsoft.com/office/drawing/2014/main" id="{E09D609F-BC64-4DDD-A5D4-63BC54153A99}"/>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51" name="TextBox 11">
            <a:extLst>
              <a:ext uri="{FF2B5EF4-FFF2-40B4-BE49-F238E27FC236}">
                <a16:creationId xmlns:a16="http://schemas.microsoft.com/office/drawing/2014/main" id="{8266E9B6-BFA7-4E05-994A-34BCDCA9D5AF}"/>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52" name="直接连接符 51">
            <a:extLst>
              <a:ext uri="{FF2B5EF4-FFF2-40B4-BE49-F238E27FC236}">
                <a16:creationId xmlns:a16="http://schemas.microsoft.com/office/drawing/2014/main" id="{0E3FCAD6-7B9E-470C-BEC2-564B0DCC9B44}"/>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3EC6D28F-BDA4-4B3F-9C59-5C994331ABE4}"/>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TextBox 7">
            <a:extLst>
              <a:ext uri="{FF2B5EF4-FFF2-40B4-BE49-F238E27FC236}">
                <a16:creationId xmlns:a16="http://schemas.microsoft.com/office/drawing/2014/main" id="{ED407676-C86F-441E-AD5E-05B18C1F3C47}"/>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A80034A1-5CA4-4A50-9E91-C3911F5BD3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11207" y="1847578"/>
            <a:ext cx="6480793" cy="3615232"/>
          </a:xfrm>
          <a:prstGeom prst="rect">
            <a:avLst/>
          </a:prstGeom>
        </p:spPr>
      </p:pic>
      <p:pic>
        <p:nvPicPr>
          <p:cNvPr id="12" name="图片 11" descr="沈阳建筑大学抠图"/>
          <p:cNvPicPr>
            <a:picLocks noChangeAspect="1"/>
          </p:cNvPicPr>
          <p:nvPr/>
        </p:nvPicPr>
        <p:blipFill>
          <a:blip r:embed="rId6"/>
          <a:stretch>
            <a:fillRect/>
          </a:stretch>
        </p:blipFill>
        <p:spPr>
          <a:xfrm>
            <a:off x="-23495" y="-774065"/>
            <a:ext cx="3274695" cy="2364105"/>
          </a:xfrm>
          <a:prstGeom prst="rect">
            <a:avLst/>
          </a:prstGeom>
        </p:spPr>
      </p:pic>
    </p:spTree>
    <p:extLst>
      <p:ext uri="{BB962C8B-B14F-4D97-AF65-F5344CB8AC3E}">
        <p14:creationId xmlns:p14="http://schemas.microsoft.com/office/powerpoint/2010/main" val="714879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3.1 </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研究</a:t>
            </a:r>
            <a:r>
              <a:rPr lang="zh-CN" altLang="en-US" sz="1865" b="1" dirty="0">
                <a:solidFill>
                  <a:prstClr val="black"/>
                </a:solidFill>
                <a:latin typeface="微软雅黑" panose="020B0503020204020204" pitchFamily="34" charset="-122"/>
                <a:ea typeface="微软雅黑" panose="020B0503020204020204" pitchFamily="34" charset="-122"/>
              </a:rPr>
              <a:t>依据</a:t>
            </a:r>
            <a:endPar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AAC8DAF2-7241-444F-A035-4D8F8016BFBE}"/>
              </a:ext>
            </a:extLst>
          </p:cNvPr>
          <p:cNvSpPr txBox="1"/>
          <p:nvPr/>
        </p:nvSpPr>
        <p:spPr>
          <a:xfrm>
            <a:off x="4522231" y="1522933"/>
            <a:ext cx="8603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prstClr val="black"/>
                </a:solidFill>
                <a:latin typeface="等线"/>
                <a:ea typeface="等线" panose="02010600030101010101" pitchFamily="2" charset="-122"/>
              </a:rPr>
              <a:t>决策</a:t>
            </a:r>
            <a:r>
              <a:rPr lang="en-US" altLang="zh-CN" dirty="0">
                <a:solidFill>
                  <a:prstClr val="black"/>
                </a:solidFill>
                <a:latin typeface="等线"/>
                <a:ea typeface="等线" panose="02010600030101010101" pitchFamily="2" charset="-122"/>
              </a:rPr>
              <a:t>-</a:t>
            </a: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控制机制框图</a:t>
            </a:r>
          </a:p>
        </p:txBody>
      </p:sp>
      <p:sp>
        <p:nvSpPr>
          <p:cNvPr id="23" name="文本框 22">
            <a:extLst>
              <a:ext uri="{FF2B5EF4-FFF2-40B4-BE49-F238E27FC236}">
                <a16:creationId xmlns:a16="http://schemas.microsoft.com/office/drawing/2014/main" id="{E5290F5D-E883-4BBB-B2D0-EAA463494830}"/>
              </a:ext>
            </a:extLst>
          </p:cNvPr>
          <p:cNvSpPr txBox="1"/>
          <p:nvPr/>
        </p:nvSpPr>
        <p:spPr>
          <a:xfrm>
            <a:off x="9594671" y="2249932"/>
            <a:ext cx="2697615" cy="3416320"/>
          </a:xfrm>
          <a:prstGeom prst="rect">
            <a:avLst/>
          </a:prstGeom>
          <a:noFill/>
        </p:spPr>
        <p:txBody>
          <a:bodyPr wrap="square">
            <a:spAutoFit/>
          </a:bodyPr>
          <a:lstStyle/>
          <a:p>
            <a:pPr algn="l"/>
            <a:r>
              <a:rPr lang="zh-CN" altLang="en-US" b="1" i="0" dirty="0">
                <a:solidFill>
                  <a:srgbClr val="010409"/>
                </a:solidFill>
                <a:effectLst/>
                <a:latin typeface="苹方 粗体" panose="020B0600000000000000" pitchFamily="34" charset="-122"/>
                <a:ea typeface="苹方 粗体" panose="020B0600000000000000" pitchFamily="34" charset="-122"/>
              </a:rPr>
              <a:t>分层决策控制流程</a:t>
            </a:r>
            <a:endParaRPr lang="en-US" altLang="zh-CN" b="1" i="0" dirty="0">
              <a:solidFill>
                <a:srgbClr val="010409"/>
              </a:solidFill>
              <a:effectLst/>
              <a:latin typeface="苹方 粗体" panose="020B0600000000000000" pitchFamily="34" charset="-122"/>
              <a:ea typeface="苹方 粗体" panose="020B0600000000000000" pitchFamily="34" charset="-122"/>
            </a:endParaRPr>
          </a:p>
          <a:p>
            <a:pPr algn="l"/>
            <a:endParaRPr lang="zh-CN" altLang="en-US" b="0" i="0" dirty="0">
              <a:solidFill>
                <a:srgbClr val="010409"/>
              </a:solidFill>
              <a:effectLst/>
              <a:latin typeface="苹方 粗体" panose="020B0600000000000000" pitchFamily="34" charset="-122"/>
              <a:ea typeface="苹方 粗体" panose="020B0600000000000000" pitchFamily="34" charset="-122"/>
            </a:endParaRPr>
          </a:p>
          <a:p>
            <a:pPr algn="l">
              <a:buFont typeface="Arial" panose="020B0604020202020204" pitchFamily="34" charset="0"/>
              <a:buChar char="•"/>
            </a:pPr>
            <a:r>
              <a:rPr lang="en-US" altLang="zh-CN" b="0" i="0" dirty="0">
                <a:solidFill>
                  <a:srgbClr val="010409"/>
                </a:solidFill>
                <a:effectLst/>
                <a:latin typeface="苹方字体" panose="020B0300000000000000" pitchFamily="34" charset="-122"/>
                <a:ea typeface="苹方字体" panose="020B0300000000000000" pitchFamily="34" charset="-122"/>
              </a:rPr>
              <a:t>1</a:t>
            </a:r>
            <a:r>
              <a:rPr lang="zh-CN" altLang="en-US" b="0" i="0" dirty="0">
                <a:solidFill>
                  <a:srgbClr val="010409"/>
                </a:solidFill>
                <a:effectLst/>
                <a:latin typeface="苹方字体" panose="020B0300000000000000" pitchFamily="34" charset="-122"/>
                <a:ea typeface="苹方字体" panose="020B0300000000000000" pitchFamily="34" charset="-122"/>
              </a:rPr>
              <a:t>车辆物理和通信信息→图神经网络编码</a:t>
            </a:r>
            <a:endParaRPr lang="en-US" altLang="zh-CN" b="0" i="0" dirty="0">
              <a:solidFill>
                <a:srgbClr val="010409"/>
              </a:solidFill>
              <a:effectLst/>
              <a:latin typeface="苹方字体" panose="020B0300000000000000" pitchFamily="34" charset="-122"/>
              <a:ea typeface="苹方字体" panose="020B0300000000000000" pitchFamily="34" charset="-122"/>
            </a:endParaRPr>
          </a:p>
          <a:p>
            <a:pPr algn="l"/>
            <a:endParaRPr lang="zh-CN" altLang="en-US" b="0" i="0" dirty="0">
              <a:solidFill>
                <a:srgbClr val="010409"/>
              </a:solidFill>
              <a:effectLst/>
              <a:latin typeface="苹方字体" panose="020B0300000000000000" pitchFamily="34" charset="-122"/>
              <a:ea typeface="苹方字体" panose="020B0300000000000000" pitchFamily="34" charset="-122"/>
            </a:endParaRPr>
          </a:p>
          <a:p>
            <a:pPr algn="l">
              <a:buFont typeface="Arial" panose="020B0604020202020204" pitchFamily="34" charset="0"/>
              <a:buChar char="•"/>
            </a:pPr>
            <a:r>
              <a:rPr lang="en-US" altLang="zh-CN" b="0" i="0" dirty="0">
                <a:solidFill>
                  <a:srgbClr val="010409"/>
                </a:solidFill>
                <a:effectLst/>
                <a:latin typeface="苹方字体" panose="020B0300000000000000" pitchFamily="34" charset="-122"/>
                <a:ea typeface="苹方字体" panose="020B0300000000000000" pitchFamily="34" charset="-122"/>
              </a:rPr>
              <a:t>2</a:t>
            </a:r>
            <a:r>
              <a:rPr lang="zh-CN" altLang="en-US" b="0" i="0" dirty="0">
                <a:solidFill>
                  <a:srgbClr val="010409"/>
                </a:solidFill>
                <a:effectLst/>
                <a:latin typeface="苹方字体" panose="020B0300000000000000" pitchFamily="34" charset="-122"/>
                <a:ea typeface="苹方字体" panose="020B0300000000000000" pitchFamily="34" charset="-122"/>
              </a:rPr>
              <a:t>高层（</a:t>
            </a:r>
            <a:r>
              <a:rPr lang="en-US" altLang="zh-CN" b="0" i="0" dirty="0">
                <a:solidFill>
                  <a:srgbClr val="010409"/>
                </a:solidFill>
                <a:effectLst/>
                <a:latin typeface="苹方字体" panose="020B0300000000000000" pitchFamily="34" charset="-122"/>
                <a:ea typeface="苹方字体" panose="020B0300000000000000" pitchFamily="34" charset="-122"/>
              </a:rPr>
              <a:t>DDQN</a:t>
            </a:r>
            <a:r>
              <a:rPr lang="zh-CN" altLang="en-US" b="0" i="0" dirty="0">
                <a:solidFill>
                  <a:srgbClr val="010409"/>
                </a:solidFill>
                <a:effectLst/>
                <a:latin typeface="苹方字体" panose="020B0300000000000000" pitchFamily="34" charset="-122"/>
                <a:ea typeface="苹方字体" panose="020B0300000000000000" pitchFamily="34" charset="-122"/>
              </a:rPr>
              <a:t>）：队形</a:t>
            </a:r>
            <a:r>
              <a:rPr lang="en-US" altLang="zh-CN" b="0" i="0" dirty="0">
                <a:solidFill>
                  <a:srgbClr val="010409"/>
                </a:solidFill>
                <a:effectLst/>
                <a:latin typeface="苹方字体" panose="020B0300000000000000" pitchFamily="34" charset="-122"/>
                <a:ea typeface="苹方字体" panose="020B0300000000000000" pitchFamily="34" charset="-122"/>
              </a:rPr>
              <a:t>/</a:t>
            </a:r>
            <a:r>
              <a:rPr lang="zh-CN" altLang="en-US" b="0" i="0" dirty="0">
                <a:solidFill>
                  <a:srgbClr val="010409"/>
                </a:solidFill>
                <a:effectLst/>
                <a:latin typeface="苹方字体" panose="020B0300000000000000" pitchFamily="34" charset="-122"/>
                <a:ea typeface="苹方字体" panose="020B0300000000000000" pitchFamily="34" charset="-122"/>
              </a:rPr>
              <a:t>分组方案决策</a:t>
            </a:r>
            <a:endParaRPr lang="en-US" altLang="zh-CN" b="0" i="0" dirty="0">
              <a:solidFill>
                <a:srgbClr val="010409"/>
              </a:solidFill>
              <a:effectLst/>
              <a:latin typeface="苹方字体" panose="020B0300000000000000" pitchFamily="34" charset="-122"/>
              <a:ea typeface="苹方字体" panose="020B0300000000000000" pitchFamily="34" charset="-122"/>
            </a:endParaRPr>
          </a:p>
          <a:p>
            <a:pPr algn="l"/>
            <a:endParaRPr lang="zh-CN" altLang="en-US" b="0" i="0" dirty="0">
              <a:solidFill>
                <a:srgbClr val="010409"/>
              </a:solidFill>
              <a:effectLst/>
              <a:latin typeface="苹方字体" panose="020B0300000000000000" pitchFamily="34" charset="-122"/>
              <a:ea typeface="苹方字体" panose="020B0300000000000000" pitchFamily="34" charset="-122"/>
            </a:endParaRPr>
          </a:p>
          <a:p>
            <a:pPr algn="l">
              <a:buFont typeface="Arial" panose="020B0604020202020204" pitchFamily="34" charset="0"/>
              <a:buChar char="•"/>
            </a:pPr>
            <a:r>
              <a:rPr lang="en-US" altLang="zh-CN" b="0" i="0" dirty="0">
                <a:solidFill>
                  <a:srgbClr val="010409"/>
                </a:solidFill>
                <a:effectLst/>
                <a:latin typeface="苹方字体" panose="020B0300000000000000" pitchFamily="34" charset="-122"/>
                <a:ea typeface="苹方字体" panose="020B0300000000000000" pitchFamily="34" charset="-122"/>
              </a:rPr>
              <a:t>3</a:t>
            </a:r>
            <a:r>
              <a:rPr lang="zh-CN" altLang="en-US" b="0" i="0" dirty="0">
                <a:solidFill>
                  <a:srgbClr val="010409"/>
                </a:solidFill>
                <a:effectLst/>
                <a:latin typeface="苹方字体" panose="020B0300000000000000" pitchFamily="34" charset="-122"/>
                <a:ea typeface="苹方字体" panose="020B0300000000000000" pitchFamily="34" charset="-122"/>
              </a:rPr>
              <a:t>约束检查和队位分派</a:t>
            </a:r>
            <a:endParaRPr lang="en-US" altLang="zh-CN" b="0" i="0" dirty="0">
              <a:solidFill>
                <a:srgbClr val="010409"/>
              </a:solidFill>
              <a:effectLst/>
              <a:latin typeface="苹方字体" panose="020B0300000000000000" pitchFamily="34" charset="-122"/>
              <a:ea typeface="苹方字体" panose="020B0300000000000000" pitchFamily="34" charset="-122"/>
            </a:endParaRPr>
          </a:p>
          <a:p>
            <a:pPr algn="l"/>
            <a:endParaRPr lang="zh-CN" altLang="en-US" b="0" i="0" dirty="0">
              <a:solidFill>
                <a:srgbClr val="010409"/>
              </a:solidFill>
              <a:effectLst/>
              <a:latin typeface="苹方字体" panose="020B0300000000000000" pitchFamily="34" charset="-122"/>
              <a:ea typeface="苹方字体" panose="020B0300000000000000" pitchFamily="34" charset="-122"/>
            </a:endParaRPr>
          </a:p>
          <a:p>
            <a:pPr algn="l">
              <a:buFont typeface="Arial" panose="020B0604020202020204" pitchFamily="34" charset="0"/>
              <a:buChar char="•"/>
            </a:pPr>
            <a:r>
              <a:rPr lang="en-US" altLang="zh-CN" b="0" i="0" dirty="0">
                <a:solidFill>
                  <a:srgbClr val="010409"/>
                </a:solidFill>
                <a:effectLst/>
                <a:latin typeface="苹方字体" panose="020B0300000000000000" pitchFamily="34" charset="-122"/>
                <a:ea typeface="苹方字体" panose="020B0300000000000000" pitchFamily="34" charset="-122"/>
              </a:rPr>
              <a:t>4</a:t>
            </a:r>
            <a:r>
              <a:rPr lang="zh-CN" altLang="en-US" b="0" i="0" dirty="0">
                <a:solidFill>
                  <a:srgbClr val="010409"/>
                </a:solidFill>
                <a:effectLst/>
                <a:latin typeface="苹方字体" panose="020B0300000000000000" pitchFamily="34" charset="-122"/>
                <a:ea typeface="苹方字体" panose="020B0300000000000000" pitchFamily="34" charset="-122"/>
              </a:rPr>
              <a:t>低层（</a:t>
            </a:r>
            <a:r>
              <a:rPr lang="en-US" altLang="zh-CN" b="0" i="0" dirty="0">
                <a:solidFill>
                  <a:srgbClr val="010409"/>
                </a:solidFill>
                <a:effectLst/>
                <a:latin typeface="苹方字体" panose="020B0300000000000000" pitchFamily="34" charset="-122"/>
                <a:ea typeface="苹方字体" panose="020B0300000000000000" pitchFamily="34" charset="-122"/>
              </a:rPr>
              <a:t>SAC</a:t>
            </a:r>
            <a:r>
              <a:rPr lang="zh-CN" altLang="en-US" b="0" i="0" dirty="0">
                <a:solidFill>
                  <a:srgbClr val="010409"/>
                </a:solidFill>
                <a:effectLst/>
                <a:latin typeface="苹方字体" panose="020B0300000000000000" pitchFamily="34" charset="-122"/>
                <a:ea typeface="苹方字体" panose="020B0300000000000000" pitchFamily="34" charset="-122"/>
              </a:rPr>
              <a:t>等）：具体动作控制和执行</a:t>
            </a:r>
          </a:p>
        </p:txBody>
      </p:sp>
      <p:sp>
        <p:nvSpPr>
          <p:cNvPr id="32" name="矩形 4">
            <a:extLst>
              <a:ext uri="{FF2B5EF4-FFF2-40B4-BE49-F238E27FC236}">
                <a16:creationId xmlns:a16="http://schemas.microsoft.com/office/drawing/2014/main" id="{EB0321DA-A295-493E-8672-97538E7DE127}"/>
              </a:ext>
            </a:extLst>
          </p:cNvPr>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3" name="直接连接符 32">
            <a:extLst>
              <a:ext uri="{FF2B5EF4-FFF2-40B4-BE49-F238E27FC236}">
                <a16:creationId xmlns:a16="http://schemas.microsoft.com/office/drawing/2014/main" id="{45E596EA-D2BB-4449-812E-C4612C0D35A3}"/>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91936D2E-AA97-4EBE-ADB5-62F960CB1C56}"/>
              </a:ext>
            </a:extLst>
          </p:cNvPr>
          <p:cNvSpPr/>
          <p:nvPr/>
        </p:nvSpPr>
        <p:spPr>
          <a:xfrm>
            <a:off x="6611792" y="-18947"/>
            <a:ext cx="1684342"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37" name="直接连接符 36">
            <a:extLst>
              <a:ext uri="{FF2B5EF4-FFF2-40B4-BE49-F238E27FC236}">
                <a16:creationId xmlns:a16="http://schemas.microsoft.com/office/drawing/2014/main" id="{AF3E68FA-DCD6-4B29-93AC-07A89EF43426}"/>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6">
            <a:extLst>
              <a:ext uri="{FF2B5EF4-FFF2-40B4-BE49-F238E27FC236}">
                <a16:creationId xmlns:a16="http://schemas.microsoft.com/office/drawing/2014/main" id="{DFF7E5CA-A533-48D2-B0AA-CB769ED28F07}"/>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39" name="TextBox 7">
            <a:extLst>
              <a:ext uri="{FF2B5EF4-FFF2-40B4-BE49-F238E27FC236}">
                <a16:creationId xmlns:a16="http://schemas.microsoft.com/office/drawing/2014/main" id="{0DFD0A09-74DF-4BD2-8641-6C86A9F3CD68}"/>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40" name="TextBox 9">
            <a:extLst>
              <a:ext uri="{FF2B5EF4-FFF2-40B4-BE49-F238E27FC236}">
                <a16:creationId xmlns:a16="http://schemas.microsoft.com/office/drawing/2014/main" id="{DAEC004F-D9BF-4EE4-8A6B-F6A1AA82461F}"/>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研究内容和依据</a:t>
            </a:r>
          </a:p>
        </p:txBody>
      </p:sp>
      <p:sp>
        <p:nvSpPr>
          <p:cNvPr id="41" name="TextBox 10">
            <a:extLst>
              <a:ext uri="{FF2B5EF4-FFF2-40B4-BE49-F238E27FC236}">
                <a16:creationId xmlns:a16="http://schemas.microsoft.com/office/drawing/2014/main" id="{48DB3322-1D81-44C6-BFC2-E3F316E6AE31}"/>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42" name="TextBox 11">
            <a:extLst>
              <a:ext uri="{FF2B5EF4-FFF2-40B4-BE49-F238E27FC236}">
                <a16:creationId xmlns:a16="http://schemas.microsoft.com/office/drawing/2014/main" id="{65799531-88D3-483B-8FB5-83A1342514F4}"/>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43" name="直接连接符 42">
            <a:extLst>
              <a:ext uri="{FF2B5EF4-FFF2-40B4-BE49-F238E27FC236}">
                <a16:creationId xmlns:a16="http://schemas.microsoft.com/office/drawing/2014/main" id="{990C99A5-FB8D-461C-A32E-991134B2A439}"/>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D296A1A8-4CAC-49A0-909B-3CC4D6326ABF}"/>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Box 7">
            <a:extLst>
              <a:ext uri="{FF2B5EF4-FFF2-40B4-BE49-F238E27FC236}">
                <a16:creationId xmlns:a16="http://schemas.microsoft.com/office/drawing/2014/main" id="{D7A854A3-209B-4258-96AC-5D348DDFF03F}"/>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7663A2F4-CD6F-452C-BD84-82099C509E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7015" y="1929867"/>
            <a:ext cx="9097019" cy="4135565"/>
          </a:xfrm>
          <a:prstGeom prst="rect">
            <a:avLst/>
          </a:prstGeom>
        </p:spPr>
      </p:pic>
      <p:pic>
        <p:nvPicPr>
          <p:cNvPr id="12" name="图片 11" descr="沈阳建筑大学抠图"/>
          <p:cNvPicPr>
            <a:picLocks noChangeAspect="1"/>
          </p:cNvPicPr>
          <p:nvPr/>
        </p:nvPicPr>
        <p:blipFill>
          <a:blip r:embed="rId4"/>
          <a:stretch>
            <a:fillRect/>
          </a:stretch>
        </p:blipFill>
        <p:spPr>
          <a:xfrm>
            <a:off x="-53293" y="-821691"/>
            <a:ext cx="3274695" cy="2364105"/>
          </a:xfrm>
          <a:prstGeom prst="rect">
            <a:avLst/>
          </a:prstGeom>
        </p:spPr>
      </p:pic>
    </p:spTree>
    <p:extLst>
      <p:ext uri="{BB962C8B-B14F-4D97-AF65-F5344CB8AC3E}">
        <p14:creationId xmlns:p14="http://schemas.microsoft.com/office/powerpoint/2010/main" val="1445197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4">
            <a:extLst>
              <a:ext uri="{FF2B5EF4-FFF2-40B4-BE49-F238E27FC236}">
                <a16:creationId xmlns:a16="http://schemas.microsoft.com/office/drawing/2014/main" id="{7F34CB8B-9393-4154-94B3-1D2664F24955}"/>
              </a:ext>
            </a:extLst>
          </p:cNvPr>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2" name="直接连接符 31">
            <a:extLst>
              <a:ext uri="{FF2B5EF4-FFF2-40B4-BE49-F238E27FC236}">
                <a16:creationId xmlns:a16="http://schemas.microsoft.com/office/drawing/2014/main" id="{64A2D4E9-7C0B-44C5-AE86-0EBFCAE82F54}"/>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5DB848CA-3CA5-4881-9B29-AD2716CE3667}"/>
              </a:ext>
            </a:extLst>
          </p:cNvPr>
          <p:cNvSpPr/>
          <p:nvPr/>
        </p:nvSpPr>
        <p:spPr>
          <a:xfrm>
            <a:off x="6611792" y="-18947"/>
            <a:ext cx="1684342"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36" name="直接连接符 35">
            <a:extLst>
              <a:ext uri="{FF2B5EF4-FFF2-40B4-BE49-F238E27FC236}">
                <a16:creationId xmlns:a16="http://schemas.microsoft.com/office/drawing/2014/main" id="{060D3CE0-36BB-4B69-951E-4475BA1D8A55}"/>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6">
            <a:extLst>
              <a:ext uri="{FF2B5EF4-FFF2-40B4-BE49-F238E27FC236}">
                <a16:creationId xmlns:a16="http://schemas.microsoft.com/office/drawing/2014/main" id="{C1ABEBEC-4276-42A9-94EB-911BB2EEBB1D}"/>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38" name="TextBox 7">
            <a:extLst>
              <a:ext uri="{FF2B5EF4-FFF2-40B4-BE49-F238E27FC236}">
                <a16:creationId xmlns:a16="http://schemas.microsoft.com/office/drawing/2014/main" id="{39290A93-83E2-46F2-9B21-2EA207900A09}"/>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39" name="TextBox 9">
            <a:extLst>
              <a:ext uri="{FF2B5EF4-FFF2-40B4-BE49-F238E27FC236}">
                <a16:creationId xmlns:a16="http://schemas.microsoft.com/office/drawing/2014/main" id="{6EFA7346-23C9-43F9-BA8A-CFD71D0366EC}"/>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研究内容和依据</a:t>
            </a:r>
          </a:p>
        </p:txBody>
      </p:sp>
      <p:sp>
        <p:nvSpPr>
          <p:cNvPr id="40" name="TextBox 10">
            <a:extLst>
              <a:ext uri="{FF2B5EF4-FFF2-40B4-BE49-F238E27FC236}">
                <a16:creationId xmlns:a16="http://schemas.microsoft.com/office/drawing/2014/main" id="{7BC1C1EA-F274-41B5-BD05-994486BF41E2}"/>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41" name="TextBox 11">
            <a:extLst>
              <a:ext uri="{FF2B5EF4-FFF2-40B4-BE49-F238E27FC236}">
                <a16:creationId xmlns:a16="http://schemas.microsoft.com/office/drawing/2014/main" id="{10FB1DFD-9782-4AD6-AACC-C6D0DD3C66CD}"/>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42" name="直接连接符 41">
            <a:extLst>
              <a:ext uri="{FF2B5EF4-FFF2-40B4-BE49-F238E27FC236}">
                <a16:creationId xmlns:a16="http://schemas.microsoft.com/office/drawing/2014/main" id="{4973EE6C-86EE-498B-B687-53F695860D13}"/>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0DADD7EF-DE9F-48AA-A020-A0409EBD26DC}"/>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TextBox 7">
            <a:extLst>
              <a:ext uri="{FF2B5EF4-FFF2-40B4-BE49-F238E27FC236}">
                <a16:creationId xmlns:a16="http://schemas.microsoft.com/office/drawing/2014/main" id="{DA44466F-03B5-43E8-959D-C87ADFC902BC}"/>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12" name="图片 11" descr="沈阳建筑大学抠图"/>
          <p:cNvPicPr>
            <a:picLocks noChangeAspect="1"/>
          </p:cNvPicPr>
          <p:nvPr/>
        </p:nvPicPr>
        <p:blipFill>
          <a:blip r:embed="rId4"/>
          <a:stretch>
            <a:fillRect/>
          </a:stretch>
        </p:blipFill>
        <p:spPr>
          <a:xfrm>
            <a:off x="-47260" y="-804833"/>
            <a:ext cx="3274695" cy="2364105"/>
          </a:xfrm>
          <a:prstGeom prst="rect">
            <a:avLst/>
          </a:prstGeom>
        </p:spPr>
      </p:pic>
      <p:graphicFrame>
        <p:nvGraphicFramePr>
          <p:cNvPr id="7" name="对象 6">
            <a:extLst>
              <a:ext uri="{FF2B5EF4-FFF2-40B4-BE49-F238E27FC236}">
                <a16:creationId xmlns:a16="http://schemas.microsoft.com/office/drawing/2014/main" id="{EB624921-6DCD-4DB2-98C5-4AA623B4002E}"/>
              </a:ext>
            </a:extLst>
          </p:cNvPr>
          <p:cNvGraphicFramePr>
            <a:graphicFrameLocks noChangeAspect="1"/>
          </p:cNvGraphicFramePr>
          <p:nvPr>
            <p:extLst>
              <p:ext uri="{D42A27DB-BD31-4B8C-83A1-F6EECF244321}">
                <p14:modId xmlns:p14="http://schemas.microsoft.com/office/powerpoint/2010/main" val="3716545489"/>
              </p:ext>
            </p:extLst>
          </p:nvPr>
        </p:nvGraphicFramePr>
        <p:xfrm>
          <a:off x="6788522" y="3977054"/>
          <a:ext cx="914400" cy="198438"/>
        </p:xfrm>
        <a:graphic>
          <a:graphicData uri="http://schemas.openxmlformats.org/presentationml/2006/ole">
            <mc:AlternateContent xmlns:mc="http://schemas.openxmlformats.org/markup-compatibility/2006">
              <mc:Choice xmlns:v="urn:schemas-microsoft-com:vml" Requires="v">
                <p:oleObj spid="_x0000_s16384" name="Equation" r:id="rId5" imgW="914400" imgH="198720" progId="Equation.DSMT4">
                  <p:embed/>
                </p:oleObj>
              </mc:Choice>
              <mc:Fallback>
                <p:oleObj name="Equation" r:id="rId5" imgW="914400" imgH="198720" progId="Equation.DSMT4">
                  <p:embed/>
                  <p:pic>
                    <p:nvPicPr>
                      <p:cNvPr id="0" name=""/>
                      <p:cNvPicPr/>
                      <p:nvPr/>
                    </p:nvPicPr>
                    <p:blipFill>
                      <a:blip r:embed="rId6"/>
                      <a:stretch>
                        <a:fillRect/>
                      </a:stretch>
                    </p:blipFill>
                    <p:spPr>
                      <a:xfrm>
                        <a:off x="6788522" y="3977054"/>
                        <a:ext cx="914400" cy="19843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8145008D-C320-4CEB-B5E3-E3A5444285D1}"/>
              </a:ext>
            </a:extLst>
          </p:cNvPr>
          <p:cNvGraphicFramePr>
            <a:graphicFrameLocks noChangeAspect="1"/>
          </p:cNvGraphicFramePr>
          <p:nvPr>
            <p:extLst>
              <p:ext uri="{D42A27DB-BD31-4B8C-83A1-F6EECF244321}">
                <p14:modId xmlns:p14="http://schemas.microsoft.com/office/powerpoint/2010/main" val="3417356592"/>
              </p:ext>
            </p:extLst>
          </p:nvPr>
        </p:nvGraphicFramePr>
        <p:xfrm>
          <a:off x="1407544" y="1504829"/>
          <a:ext cx="8886149" cy="1015560"/>
        </p:xfrm>
        <a:graphic>
          <a:graphicData uri="http://schemas.openxmlformats.org/presentationml/2006/ole">
            <mc:AlternateContent xmlns:mc="http://schemas.openxmlformats.org/markup-compatibility/2006">
              <mc:Choice xmlns:v="urn:schemas-microsoft-com:vml" Requires="v">
                <p:oleObj spid="_x0000_s16385" name="Equation" r:id="rId7" imgW="4444920" imgH="507960" progId="Equation.DSMT4">
                  <p:embed/>
                </p:oleObj>
              </mc:Choice>
              <mc:Fallback>
                <p:oleObj name="Equation" r:id="rId7" imgW="4444920" imgH="507960" progId="Equation.DSMT4">
                  <p:embed/>
                  <p:pic>
                    <p:nvPicPr>
                      <p:cNvPr id="0" name=""/>
                      <p:cNvPicPr/>
                      <p:nvPr/>
                    </p:nvPicPr>
                    <p:blipFill>
                      <a:blip r:embed="rId8"/>
                      <a:stretch>
                        <a:fillRect/>
                      </a:stretch>
                    </p:blipFill>
                    <p:spPr>
                      <a:xfrm>
                        <a:off x="1407544" y="1504829"/>
                        <a:ext cx="8886149" cy="1015560"/>
                      </a:xfrm>
                      <a:prstGeom prst="rect">
                        <a:avLst/>
                      </a:prstGeom>
                    </p:spPr>
                  </p:pic>
                </p:oleObj>
              </mc:Fallback>
            </mc:AlternateContent>
          </a:graphicData>
        </a:graphic>
      </p:graphicFrame>
      <p:sp>
        <p:nvSpPr>
          <p:cNvPr id="26" name="文本框 25">
            <a:extLst>
              <a:ext uri="{FF2B5EF4-FFF2-40B4-BE49-F238E27FC236}">
                <a16:creationId xmlns:a16="http://schemas.microsoft.com/office/drawing/2014/main" id="{0DFC4E7B-5337-44F8-98A1-14A0AA99E7AF}"/>
              </a:ext>
            </a:extLst>
          </p:cNvPr>
          <p:cNvSpPr txBox="1"/>
          <p:nvPr/>
        </p:nvSpPr>
        <p:spPr>
          <a:xfrm>
            <a:off x="1966269" y="2708080"/>
            <a:ext cx="7600574" cy="646331"/>
          </a:xfrm>
          <a:prstGeom prst="rect">
            <a:avLst/>
          </a:prstGeom>
          <a:noFill/>
        </p:spPr>
        <p:txBody>
          <a:bodyPr wrap="square">
            <a:spAutoFit/>
          </a:bodyPr>
          <a:lstStyle/>
          <a:p>
            <a:r>
              <a:rPr lang="zh-CN" altLang="en-US" b="0" i="0" dirty="0">
                <a:solidFill>
                  <a:srgbClr val="010409"/>
                </a:solidFill>
                <a:effectLst/>
                <a:latin typeface="苹方字体" panose="020B0300000000000000" pitchFamily="34" charset="-122"/>
                <a:ea typeface="苹方字体" panose="020B0300000000000000" pitchFamily="34" charset="-122"/>
              </a:rPr>
              <a:t>只有安全门控和激励判据都为</a:t>
            </a:r>
            <a:r>
              <a:rPr lang="en-US" altLang="zh-CN" b="0" i="0" dirty="0">
                <a:solidFill>
                  <a:srgbClr val="010409"/>
                </a:solidFill>
                <a:effectLst/>
                <a:latin typeface="苹方字体" panose="020B0300000000000000" pitchFamily="34" charset="-122"/>
                <a:ea typeface="苹方字体" panose="020B0300000000000000" pitchFamily="34" charset="-122"/>
              </a:rPr>
              <a:t>1</a:t>
            </a:r>
            <a:r>
              <a:rPr lang="zh-CN" altLang="en-US" b="0" i="0" dirty="0">
                <a:solidFill>
                  <a:srgbClr val="010409"/>
                </a:solidFill>
                <a:effectLst/>
                <a:latin typeface="苹方字体" panose="020B0300000000000000" pitchFamily="34" charset="-122"/>
                <a:ea typeface="苹方字体" panose="020B0300000000000000" pitchFamily="34" charset="-122"/>
              </a:rPr>
              <a:t>时（即都满足条件），       才为</a:t>
            </a:r>
            <a:r>
              <a:rPr lang="en-US" altLang="zh-CN" b="0" i="0" dirty="0">
                <a:solidFill>
                  <a:srgbClr val="010409"/>
                </a:solidFill>
                <a:effectLst/>
                <a:latin typeface="苹方字体" panose="020B0300000000000000" pitchFamily="34" charset="-122"/>
                <a:ea typeface="苹方字体" panose="020B0300000000000000" pitchFamily="34" charset="-122"/>
              </a:rPr>
              <a:t>1</a:t>
            </a:r>
            <a:r>
              <a:rPr lang="zh-CN" altLang="en-US" b="0" i="0" dirty="0">
                <a:solidFill>
                  <a:srgbClr val="010409"/>
                </a:solidFill>
                <a:effectLst/>
                <a:latin typeface="苹方字体" panose="020B0300000000000000" pitchFamily="34" charset="-122"/>
                <a:ea typeface="苹方字体" panose="020B0300000000000000" pitchFamily="34" charset="-122"/>
              </a:rPr>
              <a:t>，车队</a:t>
            </a:r>
            <a:r>
              <a:rPr lang="en-US" altLang="zh-CN" b="0" i="0" dirty="0">
                <a:solidFill>
                  <a:srgbClr val="010409"/>
                </a:solidFill>
                <a:effectLst/>
                <a:latin typeface="苹方字体" panose="020B0300000000000000" pitchFamily="34" charset="-122"/>
                <a:ea typeface="苹方字体" panose="020B0300000000000000" pitchFamily="34" charset="-122"/>
              </a:rPr>
              <a:t>/</a:t>
            </a:r>
            <a:r>
              <a:rPr lang="zh-CN" altLang="en-US" b="0" i="0" dirty="0">
                <a:solidFill>
                  <a:srgbClr val="010409"/>
                </a:solidFill>
                <a:effectLst/>
                <a:latin typeface="苹方字体" panose="020B0300000000000000" pitchFamily="34" charset="-122"/>
                <a:ea typeface="苹方字体" panose="020B0300000000000000" pitchFamily="34" charset="-122"/>
              </a:rPr>
              <a:t>编队中的目标车辆才执行变道。</a:t>
            </a:r>
            <a:endParaRPr lang="zh-CN" altLang="en-US" dirty="0">
              <a:latin typeface="苹方字体" panose="020B0300000000000000" pitchFamily="34" charset="-122"/>
              <a:ea typeface="苹方字体" panose="020B0300000000000000" pitchFamily="34" charset="-122"/>
            </a:endParaRPr>
          </a:p>
        </p:txBody>
      </p:sp>
      <p:graphicFrame>
        <p:nvGraphicFramePr>
          <p:cNvPr id="10" name="对象 9">
            <a:extLst>
              <a:ext uri="{FF2B5EF4-FFF2-40B4-BE49-F238E27FC236}">
                <a16:creationId xmlns:a16="http://schemas.microsoft.com/office/drawing/2014/main" id="{F0F098B9-273C-4D20-BB6A-72904790D9DC}"/>
              </a:ext>
            </a:extLst>
          </p:cNvPr>
          <p:cNvGraphicFramePr>
            <a:graphicFrameLocks noChangeAspect="1"/>
          </p:cNvGraphicFramePr>
          <p:nvPr>
            <p:extLst>
              <p:ext uri="{D42A27DB-BD31-4B8C-83A1-F6EECF244321}">
                <p14:modId xmlns:p14="http://schemas.microsoft.com/office/powerpoint/2010/main" val="2240099285"/>
              </p:ext>
            </p:extLst>
          </p:nvPr>
        </p:nvGraphicFramePr>
        <p:xfrm>
          <a:off x="6788522" y="3977054"/>
          <a:ext cx="914400" cy="198438"/>
        </p:xfrm>
        <a:graphic>
          <a:graphicData uri="http://schemas.openxmlformats.org/presentationml/2006/ole">
            <mc:AlternateContent xmlns:mc="http://schemas.openxmlformats.org/markup-compatibility/2006">
              <mc:Choice xmlns:v="urn:schemas-microsoft-com:vml" Requires="v">
                <p:oleObj spid="_x0000_s16386" name="Equation" r:id="rId9" imgW="914400" imgH="198720" progId="Equation.DSMT4">
                  <p:embed/>
                </p:oleObj>
              </mc:Choice>
              <mc:Fallback>
                <p:oleObj name="Equation" r:id="rId9" imgW="914400" imgH="198720" progId="Equation.DSMT4">
                  <p:embed/>
                  <p:pic>
                    <p:nvPicPr>
                      <p:cNvPr id="0" name=""/>
                      <p:cNvPicPr/>
                      <p:nvPr/>
                    </p:nvPicPr>
                    <p:blipFill>
                      <a:blip r:embed="rId6"/>
                      <a:stretch>
                        <a:fillRect/>
                      </a:stretch>
                    </p:blipFill>
                    <p:spPr>
                      <a:xfrm>
                        <a:off x="6788522" y="3977054"/>
                        <a:ext cx="914400" cy="198438"/>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7889FACF-91F8-4B4B-B8B2-E316EE9A0319}"/>
              </a:ext>
            </a:extLst>
          </p:cNvPr>
          <p:cNvGraphicFramePr>
            <a:graphicFrameLocks noChangeAspect="1"/>
          </p:cNvGraphicFramePr>
          <p:nvPr>
            <p:extLst>
              <p:ext uri="{D42A27DB-BD31-4B8C-83A1-F6EECF244321}">
                <p14:modId xmlns:p14="http://schemas.microsoft.com/office/powerpoint/2010/main" val="4275030044"/>
              </p:ext>
            </p:extLst>
          </p:nvPr>
        </p:nvGraphicFramePr>
        <p:xfrm>
          <a:off x="6788522" y="3977054"/>
          <a:ext cx="914400" cy="198438"/>
        </p:xfrm>
        <a:graphic>
          <a:graphicData uri="http://schemas.openxmlformats.org/presentationml/2006/ole">
            <mc:AlternateContent xmlns:mc="http://schemas.openxmlformats.org/markup-compatibility/2006">
              <mc:Choice xmlns:v="urn:schemas-microsoft-com:vml" Requires="v">
                <p:oleObj spid="_x0000_s16387" name="Equation" r:id="rId10" imgW="914400" imgH="198720" progId="Equation.DSMT4">
                  <p:embed/>
                </p:oleObj>
              </mc:Choice>
              <mc:Fallback>
                <p:oleObj name="Equation" r:id="rId10" imgW="914400" imgH="198720" progId="Equation.DSMT4">
                  <p:embed/>
                  <p:pic>
                    <p:nvPicPr>
                      <p:cNvPr id="0" name=""/>
                      <p:cNvPicPr/>
                      <p:nvPr/>
                    </p:nvPicPr>
                    <p:blipFill>
                      <a:blip r:embed="rId6"/>
                      <a:stretch>
                        <a:fillRect/>
                      </a:stretch>
                    </p:blipFill>
                    <p:spPr>
                      <a:xfrm>
                        <a:off x="6788522" y="3977054"/>
                        <a:ext cx="914400" cy="198438"/>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90D87FA0-9ACC-4160-BF8A-2118C01D199B}"/>
              </a:ext>
            </a:extLst>
          </p:cNvPr>
          <p:cNvGraphicFramePr>
            <a:graphicFrameLocks noChangeAspect="1"/>
          </p:cNvGraphicFramePr>
          <p:nvPr>
            <p:extLst>
              <p:ext uri="{D42A27DB-BD31-4B8C-83A1-F6EECF244321}">
                <p14:modId xmlns:p14="http://schemas.microsoft.com/office/powerpoint/2010/main" val="20265308"/>
              </p:ext>
            </p:extLst>
          </p:nvPr>
        </p:nvGraphicFramePr>
        <p:xfrm>
          <a:off x="6788522" y="3977054"/>
          <a:ext cx="914400" cy="198438"/>
        </p:xfrm>
        <a:graphic>
          <a:graphicData uri="http://schemas.openxmlformats.org/presentationml/2006/ole">
            <mc:AlternateContent xmlns:mc="http://schemas.openxmlformats.org/markup-compatibility/2006">
              <mc:Choice xmlns:v="urn:schemas-microsoft-com:vml" Requires="v">
                <p:oleObj spid="_x0000_s16388" name="Equation" r:id="rId11" imgW="914400" imgH="198720" progId="Equation.DSMT4">
                  <p:embed/>
                </p:oleObj>
              </mc:Choice>
              <mc:Fallback>
                <p:oleObj name="Equation" r:id="rId11" imgW="914400" imgH="198720" progId="Equation.DSMT4">
                  <p:embed/>
                  <p:pic>
                    <p:nvPicPr>
                      <p:cNvPr id="0" name=""/>
                      <p:cNvPicPr/>
                      <p:nvPr/>
                    </p:nvPicPr>
                    <p:blipFill>
                      <a:blip r:embed="rId6"/>
                      <a:stretch>
                        <a:fillRect/>
                      </a:stretch>
                    </p:blipFill>
                    <p:spPr>
                      <a:xfrm>
                        <a:off x="6788522" y="3977054"/>
                        <a:ext cx="914400" cy="198438"/>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D8BC8C7D-4442-41B2-A950-E6020845F1C2}"/>
              </a:ext>
            </a:extLst>
          </p:cNvPr>
          <p:cNvGraphicFramePr>
            <a:graphicFrameLocks noChangeAspect="1"/>
          </p:cNvGraphicFramePr>
          <p:nvPr>
            <p:extLst>
              <p:ext uri="{D42A27DB-BD31-4B8C-83A1-F6EECF244321}">
                <p14:modId xmlns:p14="http://schemas.microsoft.com/office/powerpoint/2010/main" val="1680517729"/>
              </p:ext>
            </p:extLst>
          </p:nvPr>
        </p:nvGraphicFramePr>
        <p:xfrm>
          <a:off x="1588507" y="3977054"/>
          <a:ext cx="3660501" cy="519180"/>
        </p:xfrm>
        <a:graphic>
          <a:graphicData uri="http://schemas.openxmlformats.org/presentationml/2006/ole">
            <mc:AlternateContent xmlns:mc="http://schemas.openxmlformats.org/markup-compatibility/2006">
              <mc:Choice xmlns:v="urn:schemas-microsoft-com:vml" Requires="v">
                <p:oleObj spid="_x0000_s16389" name="Equation" r:id="rId12" imgW="1790640" imgH="253800" progId="Equation.DSMT4">
                  <p:embed/>
                </p:oleObj>
              </mc:Choice>
              <mc:Fallback>
                <p:oleObj name="Equation" r:id="rId12" imgW="1790640" imgH="253800" progId="Equation.DSMT4">
                  <p:embed/>
                  <p:pic>
                    <p:nvPicPr>
                      <p:cNvPr id="0" name=""/>
                      <p:cNvPicPr/>
                      <p:nvPr/>
                    </p:nvPicPr>
                    <p:blipFill>
                      <a:blip r:embed="rId13"/>
                      <a:stretch>
                        <a:fillRect/>
                      </a:stretch>
                    </p:blipFill>
                    <p:spPr>
                      <a:xfrm>
                        <a:off x="1588507" y="3977054"/>
                        <a:ext cx="3660501" cy="519180"/>
                      </a:xfrm>
                      <a:prstGeom prst="rect">
                        <a:avLst/>
                      </a:prstGeom>
                    </p:spPr>
                  </p:pic>
                </p:oleObj>
              </mc:Fallback>
            </mc:AlternateContent>
          </a:graphicData>
        </a:graphic>
      </p:graphicFrame>
      <p:sp>
        <p:nvSpPr>
          <p:cNvPr id="25" name="文本框 24">
            <a:extLst>
              <a:ext uri="{FF2B5EF4-FFF2-40B4-BE49-F238E27FC236}">
                <a16:creationId xmlns:a16="http://schemas.microsoft.com/office/drawing/2014/main" id="{DD2E0B6F-6C56-408D-8A8A-43AAE6294835}"/>
              </a:ext>
            </a:extLst>
          </p:cNvPr>
          <p:cNvSpPr txBox="1"/>
          <p:nvPr/>
        </p:nvSpPr>
        <p:spPr>
          <a:xfrm>
            <a:off x="5187155" y="3977054"/>
            <a:ext cx="5773212" cy="646331"/>
          </a:xfrm>
          <a:prstGeom prst="rect">
            <a:avLst/>
          </a:prstGeom>
          <a:noFill/>
        </p:spPr>
        <p:txBody>
          <a:bodyPr wrap="square">
            <a:spAutoFit/>
          </a:bodyPr>
          <a:lstStyle/>
          <a:p>
            <a:r>
              <a:rPr lang="zh-CN" altLang="en-US" b="0" i="0" dirty="0">
                <a:solidFill>
                  <a:srgbClr val="010409"/>
                </a:solidFill>
                <a:effectLst/>
                <a:latin typeface="苹方字体" panose="020B0300000000000000" pitchFamily="34" charset="-122"/>
                <a:ea typeface="苹方字体" panose="020B0300000000000000" pitchFamily="34" charset="-122"/>
              </a:rPr>
              <a:t>这是编队变道的</a:t>
            </a:r>
            <a:r>
              <a:rPr lang="zh-CN" altLang="en-US" b="1" i="0" dirty="0">
                <a:solidFill>
                  <a:srgbClr val="FF0000"/>
                </a:solidFill>
                <a:effectLst/>
                <a:latin typeface="苹方字体" panose="020B0300000000000000" pitchFamily="34" charset="-122"/>
                <a:ea typeface="苹方字体" panose="020B0300000000000000" pitchFamily="34" charset="-122"/>
              </a:rPr>
              <a:t>安全门控</a:t>
            </a:r>
            <a:r>
              <a:rPr lang="zh-CN" altLang="en-US" b="0" i="0" dirty="0">
                <a:solidFill>
                  <a:srgbClr val="010409"/>
                </a:solidFill>
                <a:effectLst/>
                <a:latin typeface="苹方字体" panose="020B0300000000000000" pitchFamily="34" charset="-122"/>
                <a:ea typeface="苹方字体" panose="020B0300000000000000" pitchFamily="34" charset="-122"/>
              </a:rPr>
              <a:t>，只有满足安全约束车辆才允许考虑变道，防止事故风险。</a:t>
            </a:r>
            <a:endParaRPr lang="zh-CN" altLang="en-US" dirty="0">
              <a:latin typeface="苹方字体" panose="020B0300000000000000" pitchFamily="34" charset="-122"/>
              <a:ea typeface="苹方字体" panose="020B0300000000000000" pitchFamily="34" charset="-122"/>
            </a:endParaRPr>
          </a:p>
        </p:txBody>
      </p:sp>
      <p:graphicFrame>
        <p:nvGraphicFramePr>
          <p:cNvPr id="6" name="对象 5">
            <a:extLst>
              <a:ext uri="{FF2B5EF4-FFF2-40B4-BE49-F238E27FC236}">
                <a16:creationId xmlns:a16="http://schemas.microsoft.com/office/drawing/2014/main" id="{9C0CA1DE-88DE-4336-84D4-21C584333856}"/>
              </a:ext>
            </a:extLst>
          </p:cNvPr>
          <p:cNvGraphicFramePr>
            <a:graphicFrameLocks noChangeAspect="1"/>
          </p:cNvGraphicFramePr>
          <p:nvPr>
            <p:extLst>
              <p:ext uri="{D42A27DB-BD31-4B8C-83A1-F6EECF244321}">
                <p14:modId xmlns:p14="http://schemas.microsoft.com/office/powerpoint/2010/main" val="3579460536"/>
              </p:ext>
            </p:extLst>
          </p:nvPr>
        </p:nvGraphicFramePr>
        <p:xfrm>
          <a:off x="1588508" y="5496292"/>
          <a:ext cx="3660500" cy="470942"/>
        </p:xfrm>
        <a:graphic>
          <a:graphicData uri="http://schemas.openxmlformats.org/presentationml/2006/ole">
            <mc:AlternateContent xmlns:mc="http://schemas.openxmlformats.org/markup-compatibility/2006">
              <mc:Choice xmlns:v="urn:schemas-microsoft-com:vml" Requires="v">
                <p:oleObj spid="_x0000_s16390" name="Equation" r:id="rId14" imgW="2171520" imgH="279360" progId="Equation.DSMT4">
                  <p:embed/>
                </p:oleObj>
              </mc:Choice>
              <mc:Fallback>
                <p:oleObj name="Equation" r:id="rId14" imgW="2171520" imgH="279360" progId="Equation.DSMT4">
                  <p:embed/>
                  <p:pic>
                    <p:nvPicPr>
                      <p:cNvPr id="0" name=""/>
                      <p:cNvPicPr/>
                      <p:nvPr/>
                    </p:nvPicPr>
                    <p:blipFill>
                      <a:blip r:embed="rId15"/>
                      <a:stretch>
                        <a:fillRect/>
                      </a:stretch>
                    </p:blipFill>
                    <p:spPr>
                      <a:xfrm>
                        <a:off x="1588508" y="5496292"/>
                        <a:ext cx="3660500" cy="470942"/>
                      </a:xfrm>
                      <a:prstGeom prst="rect">
                        <a:avLst/>
                      </a:prstGeom>
                    </p:spPr>
                  </p:pic>
                </p:oleObj>
              </mc:Fallback>
            </mc:AlternateContent>
          </a:graphicData>
        </a:graphic>
      </p:graphicFrame>
      <p:sp>
        <p:nvSpPr>
          <p:cNvPr id="28" name="文本框 27">
            <a:extLst>
              <a:ext uri="{FF2B5EF4-FFF2-40B4-BE49-F238E27FC236}">
                <a16:creationId xmlns:a16="http://schemas.microsoft.com/office/drawing/2014/main" id="{0B666202-8A11-42B8-A832-CDF1138EB1F0}"/>
              </a:ext>
            </a:extLst>
          </p:cNvPr>
          <p:cNvSpPr txBox="1"/>
          <p:nvPr/>
        </p:nvSpPr>
        <p:spPr>
          <a:xfrm>
            <a:off x="5187155" y="5399038"/>
            <a:ext cx="5679946" cy="646331"/>
          </a:xfrm>
          <a:prstGeom prst="rect">
            <a:avLst/>
          </a:prstGeom>
          <a:noFill/>
        </p:spPr>
        <p:txBody>
          <a:bodyPr wrap="square">
            <a:spAutoFit/>
          </a:bodyPr>
          <a:lstStyle/>
          <a:p>
            <a:r>
              <a:rPr lang="zh-CN" altLang="en-US" b="0" i="0" dirty="0">
                <a:solidFill>
                  <a:srgbClr val="010409"/>
                </a:solidFill>
                <a:effectLst/>
                <a:latin typeface="苹方字体" panose="020B0300000000000000" pitchFamily="34" charset="-122"/>
                <a:ea typeface="苹方字体" panose="020B0300000000000000" pitchFamily="34" charset="-122"/>
              </a:rPr>
              <a:t>这是编队变道的</a:t>
            </a:r>
            <a:r>
              <a:rPr lang="zh-CN" altLang="en-US" b="1" i="0" dirty="0">
                <a:solidFill>
                  <a:srgbClr val="FF0000"/>
                </a:solidFill>
                <a:effectLst/>
                <a:latin typeface="苹方字体" panose="020B0300000000000000" pitchFamily="34" charset="-122"/>
                <a:ea typeface="苹方字体" panose="020B0300000000000000" pitchFamily="34" charset="-122"/>
              </a:rPr>
              <a:t>激励和收益判据</a:t>
            </a:r>
            <a:r>
              <a:rPr lang="zh-CN" altLang="en-US" b="0" i="0" dirty="0">
                <a:solidFill>
                  <a:srgbClr val="010409"/>
                </a:solidFill>
                <a:effectLst/>
                <a:latin typeface="苹方字体" panose="020B0300000000000000" pitchFamily="34" charset="-122"/>
                <a:ea typeface="苹方字体" panose="020B0300000000000000" pitchFamily="34" charset="-122"/>
              </a:rPr>
              <a:t>，只有当整体收益大于成本和阈值时，变道才被认为是有益的决策。</a:t>
            </a:r>
            <a:endParaRPr lang="zh-CN" altLang="en-US" dirty="0">
              <a:latin typeface="苹方字体" panose="020B0300000000000000" pitchFamily="34" charset="-122"/>
              <a:ea typeface="苹方字体" panose="020B0300000000000000" pitchFamily="34" charset="-122"/>
            </a:endParaRPr>
          </a:p>
        </p:txBody>
      </p:sp>
      <p:graphicFrame>
        <p:nvGraphicFramePr>
          <p:cNvPr id="13" name="对象 12">
            <a:extLst>
              <a:ext uri="{FF2B5EF4-FFF2-40B4-BE49-F238E27FC236}">
                <a16:creationId xmlns:a16="http://schemas.microsoft.com/office/drawing/2014/main" id="{BD8EC279-0851-44B5-884A-DC846EE1AAE8}"/>
              </a:ext>
            </a:extLst>
          </p:cNvPr>
          <p:cNvGraphicFramePr>
            <a:graphicFrameLocks noChangeAspect="1"/>
          </p:cNvGraphicFramePr>
          <p:nvPr>
            <p:extLst>
              <p:ext uri="{D42A27DB-BD31-4B8C-83A1-F6EECF244321}">
                <p14:modId xmlns:p14="http://schemas.microsoft.com/office/powerpoint/2010/main" val="3875084864"/>
              </p:ext>
            </p:extLst>
          </p:nvPr>
        </p:nvGraphicFramePr>
        <p:xfrm>
          <a:off x="7245838" y="2708080"/>
          <a:ext cx="588108" cy="378069"/>
        </p:xfrm>
        <a:graphic>
          <a:graphicData uri="http://schemas.openxmlformats.org/presentationml/2006/ole">
            <mc:AlternateContent xmlns:mc="http://schemas.openxmlformats.org/markup-compatibility/2006">
              <mc:Choice xmlns:v="urn:schemas-microsoft-com:vml" Requires="v">
                <p:oleObj spid="_x0000_s16391" name="Equation" r:id="rId16" imgW="355320" imgH="228600" progId="Equation.DSMT4">
                  <p:embed/>
                </p:oleObj>
              </mc:Choice>
              <mc:Fallback>
                <p:oleObj name="Equation" r:id="rId16" imgW="355320" imgH="228600" progId="Equation.DSMT4">
                  <p:embed/>
                  <p:pic>
                    <p:nvPicPr>
                      <p:cNvPr id="0" name=""/>
                      <p:cNvPicPr/>
                      <p:nvPr/>
                    </p:nvPicPr>
                    <p:blipFill>
                      <a:blip r:embed="rId17"/>
                      <a:stretch>
                        <a:fillRect/>
                      </a:stretch>
                    </p:blipFill>
                    <p:spPr>
                      <a:xfrm>
                        <a:off x="7245838" y="2708080"/>
                        <a:ext cx="588108" cy="378069"/>
                      </a:xfrm>
                      <a:prstGeom prst="rect">
                        <a:avLst/>
                      </a:prstGeom>
                    </p:spPr>
                  </p:pic>
                </p:oleObj>
              </mc:Fallback>
            </mc:AlternateContent>
          </a:graphicData>
        </a:graphic>
      </p:graphicFrame>
      <p:sp>
        <p:nvSpPr>
          <p:cNvPr id="14" name="左大括号 13">
            <a:extLst>
              <a:ext uri="{FF2B5EF4-FFF2-40B4-BE49-F238E27FC236}">
                <a16:creationId xmlns:a16="http://schemas.microsoft.com/office/drawing/2014/main" id="{E5B65616-B14D-4E12-99BB-1907BA0C1D14}"/>
              </a:ext>
            </a:extLst>
          </p:cNvPr>
          <p:cNvSpPr/>
          <p:nvPr/>
        </p:nvSpPr>
        <p:spPr>
          <a:xfrm>
            <a:off x="1090246" y="4175491"/>
            <a:ext cx="291008" cy="1636223"/>
          </a:xfrm>
          <a:prstGeom prst="leftBrace">
            <a:avLst/>
          </a:prstGeom>
          <a:noFill/>
          <a:ln>
            <a:solidFill>
              <a:srgbClr val="236B88"/>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5" name="对话气泡: 圆角矩形 14">
            <a:extLst>
              <a:ext uri="{FF2B5EF4-FFF2-40B4-BE49-F238E27FC236}">
                <a16:creationId xmlns:a16="http://schemas.microsoft.com/office/drawing/2014/main" id="{09246294-CD50-4506-8293-948B6B70BB11}"/>
              </a:ext>
            </a:extLst>
          </p:cNvPr>
          <p:cNvSpPr/>
          <p:nvPr/>
        </p:nvSpPr>
        <p:spPr>
          <a:xfrm>
            <a:off x="1090246" y="1173655"/>
            <a:ext cx="9776855" cy="2330218"/>
          </a:xfrm>
          <a:prstGeom prst="wedgeRoundRectCallout">
            <a:avLst>
              <a:gd name="adj1" fmla="val -44978"/>
              <a:gd name="adj2" fmla="val -46502"/>
              <a:gd name="adj3" fmla="val 16667"/>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3.1 </a:t>
            </a:r>
            <a:r>
              <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研究</a:t>
            </a:r>
            <a:r>
              <a:rPr lang="zh-CN" altLang="en-US" sz="1865" b="1" dirty="0">
                <a:solidFill>
                  <a:prstClr val="black"/>
                </a:solidFill>
                <a:latin typeface="微软雅黑" panose="020B0503020204020204" pitchFamily="34" charset="-122"/>
                <a:ea typeface="微软雅黑" panose="020B0503020204020204" pitchFamily="34" charset="-122"/>
              </a:rPr>
              <a:t>依据</a:t>
            </a:r>
            <a:endParaRPr kumimoji="0" lang="zh-CN" altLang="en-US" sz="1865"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矩形 4">
            <a:extLst>
              <a:ext uri="{FF2B5EF4-FFF2-40B4-BE49-F238E27FC236}">
                <a16:creationId xmlns:a16="http://schemas.microsoft.com/office/drawing/2014/main" id="{EB0321DA-A295-493E-8672-97538E7DE127}"/>
              </a:ext>
            </a:extLst>
          </p:cNvPr>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3" name="直接连接符 32">
            <a:extLst>
              <a:ext uri="{FF2B5EF4-FFF2-40B4-BE49-F238E27FC236}">
                <a16:creationId xmlns:a16="http://schemas.microsoft.com/office/drawing/2014/main" id="{45E596EA-D2BB-4449-812E-C4612C0D35A3}"/>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91936D2E-AA97-4EBE-ADB5-62F960CB1C56}"/>
              </a:ext>
            </a:extLst>
          </p:cNvPr>
          <p:cNvSpPr/>
          <p:nvPr/>
        </p:nvSpPr>
        <p:spPr>
          <a:xfrm>
            <a:off x="6611792" y="-18947"/>
            <a:ext cx="1684342"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37" name="直接连接符 36">
            <a:extLst>
              <a:ext uri="{FF2B5EF4-FFF2-40B4-BE49-F238E27FC236}">
                <a16:creationId xmlns:a16="http://schemas.microsoft.com/office/drawing/2014/main" id="{AF3E68FA-DCD6-4B29-93AC-07A89EF43426}"/>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6">
            <a:extLst>
              <a:ext uri="{FF2B5EF4-FFF2-40B4-BE49-F238E27FC236}">
                <a16:creationId xmlns:a16="http://schemas.microsoft.com/office/drawing/2014/main" id="{DFF7E5CA-A533-48D2-B0AA-CB769ED28F07}"/>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39" name="TextBox 7">
            <a:extLst>
              <a:ext uri="{FF2B5EF4-FFF2-40B4-BE49-F238E27FC236}">
                <a16:creationId xmlns:a16="http://schemas.microsoft.com/office/drawing/2014/main" id="{0DFD0A09-74DF-4BD2-8641-6C86A9F3CD68}"/>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40" name="TextBox 9">
            <a:extLst>
              <a:ext uri="{FF2B5EF4-FFF2-40B4-BE49-F238E27FC236}">
                <a16:creationId xmlns:a16="http://schemas.microsoft.com/office/drawing/2014/main" id="{DAEC004F-D9BF-4EE4-8A6B-F6A1AA82461F}"/>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研究内容和依据</a:t>
            </a:r>
          </a:p>
        </p:txBody>
      </p:sp>
      <p:sp>
        <p:nvSpPr>
          <p:cNvPr id="41" name="TextBox 10">
            <a:extLst>
              <a:ext uri="{FF2B5EF4-FFF2-40B4-BE49-F238E27FC236}">
                <a16:creationId xmlns:a16="http://schemas.microsoft.com/office/drawing/2014/main" id="{48DB3322-1D81-44C6-BFC2-E3F316E6AE31}"/>
              </a:ext>
            </a:extLst>
          </p:cNvPr>
          <p:cNvSpPr txBox="1"/>
          <p:nvPr/>
        </p:nvSpPr>
        <p:spPr>
          <a:xfrm>
            <a:off x="8299690" y="225501"/>
            <a:ext cx="1048157"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创新点</a:t>
            </a:r>
          </a:p>
        </p:txBody>
      </p:sp>
      <p:sp>
        <p:nvSpPr>
          <p:cNvPr id="42" name="TextBox 11">
            <a:extLst>
              <a:ext uri="{FF2B5EF4-FFF2-40B4-BE49-F238E27FC236}">
                <a16:creationId xmlns:a16="http://schemas.microsoft.com/office/drawing/2014/main" id="{65799531-88D3-483B-8FB5-83A1342514F4}"/>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43" name="直接连接符 42">
            <a:extLst>
              <a:ext uri="{FF2B5EF4-FFF2-40B4-BE49-F238E27FC236}">
                <a16:creationId xmlns:a16="http://schemas.microsoft.com/office/drawing/2014/main" id="{990C99A5-FB8D-461C-A32E-991134B2A439}"/>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D296A1A8-4CAC-49A0-909B-3CC4D6326ABF}"/>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Box 7">
            <a:extLst>
              <a:ext uri="{FF2B5EF4-FFF2-40B4-BE49-F238E27FC236}">
                <a16:creationId xmlns:a16="http://schemas.microsoft.com/office/drawing/2014/main" id="{D7A854A3-209B-4258-96AC-5D348DDFF03F}"/>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12" name="图片 11" descr="沈阳建筑大学抠图"/>
          <p:cNvPicPr>
            <a:picLocks noChangeAspect="1"/>
          </p:cNvPicPr>
          <p:nvPr/>
        </p:nvPicPr>
        <p:blipFill>
          <a:blip r:embed="rId3"/>
          <a:stretch>
            <a:fillRect/>
          </a:stretch>
        </p:blipFill>
        <p:spPr>
          <a:xfrm>
            <a:off x="-53293" y="-821691"/>
            <a:ext cx="3274695" cy="2364105"/>
          </a:xfrm>
          <a:prstGeom prst="rect">
            <a:avLst/>
          </a:prstGeom>
        </p:spPr>
      </p:pic>
      <p:pic>
        <p:nvPicPr>
          <p:cNvPr id="3" name="图片 2">
            <a:extLst>
              <a:ext uri="{FF2B5EF4-FFF2-40B4-BE49-F238E27FC236}">
                <a16:creationId xmlns:a16="http://schemas.microsoft.com/office/drawing/2014/main" id="{3F60033A-0172-4DEB-9D11-44C616FB80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920223"/>
            <a:ext cx="9170377" cy="4500440"/>
          </a:xfrm>
          <a:prstGeom prst="rect">
            <a:avLst/>
          </a:prstGeom>
        </p:spPr>
      </p:pic>
      <p:sp>
        <p:nvSpPr>
          <p:cNvPr id="24" name="文本框 23">
            <a:extLst>
              <a:ext uri="{FF2B5EF4-FFF2-40B4-BE49-F238E27FC236}">
                <a16:creationId xmlns:a16="http://schemas.microsoft.com/office/drawing/2014/main" id="{79274962-A635-4492-8F49-C6C38C64D9E7}"/>
              </a:ext>
            </a:extLst>
          </p:cNvPr>
          <p:cNvSpPr txBox="1"/>
          <p:nvPr/>
        </p:nvSpPr>
        <p:spPr>
          <a:xfrm>
            <a:off x="7819700" y="3552694"/>
            <a:ext cx="2255303" cy="1711944"/>
          </a:xfrm>
          <a:prstGeom prst="rect">
            <a:avLst/>
          </a:prstGeom>
          <a:noFill/>
        </p:spPr>
        <p:txBody>
          <a:bodyPr wrap="square">
            <a:spAutoFit/>
          </a:bodyPr>
          <a:lstStyle/>
          <a:p>
            <a:pPr algn="l">
              <a:lnSpc>
                <a:spcPct val="150000"/>
              </a:lnSpc>
              <a:buFont typeface="Arial" panose="020B0604020202020204" pitchFamily="34" charset="0"/>
              <a:buChar char="•"/>
            </a:pPr>
            <a:r>
              <a:rPr lang="zh-CN" altLang="en-US" b="1" i="0" dirty="0">
                <a:solidFill>
                  <a:srgbClr val="010409"/>
                </a:solidFill>
                <a:effectLst/>
                <a:latin typeface="苹方字体" panose="020B0300000000000000" pitchFamily="34" charset="-122"/>
                <a:ea typeface="苹方字体" panose="020B0300000000000000" pitchFamily="34" charset="-122"/>
              </a:rPr>
              <a:t>收敛速度快</a:t>
            </a:r>
            <a:endParaRPr lang="en-US" altLang="zh-CN" b="0" i="0" dirty="0">
              <a:solidFill>
                <a:srgbClr val="010409"/>
              </a:solidFill>
              <a:effectLst/>
              <a:latin typeface="苹方字体" panose="020B0300000000000000" pitchFamily="34" charset="-122"/>
              <a:ea typeface="苹方字体" panose="020B0300000000000000" pitchFamily="34" charset="-122"/>
            </a:endParaRPr>
          </a:p>
          <a:p>
            <a:pPr algn="l">
              <a:lnSpc>
                <a:spcPct val="150000"/>
              </a:lnSpc>
              <a:buFont typeface="Arial" panose="020B0604020202020204" pitchFamily="34" charset="0"/>
              <a:buChar char="•"/>
            </a:pPr>
            <a:r>
              <a:rPr lang="zh-CN" altLang="en-US" b="1" i="0" dirty="0">
                <a:solidFill>
                  <a:srgbClr val="010409"/>
                </a:solidFill>
                <a:effectLst/>
                <a:latin typeface="苹方字体" panose="020B0300000000000000" pitchFamily="34" charset="-122"/>
                <a:ea typeface="苹方字体" panose="020B0300000000000000" pitchFamily="34" charset="-122"/>
              </a:rPr>
              <a:t>平均奖励高</a:t>
            </a:r>
            <a:endParaRPr lang="en-US" altLang="zh-CN" b="0" i="0" dirty="0">
              <a:solidFill>
                <a:srgbClr val="010409"/>
              </a:solidFill>
              <a:effectLst/>
              <a:latin typeface="苹方字体" panose="020B0300000000000000" pitchFamily="34" charset="-122"/>
              <a:ea typeface="苹方字体" panose="020B0300000000000000" pitchFamily="34" charset="-122"/>
            </a:endParaRPr>
          </a:p>
          <a:p>
            <a:pPr algn="l">
              <a:lnSpc>
                <a:spcPct val="150000"/>
              </a:lnSpc>
              <a:buFont typeface="Arial" panose="020B0604020202020204" pitchFamily="34" charset="0"/>
              <a:buChar char="•"/>
            </a:pPr>
            <a:r>
              <a:rPr lang="zh-CN" altLang="en-US" b="1" i="0" dirty="0">
                <a:solidFill>
                  <a:srgbClr val="010409"/>
                </a:solidFill>
                <a:effectLst/>
                <a:latin typeface="苹方字体" panose="020B0300000000000000" pitchFamily="34" charset="-122"/>
                <a:ea typeface="苹方字体" panose="020B0300000000000000" pitchFamily="34" charset="-122"/>
              </a:rPr>
              <a:t>算法鲁棒性强</a:t>
            </a:r>
            <a:endParaRPr lang="zh-CN" altLang="en-US" b="0" i="0" dirty="0">
              <a:solidFill>
                <a:srgbClr val="010409"/>
              </a:solidFill>
              <a:effectLst/>
              <a:latin typeface="苹方字体" panose="020B0300000000000000" pitchFamily="34" charset="-122"/>
              <a:ea typeface="苹方字体" panose="020B0300000000000000" pitchFamily="34" charset="-122"/>
            </a:endParaRPr>
          </a:p>
          <a:p>
            <a:pPr algn="l">
              <a:lnSpc>
                <a:spcPct val="150000"/>
              </a:lnSpc>
              <a:buFont typeface="Arial" panose="020B0604020202020204" pitchFamily="34" charset="0"/>
              <a:buChar char="•"/>
            </a:pPr>
            <a:r>
              <a:rPr lang="zh-CN" altLang="en-US" b="1" i="0" dirty="0">
                <a:solidFill>
                  <a:srgbClr val="010409"/>
                </a:solidFill>
                <a:effectLst/>
                <a:latin typeface="苹方字体" panose="020B0300000000000000" pitchFamily="34" charset="-122"/>
                <a:ea typeface="苹方字体" panose="020B0300000000000000" pitchFamily="34" charset="-122"/>
              </a:rPr>
              <a:t>分层架构优势明显</a:t>
            </a:r>
            <a:endParaRPr lang="zh-CN" altLang="en-US" b="0" i="0" dirty="0">
              <a:solidFill>
                <a:srgbClr val="010409"/>
              </a:solidFill>
              <a:effectLst/>
              <a:latin typeface="苹方字体" panose="020B0300000000000000" pitchFamily="34" charset="-122"/>
              <a:ea typeface="苹方字体" panose="020B0300000000000000" pitchFamily="34" charset="-122"/>
            </a:endParaRPr>
          </a:p>
        </p:txBody>
      </p:sp>
    </p:spTree>
    <p:extLst>
      <p:ext uri="{BB962C8B-B14F-4D97-AF65-F5344CB8AC3E}">
        <p14:creationId xmlns:p14="http://schemas.microsoft.com/office/powerpoint/2010/main" val="40309344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209562" cy="461665"/>
          </a:xfrm>
          <a:prstGeom prst="rect">
            <a:avLst/>
          </a:prstGeom>
          <a:noFill/>
        </p:spPr>
        <p:txBody>
          <a:bodyPr wrap="none" rtlCol="0">
            <a:spAutoFit/>
          </a:bodyPr>
          <a:lstStyle/>
          <a:p>
            <a:r>
              <a:rPr lang="en-US" altLang="zh-CN" sz="2400" dirty="0">
                <a:solidFill>
                  <a:srgbClr val="133984"/>
                </a:solidFill>
                <a:latin typeface="微软雅黑" panose="020B0503020204020204" pitchFamily="34" charset="-122"/>
                <a:ea typeface="微软雅黑" panose="020B0503020204020204" pitchFamily="34" charset="-122"/>
              </a:rPr>
              <a:t>Part.04</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133984"/>
                </a:solidFill>
                <a:latin typeface="微软雅黑" panose="020B0503020204020204" pitchFamily="34" charset="-122"/>
                <a:ea typeface="微软雅黑" panose="020B0503020204020204" pitchFamily="34" charset="-122"/>
              </a:rPr>
              <a:t>创新点</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48022" y="1110881"/>
            <a:ext cx="1888386" cy="382270"/>
          </a:xfrm>
          <a:prstGeom prst="rect">
            <a:avLst/>
          </a:prstGeom>
          <a:noFill/>
        </p:spPr>
        <p:txBody>
          <a:bodyPr wrap="square" lIns="0" tIns="48000" rIns="0" bIns="48000" rtlCol="0">
            <a:spAutoFit/>
          </a:bodyPr>
          <a:lstStyle/>
          <a:p>
            <a:pPr algn="ctr"/>
            <a:r>
              <a:rPr lang="en-US" altLang="zh-CN" sz="1865" b="1" dirty="0">
                <a:solidFill>
                  <a:schemeClr val="tx1"/>
                </a:solidFill>
                <a:latin typeface="微软雅黑" panose="020B0503020204020204" pitchFamily="34" charset="-122"/>
                <a:ea typeface="微软雅黑" panose="020B0503020204020204" pitchFamily="34" charset="-122"/>
              </a:rPr>
              <a:t> </a:t>
            </a:r>
            <a:r>
              <a:rPr lang="zh-CN" altLang="en-US" sz="1865" b="1" dirty="0">
                <a:solidFill>
                  <a:schemeClr val="tx1"/>
                </a:solidFill>
                <a:latin typeface="微软雅黑" panose="020B0503020204020204" pitchFamily="34" charset="-122"/>
                <a:ea typeface="微软雅黑" panose="020B0503020204020204" pitchFamily="34" charset="-122"/>
              </a:rPr>
              <a:t>创新点</a:t>
            </a:r>
          </a:p>
        </p:txBody>
      </p:sp>
      <p:sp>
        <p:nvSpPr>
          <p:cNvPr id="39" name="矩形 4">
            <a:extLst>
              <a:ext uri="{FF2B5EF4-FFF2-40B4-BE49-F238E27FC236}">
                <a16:creationId xmlns:a16="http://schemas.microsoft.com/office/drawing/2014/main" id="{E1B44588-3BF6-48C5-B33D-21072BF01859}"/>
              </a:ext>
            </a:extLst>
          </p:cNvPr>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40" name="直接连接符 39">
            <a:extLst>
              <a:ext uri="{FF2B5EF4-FFF2-40B4-BE49-F238E27FC236}">
                <a16:creationId xmlns:a16="http://schemas.microsoft.com/office/drawing/2014/main" id="{00578E3C-B9E4-42DB-8201-F702C9CD418A}"/>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7E616AB0-E9EF-49C5-AEC8-2E7DF0A5ACDF}"/>
              </a:ext>
            </a:extLst>
          </p:cNvPr>
          <p:cNvSpPr/>
          <p:nvPr/>
        </p:nvSpPr>
        <p:spPr>
          <a:xfrm>
            <a:off x="8303210" y="-16845"/>
            <a:ext cx="976138"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42" name="直接连接符 41">
            <a:extLst>
              <a:ext uri="{FF2B5EF4-FFF2-40B4-BE49-F238E27FC236}">
                <a16:creationId xmlns:a16="http://schemas.microsoft.com/office/drawing/2014/main" id="{EEBA09E5-BBB6-4E96-8499-6FCBA798A6D0}"/>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TextBox 6">
            <a:extLst>
              <a:ext uri="{FF2B5EF4-FFF2-40B4-BE49-F238E27FC236}">
                <a16:creationId xmlns:a16="http://schemas.microsoft.com/office/drawing/2014/main" id="{7328B875-6708-46EE-9D81-6560AF4EF6E5}"/>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44" name="TextBox 7">
            <a:extLst>
              <a:ext uri="{FF2B5EF4-FFF2-40B4-BE49-F238E27FC236}">
                <a16:creationId xmlns:a16="http://schemas.microsoft.com/office/drawing/2014/main" id="{21EF465B-590D-4322-93DB-C3DC501EC9E7}"/>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45" name="TextBox 9">
            <a:extLst>
              <a:ext uri="{FF2B5EF4-FFF2-40B4-BE49-F238E27FC236}">
                <a16:creationId xmlns:a16="http://schemas.microsoft.com/office/drawing/2014/main" id="{DADAE800-665D-4373-84DE-6E9C144B66BE}"/>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研究内容和依据</a:t>
            </a:r>
          </a:p>
        </p:txBody>
      </p:sp>
      <p:sp>
        <p:nvSpPr>
          <p:cNvPr id="46" name="TextBox 10">
            <a:extLst>
              <a:ext uri="{FF2B5EF4-FFF2-40B4-BE49-F238E27FC236}">
                <a16:creationId xmlns:a16="http://schemas.microsoft.com/office/drawing/2014/main" id="{E01EBDF6-AC53-4D0D-9825-0ACE31C9BCB0}"/>
              </a:ext>
            </a:extLst>
          </p:cNvPr>
          <p:cNvSpPr txBox="1"/>
          <p:nvPr/>
        </p:nvSpPr>
        <p:spPr>
          <a:xfrm>
            <a:off x="8267200" y="225083"/>
            <a:ext cx="1048157"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创新点</a:t>
            </a:r>
          </a:p>
        </p:txBody>
      </p:sp>
      <p:sp>
        <p:nvSpPr>
          <p:cNvPr id="47" name="TextBox 11">
            <a:extLst>
              <a:ext uri="{FF2B5EF4-FFF2-40B4-BE49-F238E27FC236}">
                <a16:creationId xmlns:a16="http://schemas.microsoft.com/office/drawing/2014/main" id="{E7C9BCE4-D869-4A14-A754-C3B5BD9C9C62}"/>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论文工作计划</a:t>
            </a:r>
          </a:p>
        </p:txBody>
      </p:sp>
      <p:cxnSp>
        <p:nvCxnSpPr>
          <p:cNvPr id="48" name="直接连接符 47">
            <a:extLst>
              <a:ext uri="{FF2B5EF4-FFF2-40B4-BE49-F238E27FC236}">
                <a16:creationId xmlns:a16="http://schemas.microsoft.com/office/drawing/2014/main" id="{69A1CA73-7D8C-46F9-B493-15F838574F00}"/>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7B6689F-F414-4ACD-979E-D73027510E05}"/>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TextBox 7">
            <a:extLst>
              <a:ext uri="{FF2B5EF4-FFF2-40B4-BE49-F238E27FC236}">
                <a16:creationId xmlns:a16="http://schemas.microsoft.com/office/drawing/2014/main" id="{D649DBB2-548F-48ED-8354-BAF27B943F8B}"/>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12" name="图片 11" descr="沈阳建筑大学抠图"/>
          <p:cNvPicPr>
            <a:picLocks noChangeAspect="1"/>
          </p:cNvPicPr>
          <p:nvPr/>
        </p:nvPicPr>
        <p:blipFill>
          <a:blip r:embed="rId4"/>
          <a:stretch>
            <a:fillRect/>
          </a:stretch>
        </p:blipFill>
        <p:spPr>
          <a:xfrm>
            <a:off x="-45132" y="-802731"/>
            <a:ext cx="3274695" cy="2364105"/>
          </a:xfrm>
          <a:prstGeom prst="rect">
            <a:avLst/>
          </a:prstGeom>
        </p:spPr>
      </p:pic>
      <p:sp>
        <p:nvSpPr>
          <p:cNvPr id="53" name="Rectangle 14">
            <a:extLst>
              <a:ext uri="{FF2B5EF4-FFF2-40B4-BE49-F238E27FC236}">
                <a16:creationId xmlns:a16="http://schemas.microsoft.com/office/drawing/2014/main" id="{2AAE9F00-70C9-463A-BBD7-325353075E6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4" name="对象 53">
            <a:extLst>
              <a:ext uri="{FF2B5EF4-FFF2-40B4-BE49-F238E27FC236}">
                <a16:creationId xmlns:a16="http://schemas.microsoft.com/office/drawing/2014/main" id="{1478B39C-0717-43F8-B56E-BFDA7B8A4A31}"/>
              </a:ext>
            </a:extLst>
          </p:cNvPr>
          <p:cNvGraphicFramePr>
            <a:graphicFrameLocks noChangeAspect="1"/>
          </p:cNvGraphicFramePr>
          <p:nvPr>
            <p:extLst>
              <p:ext uri="{D42A27DB-BD31-4B8C-83A1-F6EECF244321}">
                <p14:modId xmlns:p14="http://schemas.microsoft.com/office/powerpoint/2010/main" val="813421980"/>
              </p:ext>
            </p:extLst>
          </p:nvPr>
        </p:nvGraphicFramePr>
        <p:xfrm>
          <a:off x="2206756" y="4972484"/>
          <a:ext cx="2104127" cy="248313"/>
        </p:xfrm>
        <a:graphic>
          <a:graphicData uri="http://schemas.openxmlformats.org/presentationml/2006/ole">
            <mc:AlternateContent xmlns:mc="http://schemas.openxmlformats.org/markup-compatibility/2006">
              <mc:Choice xmlns:v="urn:schemas-microsoft-com:vml" Requires="v">
                <p:oleObj spid="_x0000_s6927" name="Equation" r:id="rId5" imgW="1536033" imgH="177723" progId="Equation.DSMT4">
                  <p:embed/>
                </p:oleObj>
              </mc:Choice>
              <mc:Fallback>
                <p:oleObj name="Equation" r:id="rId5" imgW="1536033" imgH="177723"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6756" y="4972484"/>
                        <a:ext cx="2104127" cy="248313"/>
                      </a:xfrm>
                      <a:prstGeom prst="rect">
                        <a:avLst/>
                      </a:prstGeom>
                      <a:noFill/>
                    </p:spPr>
                  </p:pic>
                </p:oleObj>
              </mc:Fallback>
            </mc:AlternateContent>
          </a:graphicData>
        </a:graphic>
      </p:graphicFrame>
      <p:sp>
        <p:nvSpPr>
          <p:cNvPr id="55" name="Rectangle 16">
            <a:extLst>
              <a:ext uri="{FF2B5EF4-FFF2-40B4-BE49-F238E27FC236}">
                <a16:creationId xmlns:a16="http://schemas.microsoft.com/office/drawing/2014/main" id="{4D2204AD-46E3-4F98-BABB-44D32E4BF32B}"/>
              </a:ext>
            </a:extLst>
          </p:cNvPr>
          <p:cNvSpPr>
            <a:spLocks noChangeArrowheads="1"/>
          </p:cNvSpPr>
          <p:nvPr/>
        </p:nvSpPr>
        <p:spPr bwMode="auto">
          <a:xfrm>
            <a:off x="310340" y="64210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矩形: 圆角 1">
            <a:extLst>
              <a:ext uri="{FF2B5EF4-FFF2-40B4-BE49-F238E27FC236}">
                <a16:creationId xmlns:a16="http://schemas.microsoft.com/office/drawing/2014/main" id="{ACF2840F-BD5C-4F81-8950-D8A3573EE234}"/>
              </a:ext>
            </a:extLst>
          </p:cNvPr>
          <p:cNvSpPr/>
          <p:nvPr/>
        </p:nvSpPr>
        <p:spPr>
          <a:xfrm>
            <a:off x="1288196" y="2122903"/>
            <a:ext cx="624254" cy="378069"/>
          </a:xfrm>
          <a:prstGeom prst="roundRect">
            <a:avLst/>
          </a:prstGeom>
          <a:solidFill>
            <a:srgbClr val="13398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苹方 粗体" panose="020B0600000000000000" pitchFamily="34" charset="-122"/>
                <a:ea typeface="苹方 粗体" panose="020B0600000000000000" pitchFamily="34" charset="-122"/>
              </a:rPr>
              <a:t>（</a:t>
            </a:r>
            <a:r>
              <a:rPr lang="en-US" altLang="zh-CN" dirty="0">
                <a:solidFill>
                  <a:schemeClr val="bg1"/>
                </a:solidFill>
                <a:latin typeface="苹方 粗体" panose="020B0600000000000000" pitchFamily="34" charset="-122"/>
                <a:ea typeface="苹方 粗体" panose="020B0600000000000000" pitchFamily="34" charset="-122"/>
              </a:rPr>
              <a:t>1</a:t>
            </a:r>
            <a:r>
              <a:rPr lang="zh-CN" altLang="en-US" dirty="0">
                <a:solidFill>
                  <a:schemeClr val="bg1"/>
                </a:solidFill>
                <a:latin typeface="苹方 粗体" panose="020B0600000000000000" pitchFamily="34" charset="-122"/>
                <a:ea typeface="苹方 粗体" panose="020B0600000000000000" pitchFamily="34" charset="-122"/>
              </a:rPr>
              <a:t>）</a:t>
            </a:r>
          </a:p>
        </p:txBody>
      </p:sp>
      <p:sp>
        <p:nvSpPr>
          <p:cNvPr id="3" name="文本框 2">
            <a:extLst>
              <a:ext uri="{FF2B5EF4-FFF2-40B4-BE49-F238E27FC236}">
                <a16:creationId xmlns:a16="http://schemas.microsoft.com/office/drawing/2014/main" id="{D88414CD-A6FE-4858-98DB-D2B2BA189BC8}"/>
              </a:ext>
            </a:extLst>
          </p:cNvPr>
          <p:cNvSpPr txBox="1"/>
          <p:nvPr/>
        </p:nvSpPr>
        <p:spPr>
          <a:xfrm>
            <a:off x="1966028" y="2024429"/>
            <a:ext cx="8932793" cy="923330"/>
          </a:xfrm>
          <a:prstGeom prst="rect">
            <a:avLst/>
          </a:prstGeom>
          <a:noFill/>
        </p:spPr>
        <p:txBody>
          <a:bodyPr wrap="square" rtlCol="0">
            <a:spAutoFit/>
          </a:bodyPr>
          <a:lstStyle/>
          <a:p>
            <a:r>
              <a:rPr lang="zh-CN" altLang="en-US" b="0" i="0" dirty="0">
                <a:solidFill>
                  <a:srgbClr val="111133"/>
                </a:solidFill>
                <a:effectLst/>
                <a:latin typeface="-apple-system"/>
              </a:rPr>
              <a:t>针对受限带宽与强干扰环境下车辆编队通信质量下降与高延迟问题，提出融合图注意力网络（</a:t>
            </a:r>
            <a:r>
              <a:rPr lang="en-US" altLang="zh-CN" b="0" i="0" dirty="0">
                <a:solidFill>
                  <a:srgbClr val="111133"/>
                </a:solidFill>
                <a:effectLst/>
                <a:latin typeface="-apple-system"/>
              </a:rPr>
              <a:t>GATv2</a:t>
            </a:r>
            <a:r>
              <a:rPr lang="zh-CN" altLang="en-US" b="0" i="0" dirty="0">
                <a:solidFill>
                  <a:srgbClr val="111133"/>
                </a:solidFill>
                <a:effectLst/>
                <a:latin typeface="-apple-system"/>
              </a:rPr>
              <a:t>）与深度强化学习（</a:t>
            </a:r>
            <a:r>
              <a:rPr lang="en-US" altLang="zh-CN" b="0" i="0" dirty="0" err="1">
                <a:solidFill>
                  <a:srgbClr val="111133"/>
                </a:solidFill>
                <a:effectLst/>
                <a:latin typeface="-apple-system"/>
              </a:rPr>
              <a:t>DDQN+Top-K</a:t>
            </a:r>
            <a:r>
              <a:rPr lang="zh-CN" altLang="en-US" b="0" i="0" dirty="0">
                <a:solidFill>
                  <a:srgbClr val="111133"/>
                </a:solidFill>
                <a:effectLst/>
                <a:latin typeface="-apple-system"/>
              </a:rPr>
              <a:t>）的新范式，构建车联网图表示，实现关键车辆与链路的差异化资源调度，保障数据新鲜度与时延性能。</a:t>
            </a:r>
            <a:endParaRPr lang="zh-CN" altLang="en-US" dirty="0">
              <a:latin typeface="苹方字体" panose="020B0300000000000000" pitchFamily="34" charset="-122"/>
              <a:ea typeface="苹方字体" panose="020B0300000000000000" pitchFamily="34" charset="-122"/>
            </a:endParaRPr>
          </a:p>
        </p:txBody>
      </p:sp>
      <p:sp>
        <p:nvSpPr>
          <p:cNvPr id="24" name="矩形: 圆角 23">
            <a:extLst>
              <a:ext uri="{FF2B5EF4-FFF2-40B4-BE49-F238E27FC236}">
                <a16:creationId xmlns:a16="http://schemas.microsoft.com/office/drawing/2014/main" id="{6544A750-9371-4E68-A6E7-6686A027AFDC}"/>
              </a:ext>
            </a:extLst>
          </p:cNvPr>
          <p:cNvSpPr/>
          <p:nvPr/>
        </p:nvSpPr>
        <p:spPr>
          <a:xfrm>
            <a:off x="1288196" y="3426808"/>
            <a:ext cx="624254" cy="378069"/>
          </a:xfrm>
          <a:prstGeom prst="roundRect">
            <a:avLst/>
          </a:prstGeom>
          <a:solidFill>
            <a:srgbClr val="13398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苹方 粗体" panose="020B0600000000000000" pitchFamily="34" charset="-122"/>
                <a:ea typeface="苹方 粗体" panose="020B0600000000000000" pitchFamily="34" charset="-122"/>
              </a:rPr>
              <a:t>（</a:t>
            </a:r>
            <a:r>
              <a:rPr lang="en-US" altLang="zh-CN" dirty="0">
                <a:solidFill>
                  <a:schemeClr val="bg1"/>
                </a:solidFill>
                <a:latin typeface="苹方 粗体" panose="020B0600000000000000" pitchFamily="34" charset="-122"/>
                <a:ea typeface="苹方 粗体" panose="020B0600000000000000" pitchFamily="34" charset="-122"/>
              </a:rPr>
              <a:t>2</a:t>
            </a:r>
            <a:r>
              <a:rPr lang="zh-CN" altLang="en-US" dirty="0">
                <a:solidFill>
                  <a:schemeClr val="bg1"/>
                </a:solidFill>
                <a:latin typeface="苹方 粗体" panose="020B0600000000000000" pitchFamily="34" charset="-122"/>
                <a:ea typeface="苹方 粗体" panose="020B0600000000000000" pitchFamily="34" charset="-122"/>
              </a:rPr>
              <a:t>）</a:t>
            </a:r>
          </a:p>
        </p:txBody>
      </p:sp>
      <p:sp>
        <p:nvSpPr>
          <p:cNvPr id="25" name="文本框 24">
            <a:extLst>
              <a:ext uri="{FF2B5EF4-FFF2-40B4-BE49-F238E27FC236}">
                <a16:creationId xmlns:a16="http://schemas.microsoft.com/office/drawing/2014/main" id="{750284A0-FBE4-438A-B936-EA6D07F8C0D2}"/>
              </a:ext>
            </a:extLst>
          </p:cNvPr>
          <p:cNvSpPr txBox="1"/>
          <p:nvPr/>
        </p:nvSpPr>
        <p:spPr>
          <a:xfrm>
            <a:off x="1966029" y="3345614"/>
            <a:ext cx="8932793" cy="1477328"/>
          </a:xfrm>
          <a:prstGeom prst="rect">
            <a:avLst/>
          </a:prstGeom>
          <a:noFill/>
        </p:spPr>
        <p:txBody>
          <a:bodyPr wrap="square" rtlCol="0">
            <a:spAutoFit/>
          </a:bodyPr>
          <a:lstStyle/>
          <a:p>
            <a:pPr algn="l"/>
            <a:r>
              <a:rPr lang="zh-CN" altLang="en-US" b="0" i="0" dirty="0">
                <a:solidFill>
                  <a:srgbClr val="111133"/>
                </a:solidFill>
                <a:effectLst/>
                <a:latin typeface="-apple-system"/>
              </a:rPr>
              <a:t>针对车辆编队动态重构中多层级决策复杂性问题，设计分层强化学习（</a:t>
            </a:r>
            <a:r>
              <a:rPr lang="en-US" altLang="zh-CN" b="0" i="0" dirty="0">
                <a:solidFill>
                  <a:srgbClr val="111133"/>
                </a:solidFill>
                <a:effectLst/>
                <a:latin typeface="-apple-system"/>
              </a:rPr>
              <a:t>HRL</a:t>
            </a:r>
            <a:r>
              <a:rPr lang="zh-CN" altLang="en-US" b="0" i="0" dirty="0">
                <a:solidFill>
                  <a:srgbClr val="111133"/>
                </a:solidFill>
                <a:effectLst/>
                <a:latin typeface="-apple-system"/>
              </a:rPr>
              <a:t>）控制框架，高层</a:t>
            </a:r>
            <a:r>
              <a:rPr lang="en-US" altLang="zh-CN" b="0" i="0" dirty="0">
                <a:solidFill>
                  <a:srgbClr val="111133"/>
                </a:solidFill>
                <a:effectLst/>
                <a:latin typeface="-apple-system"/>
              </a:rPr>
              <a:t>DDQN</a:t>
            </a:r>
            <a:r>
              <a:rPr lang="zh-CN" altLang="en-US" b="0" i="0" dirty="0">
                <a:solidFill>
                  <a:srgbClr val="111133"/>
                </a:solidFill>
                <a:effectLst/>
                <a:latin typeface="-apple-system"/>
              </a:rPr>
              <a:t>负责离散结构决策，低层</a:t>
            </a:r>
            <a:r>
              <a:rPr lang="en-US" altLang="zh-CN" b="0" i="0" dirty="0">
                <a:solidFill>
                  <a:srgbClr val="111133"/>
                </a:solidFill>
                <a:effectLst/>
                <a:latin typeface="-apple-system"/>
              </a:rPr>
              <a:t>SAC</a:t>
            </a:r>
            <a:r>
              <a:rPr lang="zh-CN" altLang="en-US" b="0" i="0" dirty="0">
                <a:solidFill>
                  <a:srgbClr val="111133"/>
                </a:solidFill>
                <a:effectLst/>
                <a:latin typeface="-apple-system"/>
              </a:rPr>
              <a:t>输出连续转向控制，结合共享图嵌入与时间尺度解耦机制，提升训练稳定性与实时响应能力。</a:t>
            </a:r>
          </a:p>
          <a:p>
            <a:br>
              <a:rPr lang="zh-CN" altLang="en-US" dirty="0"/>
            </a:br>
            <a:endParaRPr lang="zh-CN" altLang="en-US" dirty="0">
              <a:latin typeface="苹方字体" panose="020B0300000000000000" pitchFamily="34" charset="-122"/>
              <a:ea typeface="苹方字体" panose="020B0300000000000000" pitchFamily="34" charset="-122"/>
            </a:endParaRPr>
          </a:p>
        </p:txBody>
      </p:sp>
      <p:sp>
        <p:nvSpPr>
          <p:cNvPr id="26" name="矩形: 圆角 25">
            <a:extLst>
              <a:ext uri="{FF2B5EF4-FFF2-40B4-BE49-F238E27FC236}">
                <a16:creationId xmlns:a16="http://schemas.microsoft.com/office/drawing/2014/main" id="{D31DD232-9AC4-4364-A39A-F7603DB012DA}"/>
              </a:ext>
            </a:extLst>
          </p:cNvPr>
          <p:cNvSpPr/>
          <p:nvPr/>
        </p:nvSpPr>
        <p:spPr>
          <a:xfrm>
            <a:off x="1288196" y="4642976"/>
            <a:ext cx="624254" cy="378069"/>
          </a:xfrm>
          <a:prstGeom prst="roundRect">
            <a:avLst/>
          </a:prstGeom>
          <a:solidFill>
            <a:srgbClr val="13398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苹方 粗体" panose="020B0600000000000000" pitchFamily="34" charset="-122"/>
                <a:ea typeface="苹方 粗体" panose="020B0600000000000000" pitchFamily="34" charset="-122"/>
              </a:rPr>
              <a:t>（</a:t>
            </a:r>
            <a:r>
              <a:rPr lang="en-US" altLang="zh-CN" dirty="0">
                <a:solidFill>
                  <a:schemeClr val="bg1"/>
                </a:solidFill>
                <a:latin typeface="苹方 粗体" panose="020B0600000000000000" pitchFamily="34" charset="-122"/>
                <a:ea typeface="苹方 粗体" panose="020B0600000000000000" pitchFamily="34" charset="-122"/>
              </a:rPr>
              <a:t>3</a:t>
            </a:r>
            <a:r>
              <a:rPr lang="zh-CN" altLang="en-US" dirty="0">
                <a:solidFill>
                  <a:schemeClr val="bg1"/>
                </a:solidFill>
                <a:latin typeface="苹方 粗体" panose="020B0600000000000000" pitchFamily="34" charset="-122"/>
                <a:ea typeface="苹方 粗体" panose="020B0600000000000000" pitchFamily="34" charset="-122"/>
              </a:rPr>
              <a:t>）</a:t>
            </a:r>
          </a:p>
        </p:txBody>
      </p:sp>
      <p:sp>
        <p:nvSpPr>
          <p:cNvPr id="28" name="文本框 27">
            <a:extLst>
              <a:ext uri="{FF2B5EF4-FFF2-40B4-BE49-F238E27FC236}">
                <a16:creationId xmlns:a16="http://schemas.microsoft.com/office/drawing/2014/main" id="{38D2D077-A33A-4342-8F6D-4D0BB81DAB73}"/>
              </a:ext>
            </a:extLst>
          </p:cNvPr>
          <p:cNvSpPr txBox="1"/>
          <p:nvPr/>
        </p:nvSpPr>
        <p:spPr>
          <a:xfrm>
            <a:off x="1966028" y="4643860"/>
            <a:ext cx="8749101" cy="1477328"/>
          </a:xfrm>
          <a:prstGeom prst="rect">
            <a:avLst/>
          </a:prstGeom>
          <a:noFill/>
        </p:spPr>
        <p:txBody>
          <a:bodyPr wrap="square">
            <a:spAutoFit/>
          </a:bodyPr>
          <a:lstStyle/>
          <a:p>
            <a:pPr algn="l"/>
            <a:r>
              <a:rPr lang="zh-CN" altLang="en-US" b="0" i="0" dirty="0">
                <a:solidFill>
                  <a:srgbClr val="111133"/>
                </a:solidFill>
                <a:effectLst/>
                <a:latin typeface="-apple-system"/>
              </a:rPr>
              <a:t>针对队位分配与插队决策中局部贪心导致的次优解与序列抖动问题，引入可微分指派（  </a:t>
            </a:r>
            <a:r>
              <a:rPr lang="en-US" altLang="zh-CN" b="0" i="0" dirty="0">
                <a:solidFill>
                  <a:srgbClr val="111133"/>
                </a:solidFill>
                <a:effectLst/>
                <a:latin typeface="-apple-system"/>
              </a:rPr>
              <a:t>                                   </a:t>
            </a:r>
            <a:r>
              <a:rPr lang="zh-CN" altLang="en-US" b="0" i="0" dirty="0">
                <a:solidFill>
                  <a:srgbClr val="111133"/>
                </a:solidFill>
                <a:effectLst/>
                <a:latin typeface="-apple-system"/>
              </a:rPr>
              <a:t>）优化方法，结合候选前驱约束，实现全局一致性位置分配与低代价平滑调整，有效抑制编队抖动现象。</a:t>
            </a:r>
          </a:p>
          <a:p>
            <a:br>
              <a:rPr lang="zh-CN" altLang="en-US" dirty="0"/>
            </a:br>
            <a:endParaRPr lang="zh-CN" altLang="en-US" dirty="0">
              <a:latin typeface="苹方字体" panose="020B0300000000000000" pitchFamily="34" charset="-122"/>
              <a:ea typeface="苹方字体" panose="020B0300000000000000"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209562" cy="461665"/>
          </a:xfrm>
          <a:prstGeom prst="rect">
            <a:avLst/>
          </a:prstGeom>
          <a:noFill/>
        </p:spPr>
        <p:txBody>
          <a:bodyPr wrap="none" rtlCol="0">
            <a:spAutoFit/>
          </a:bodyPr>
          <a:lstStyle/>
          <a:p>
            <a:r>
              <a:rPr lang="en-US" altLang="zh-CN" sz="2400" dirty="0">
                <a:solidFill>
                  <a:srgbClr val="133984"/>
                </a:solidFill>
                <a:latin typeface="微软雅黑" panose="020B0503020204020204" pitchFamily="34" charset="-122"/>
                <a:ea typeface="微软雅黑" panose="020B0503020204020204" pitchFamily="34" charset="-122"/>
              </a:rPr>
              <a:t>Part.05</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133984"/>
                </a:solidFill>
                <a:latin typeface="微软雅黑" panose="020B0503020204020204" pitchFamily="34" charset="-122"/>
                <a:ea typeface="微软雅黑" panose="020B0503020204020204" pitchFamily="34" charset="-122"/>
              </a:rPr>
              <a:t>论文工作计划</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
            <a:extLst>
              <a:ext uri="{FF2B5EF4-FFF2-40B4-BE49-F238E27FC236}">
                <a16:creationId xmlns:a16="http://schemas.microsoft.com/office/drawing/2014/main" id="{DCFD379E-F924-487B-8D39-C01F7D835B70}"/>
              </a:ext>
            </a:extLst>
          </p:cNvPr>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48" name="直接连接符 47">
            <a:extLst>
              <a:ext uri="{FF2B5EF4-FFF2-40B4-BE49-F238E27FC236}">
                <a16:creationId xmlns:a16="http://schemas.microsoft.com/office/drawing/2014/main" id="{D1A65434-DAB3-464E-A15F-8702D7EF2111}"/>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9F9826D5-7B4B-40F5-93BE-C16D10CF54D7}"/>
              </a:ext>
            </a:extLst>
          </p:cNvPr>
          <p:cNvSpPr/>
          <p:nvPr/>
        </p:nvSpPr>
        <p:spPr>
          <a:xfrm>
            <a:off x="9293953" y="-16845"/>
            <a:ext cx="1576704"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50" name="直接连接符 49">
            <a:extLst>
              <a:ext uri="{FF2B5EF4-FFF2-40B4-BE49-F238E27FC236}">
                <a16:creationId xmlns:a16="http://schemas.microsoft.com/office/drawing/2014/main" id="{54157203-B9DE-4A5E-8ED4-3AC3A65C109A}"/>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TextBox 6">
            <a:extLst>
              <a:ext uri="{FF2B5EF4-FFF2-40B4-BE49-F238E27FC236}">
                <a16:creationId xmlns:a16="http://schemas.microsoft.com/office/drawing/2014/main" id="{CC980EBA-AD91-40DC-A736-BA47977ED154}"/>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52" name="TextBox 7">
            <a:extLst>
              <a:ext uri="{FF2B5EF4-FFF2-40B4-BE49-F238E27FC236}">
                <a16:creationId xmlns:a16="http://schemas.microsoft.com/office/drawing/2014/main" id="{1AAF5C4C-EDAB-45F0-80CD-9378D1A7761C}"/>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53" name="TextBox 9">
            <a:extLst>
              <a:ext uri="{FF2B5EF4-FFF2-40B4-BE49-F238E27FC236}">
                <a16:creationId xmlns:a16="http://schemas.microsoft.com/office/drawing/2014/main" id="{9CA5A33C-37A3-47C8-BC79-7A15A683BB04}"/>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研究内容和依据</a:t>
            </a:r>
          </a:p>
        </p:txBody>
      </p:sp>
      <p:sp>
        <p:nvSpPr>
          <p:cNvPr id="54" name="TextBox 10">
            <a:extLst>
              <a:ext uri="{FF2B5EF4-FFF2-40B4-BE49-F238E27FC236}">
                <a16:creationId xmlns:a16="http://schemas.microsoft.com/office/drawing/2014/main" id="{4B8836A2-9EA9-4CEE-9D51-598BE20D2E78}"/>
              </a:ext>
            </a:extLst>
          </p:cNvPr>
          <p:cNvSpPr txBox="1"/>
          <p:nvPr/>
        </p:nvSpPr>
        <p:spPr>
          <a:xfrm>
            <a:off x="8267200" y="225083"/>
            <a:ext cx="1048157"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创新点</a:t>
            </a:r>
          </a:p>
        </p:txBody>
      </p:sp>
      <p:sp>
        <p:nvSpPr>
          <p:cNvPr id="55" name="TextBox 11">
            <a:extLst>
              <a:ext uri="{FF2B5EF4-FFF2-40B4-BE49-F238E27FC236}">
                <a16:creationId xmlns:a16="http://schemas.microsoft.com/office/drawing/2014/main" id="{057BD22B-729E-481C-87BF-31B740CA167E}"/>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论文工作计划</a:t>
            </a:r>
          </a:p>
        </p:txBody>
      </p:sp>
      <p:cxnSp>
        <p:nvCxnSpPr>
          <p:cNvPr id="56" name="直接连接符 55">
            <a:extLst>
              <a:ext uri="{FF2B5EF4-FFF2-40B4-BE49-F238E27FC236}">
                <a16:creationId xmlns:a16="http://schemas.microsoft.com/office/drawing/2014/main" id="{8CA9AC74-D81D-4BCA-AFBA-AC407066C675}"/>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11085385-C411-4280-AAEA-4ECDFF4615CD}"/>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TextBox 7">
            <a:extLst>
              <a:ext uri="{FF2B5EF4-FFF2-40B4-BE49-F238E27FC236}">
                <a16:creationId xmlns:a16="http://schemas.microsoft.com/office/drawing/2014/main" id="{A15B93CE-5E1E-4AE4-840F-B7DEEA5F70D4}"/>
              </a:ext>
            </a:extLst>
          </p:cNvPr>
          <p:cNvSpPr txBox="1"/>
          <p:nvPr/>
        </p:nvSpPr>
        <p:spPr>
          <a:xfrm>
            <a:off x="10960367" y="234807"/>
            <a:ext cx="960606"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参考文献</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pic>
        <p:nvPicPr>
          <p:cNvPr id="12" name="图片 11" descr="沈阳建筑大学抠图"/>
          <p:cNvPicPr>
            <a:picLocks noChangeAspect="1"/>
          </p:cNvPicPr>
          <p:nvPr/>
        </p:nvPicPr>
        <p:blipFill>
          <a:blip r:embed="rId3"/>
          <a:stretch>
            <a:fillRect/>
          </a:stretch>
        </p:blipFill>
        <p:spPr>
          <a:xfrm>
            <a:off x="-15875" y="-835265"/>
            <a:ext cx="3274695" cy="2364105"/>
          </a:xfrm>
          <a:prstGeom prst="rect">
            <a:avLst/>
          </a:prstGeom>
        </p:spPr>
      </p:pic>
      <p:sp>
        <p:nvSpPr>
          <p:cNvPr id="2" name="流程图: 可选过程 1">
            <a:extLst>
              <a:ext uri="{FF2B5EF4-FFF2-40B4-BE49-F238E27FC236}">
                <a16:creationId xmlns:a16="http://schemas.microsoft.com/office/drawing/2014/main" id="{E80D2DB1-DE54-4786-A8CF-78F78B38FAF8}"/>
              </a:ext>
            </a:extLst>
          </p:cNvPr>
          <p:cNvSpPr/>
          <p:nvPr/>
        </p:nvSpPr>
        <p:spPr>
          <a:xfrm>
            <a:off x="560664" y="1325474"/>
            <a:ext cx="11431446" cy="1123832"/>
          </a:xfrm>
          <a:prstGeom prst="flowChartAlternateProcess">
            <a:avLst/>
          </a:prstGeom>
          <a:solidFill>
            <a:schemeClr val="bg1"/>
          </a:solidFill>
          <a:ln w="38100" cmpd="dbl">
            <a:solidFill>
              <a:schemeClr val="accent1">
                <a:shade val="50000"/>
              </a:schemeClr>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 name="文本框 8">
            <a:extLst>
              <a:ext uri="{FF2B5EF4-FFF2-40B4-BE49-F238E27FC236}">
                <a16:creationId xmlns:a16="http://schemas.microsoft.com/office/drawing/2014/main" id="{385D71E3-E007-4422-B47C-5E2A063C09A2}"/>
              </a:ext>
            </a:extLst>
          </p:cNvPr>
          <p:cNvSpPr txBox="1"/>
          <p:nvPr/>
        </p:nvSpPr>
        <p:spPr>
          <a:xfrm>
            <a:off x="615060" y="1291248"/>
            <a:ext cx="11305912" cy="1354217"/>
          </a:xfrm>
          <a:prstGeom prst="rect">
            <a:avLst/>
          </a:prstGeom>
          <a:noFill/>
        </p:spPr>
        <p:txBody>
          <a:bodyPr wrap="square" rtlCol="0">
            <a:spAutoFit/>
          </a:bodyPr>
          <a:lstStyle/>
          <a:p>
            <a:r>
              <a:rPr lang="zh-CN" altLang="en-US" b="1" kern="100" dirty="0">
                <a:solidFill>
                  <a:srgbClr val="133984"/>
                </a:solidFill>
                <a:latin typeface="微软雅黑" panose="020B0503020204020204" pitchFamily="34" charset="-122"/>
                <a:ea typeface="微软雅黑" panose="020B0503020204020204" pitchFamily="34" charset="-122"/>
              </a:rPr>
              <a:t>第</a:t>
            </a:r>
            <a:r>
              <a:rPr lang="zh-CN" altLang="en-US" sz="2800" b="1" kern="100" dirty="0">
                <a:solidFill>
                  <a:srgbClr val="FF0000"/>
                </a:solidFill>
                <a:latin typeface="微软雅黑" panose="020B0503020204020204" pitchFamily="34" charset="-122"/>
                <a:ea typeface="微软雅黑" panose="020B0503020204020204" pitchFamily="34" charset="-122"/>
              </a:rPr>
              <a:t>①</a:t>
            </a:r>
            <a:r>
              <a:rPr lang="zh-CN" altLang="en-US" b="1" kern="100" dirty="0">
                <a:solidFill>
                  <a:srgbClr val="133984"/>
                </a:solidFill>
                <a:latin typeface="微软雅黑" panose="020B0503020204020204" pitchFamily="34" charset="-122"/>
                <a:ea typeface="微软雅黑" panose="020B0503020204020204" pitchFamily="34" charset="-122"/>
              </a:rPr>
              <a:t>阶段：</a:t>
            </a:r>
            <a:r>
              <a:rPr lang="zh-CN" altLang="zh-CN" sz="1800" kern="100" dirty="0">
                <a:solidFill>
                  <a:srgbClr val="000000"/>
                </a:solidFill>
                <a:effectLst/>
                <a:latin typeface="苹方字体" panose="020B0300000000000000" pitchFamily="34" charset="-122"/>
                <a:ea typeface="苹方字体" panose="020B0300000000000000" pitchFamily="34" charset="-122"/>
              </a:rPr>
              <a:t>阅读自动驾驶编队、</a:t>
            </a:r>
            <a:r>
              <a:rPr lang="en-US" altLang="zh-CN" sz="1800" kern="100" dirty="0">
                <a:solidFill>
                  <a:srgbClr val="000000"/>
                </a:solidFill>
                <a:effectLst/>
                <a:latin typeface="苹方字体" panose="020B0300000000000000" pitchFamily="34" charset="-122"/>
                <a:ea typeface="苹方字体" panose="020B0300000000000000" pitchFamily="34" charset="-122"/>
              </a:rPr>
              <a:t>V2X</a:t>
            </a:r>
            <a:r>
              <a:rPr lang="zh-CN" altLang="zh-CN" sz="1800" kern="100" dirty="0">
                <a:solidFill>
                  <a:srgbClr val="000000"/>
                </a:solidFill>
                <a:effectLst/>
                <a:latin typeface="苹方字体" panose="020B0300000000000000" pitchFamily="34" charset="-122"/>
                <a:ea typeface="苹方字体" panose="020B0300000000000000" pitchFamily="34" charset="-122"/>
              </a:rPr>
              <a:t>通信、图神经网络、多智能体强化学习等相关领域的国内外文献，重点掌握编队控制、通信资源分配、队列结构优化等关键技术。学习</a:t>
            </a:r>
            <a:r>
              <a:rPr lang="en-US" altLang="zh-CN" sz="1800" kern="100" dirty="0">
                <a:solidFill>
                  <a:srgbClr val="000000"/>
                </a:solidFill>
                <a:effectLst/>
                <a:latin typeface="苹方字体" panose="020B0300000000000000" pitchFamily="34" charset="-122"/>
                <a:ea typeface="苹方字体" panose="020B0300000000000000" pitchFamily="34" charset="-122"/>
              </a:rPr>
              <a:t>Python</a:t>
            </a:r>
            <a:r>
              <a:rPr lang="zh-CN" altLang="zh-CN" sz="1800" kern="100" dirty="0">
                <a:solidFill>
                  <a:srgbClr val="000000"/>
                </a:solidFill>
                <a:effectLst/>
                <a:latin typeface="苹方字体" panose="020B0300000000000000" pitchFamily="34" charset="-122"/>
                <a:ea typeface="苹方字体" panose="020B0300000000000000" pitchFamily="34" charset="-122"/>
              </a:rPr>
              <a:t>编程语言及</a:t>
            </a:r>
            <a:r>
              <a:rPr lang="en-US" altLang="zh-CN" sz="1800" kern="100" dirty="0" err="1">
                <a:solidFill>
                  <a:srgbClr val="000000"/>
                </a:solidFill>
                <a:effectLst/>
                <a:latin typeface="苹方字体" panose="020B0300000000000000" pitchFamily="34" charset="-122"/>
                <a:ea typeface="苹方字体" panose="020B0300000000000000" pitchFamily="34" charset="-122"/>
              </a:rPr>
              <a:t>tensflow</a:t>
            </a:r>
            <a:r>
              <a:rPr lang="zh-CN" altLang="zh-CN" sz="1800" kern="100" dirty="0">
                <a:solidFill>
                  <a:srgbClr val="000000"/>
                </a:solidFill>
                <a:effectLst/>
                <a:latin typeface="苹方字体" panose="020B0300000000000000" pitchFamily="34" charset="-122"/>
                <a:ea typeface="苹方字体" panose="020B0300000000000000" pitchFamily="34" charset="-122"/>
              </a:rPr>
              <a:t>框架，搭建仿真环境，完成系统建模与信道数据采集。预计</a:t>
            </a:r>
            <a:r>
              <a:rPr lang="en-US" altLang="zh-CN" sz="1800" kern="100" dirty="0">
                <a:solidFill>
                  <a:srgbClr val="000000"/>
                </a:solidFill>
                <a:effectLst/>
                <a:latin typeface="苹方字体" panose="020B0300000000000000" pitchFamily="34" charset="-122"/>
                <a:ea typeface="苹方字体" panose="020B0300000000000000" pitchFamily="34" charset="-122"/>
              </a:rPr>
              <a:t>3</a:t>
            </a:r>
            <a:r>
              <a:rPr lang="zh-CN" altLang="zh-CN" sz="1800" kern="100" dirty="0">
                <a:solidFill>
                  <a:srgbClr val="000000"/>
                </a:solidFill>
                <a:effectLst/>
                <a:latin typeface="苹方字体" panose="020B0300000000000000" pitchFamily="34" charset="-122"/>
                <a:ea typeface="苹方字体" panose="020B0300000000000000" pitchFamily="34" charset="-122"/>
              </a:rPr>
              <a:t>个月完成。</a:t>
            </a:r>
            <a:r>
              <a:rPr lang="zh-CN" altLang="zh-CN" sz="1800" kern="100" dirty="0">
                <a:effectLst/>
                <a:latin typeface="苹方字体" panose="020B0300000000000000" pitchFamily="34" charset="-122"/>
                <a:ea typeface="苹方字体" panose="020B0300000000000000" pitchFamily="34" charset="-122"/>
              </a:rPr>
              <a:t>（</a:t>
            </a:r>
            <a:r>
              <a:rPr lang="en-US" altLang="zh-CN" sz="1800" kern="100" dirty="0">
                <a:effectLst/>
                <a:latin typeface="苹方字体" panose="020B0300000000000000" pitchFamily="34" charset="-122"/>
                <a:ea typeface="苹方字体" panose="020B0300000000000000" pitchFamily="34" charset="-122"/>
              </a:rPr>
              <a:t>2025</a:t>
            </a:r>
            <a:r>
              <a:rPr lang="en-US" altLang="zh-CN" kern="100" dirty="0">
                <a:latin typeface="苹方字体" panose="020B0300000000000000" pitchFamily="34" charset="-122"/>
                <a:ea typeface="苹方字体" panose="020B0300000000000000" pitchFamily="34" charset="-122"/>
              </a:rPr>
              <a:t>.</a:t>
            </a:r>
            <a:r>
              <a:rPr lang="en-US" altLang="zh-CN" sz="1800" kern="100" dirty="0">
                <a:effectLst/>
                <a:latin typeface="苹方字体" panose="020B0300000000000000" pitchFamily="34" charset="-122"/>
                <a:ea typeface="苹方字体" panose="020B0300000000000000" pitchFamily="34" charset="-122"/>
              </a:rPr>
              <a:t>3</a:t>
            </a:r>
            <a:r>
              <a:rPr lang="zh-CN" altLang="zh-CN" sz="1800" kern="100" dirty="0">
                <a:effectLst/>
                <a:latin typeface="苹方字体" panose="020B0300000000000000" pitchFamily="34" charset="-122"/>
                <a:ea typeface="苹方字体" panose="020B0300000000000000" pitchFamily="34" charset="-122"/>
              </a:rPr>
              <a:t>——</a:t>
            </a:r>
            <a:r>
              <a:rPr lang="en-US" altLang="zh-CN" sz="1800" kern="100" dirty="0">
                <a:effectLst/>
                <a:latin typeface="苹方字体" panose="020B0300000000000000" pitchFamily="34" charset="-122"/>
                <a:ea typeface="苹方字体" panose="020B0300000000000000" pitchFamily="34" charset="-122"/>
              </a:rPr>
              <a:t>2025</a:t>
            </a:r>
            <a:r>
              <a:rPr lang="en-US" altLang="zh-CN" kern="100" dirty="0">
                <a:latin typeface="苹方字体" panose="020B0300000000000000" pitchFamily="34" charset="-122"/>
                <a:ea typeface="苹方字体" panose="020B0300000000000000" pitchFamily="34" charset="-122"/>
              </a:rPr>
              <a:t>.</a:t>
            </a:r>
            <a:r>
              <a:rPr lang="en-US" altLang="zh-CN" sz="1800" kern="100" dirty="0">
                <a:effectLst/>
                <a:latin typeface="苹方字体" panose="020B0300000000000000" pitchFamily="34" charset="-122"/>
                <a:ea typeface="苹方字体" panose="020B0300000000000000" pitchFamily="34" charset="-122"/>
              </a:rPr>
              <a:t>5</a:t>
            </a:r>
            <a:r>
              <a:rPr lang="zh-CN" altLang="zh-CN" sz="1800" kern="100" dirty="0">
                <a:effectLst/>
                <a:latin typeface="苹方字体" panose="020B0300000000000000" pitchFamily="34" charset="-122"/>
                <a:ea typeface="苹方字体" panose="020B0300000000000000" pitchFamily="34" charset="-122"/>
              </a:rPr>
              <a:t>）</a:t>
            </a:r>
          </a:p>
          <a:p>
            <a:endParaRPr lang="zh-CN" altLang="en-US" dirty="0"/>
          </a:p>
        </p:txBody>
      </p:sp>
      <p:sp>
        <p:nvSpPr>
          <p:cNvPr id="32" name="流程图: 可选过程 31">
            <a:extLst>
              <a:ext uri="{FF2B5EF4-FFF2-40B4-BE49-F238E27FC236}">
                <a16:creationId xmlns:a16="http://schemas.microsoft.com/office/drawing/2014/main" id="{1270462A-98D6-495A-8DC1-E38A5F1BD471}"/>
              </a:ext>
            </a:extLst>
          </p:cNvPr>
          <p:cNvSpPr/>
          <p:nvPr/>
        </p:nvSpPr>
        <p:spPr>
          <a:xfrm>
            <a:off x="560663" y="2804841"/>
            <a:ext cx="11360309" cy="1119293"/>
          </a:xfrm>
          <a:prstGeom prst="flowChartAlternateProcess">
            <a:avLst/>
          </a:prstGeom>
          <a:solidFill>
            <a:schemeClr val="bg1"/>
          </a:solidFill>
          <a:ln w="38100" cmpd="dbl">
            <a:solidFill>
              <a:schemeClr val="accent1">
                <a:shade val="50000"/>
              </a:schemeClr>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3" name="文本框 32">
            <a:extLst>
              <a:ext uri="{FF2B5EF4-FFF2-40B4-BE49-F238E27FC236}">
                <a16:creationId xmlns:a16="http://schemas.microsoft.com/office/drawing/2014/main" id="{06FA3B10-2E79-4694-8175-4D25FBC67A6F}"/>
              </a:ext>
            </a:extLst>
          </p:cNvPr>
          <p:cNvSpPr txBox="1"/>
          <p:nvPr/>
        </p:nvSpPr>
        <p:spPr>
          <a:xfrm>
            <a:off x="623431" y="2789132"/>
            <a:ext cx="11305912" cy="1077218"/>
          </a:xfrm>
          <a:prstGeom prst="rect">
            <a:avLst/>
          </a:prstGeom>
          <a:noFill/>
        </p:spPr>
        <p:txBody>
          <a:bodyPr wrap="square" rtlCol="0">
            <a:spAutoFit/>
          </a:bodyPr>
          <a:lstStyle/>
          <a:p>
            <a:r>
              <a:rPr lang="zh-CN" altLang="en-US" b="1" kern="100" dirty="0">
                <a:solidFill>
                  <a:srgbClr val="133984"/>
                </a:solidFill>
                <a:latin typeface="微软雅黑" panose="020B0503020204020204" pitchFamily="34" charset="-122"/>
                <a:ea typeface="微软雅黑" panose="020B0503020204020204" pitchFamily="34" charset="-122"/>
              </a:rPr>
              <a:t>第</a:t>
            </a:r>
            <a:r>
              <a:rPr lang="zh-CN" altLang="en-US" sz="2800" b="1" kern="100" dirty="0">
                <a:solidFill>
                  <a:srgbClr val="FF0000"/>
                </a:solidFill>
                <a:latin typeface="微软雅黑" panose="020B0503020204020204" pitchFamily="34" charset="-122"/>
                <a:ea typeface="微软雅黑" panose="020B0503020204020204" pitchFamily="34" charset="-122"/>
              </a:rPr>
              <a:t>②</a:t>
            </a:r>
            <a:r>
              <a:rPr lang="zh-CN" altLang="en-US" b="1" kern="100" dirty="0">
                <a:solidFill>
                  <a:srgbClr val="133984"/>
                </a:solidFill>
                <a:latin typeface="微软雅黑" panose="020B0503020204020204" pitchFamily="34" charset="-122"/>
                <a:ea typeface="微软雅黑" panose="020B0503020204020204" pitchFamily="34" charset="-122"/>
              </a:rPr>
              <a:t>阶段：</a:t>
            </a:r>
            <a:r>
              <a:rPr lang="zh-CN" altLang="en-US" b="0" i="0" dirty="0">
                <a:solidFill>
                  <a:srgbClr val="010409"/>
                </a:solidFill>
                <a:effectLst/>
                <a:latin typeface="苹方字体" panose="020B0300000000000000" pitchFamily="34" charset="-122"/>
                <a:ea typeface="苹方字体" panose="020B0300000000000000" pitchFamily="34" charset="-122"/>
              </a:rPr>
              <a:t>深入学习图注意力网络、</a:t>
            </a:r>
            <a:r>
              <a:rPr lang="en-US" altLang="zh-CN" b="0" i="0" dirty="0">
                <a:solidFill>
                  <a:srgbClr val="010409"/>
                </a:solidFill>
                <a:effectLst/>
                <a:latin typeface="苹方字体" panose="020B0300000000000000" pitchFamily="34" charset="-122"/>
                <a:ea typeface="苹方字体" panose="020B0300000000000000" pitchFamily="34" charset="-122"/>
              </a:rPr>
              <a:t>Double DQN</a:t>
            </a:r>
            <a:r>
              <a:rPr lang="zh-CN" altLang="en-US" b="0" i="0" dirty="0">
                <a:solidFill>
                  <a:srgbClr val="010409"/>
                </a:solidFill>
                <a:effectLst/>
                <a:latin typeface="苹方字体" panose="020B0300000000000000" pitchFamily="34" charset="-122"/>
                <a:ea typeface="苹方字体" panose="020B0300000000000000" pitchFamily="34" charset="-122"/>
              </a:rPr>
              <a:t>、</a:t>
            </a:r>
            <a:r>
              <a:rPr lang="en-US" altLang="zh-CN" b="0" i="0" dirty="0">
                <a:solidFill>
                  <a:srgbClr val="010409"/>
                </a:solidFill>
                <a:effectLst/>
                <a:latin typeface="苹方字体" panose="020B0300000000000000" pitchFamily="34" charset="-122"/>
                <a:ea typeface="苹方字体" panose="020B0300000000000000" pitchFamily="34" charset="-122"/>
              </a:rPr>
              <a:t>SAC</a:t>
            </a:r>
            <a:r>
              <a:rPr lang="zh-CN" altLang="en-US" b="0" i="0" dirty="0">
                <a:solidFill>
                  <a:srgbClr val="010409"/>
                </a:solidFill>
                <a:effectLst/>
                <a:latin typeface="苹方字体" panose="020B0300000000000000" pitchFamily="34" charset="-122"/>
                <a:ea typeface="苹方字体" panose="020B0300000000000000" pitchFamily="34" charset="-122"/>
              </a:rPr>
              <a:t>等算法，完成通信资源调度模块与分层强化学习控制模块的设计与实现。实现</a:t>
            </a:r>
            <a:r>
              <a:rPr lang="en-US" altLang="zh-CN" b="0" i="0" dirty="0">
                <a:solidFill>
                  <a:srgbClr val="010409"/>
                </a:solidFill>
                <a:effectLst/>
                <a:latin typeface="苹方字体" panose="020B0300000000000000" pitchFamily="34" charset="-122"/>
                <a:ea typeface="苹方字体" panose="020B0300000000000000" pitchFamily="34" charset="-122"/>
              </a:rPr>
              <a:t>CTDE</a:t>
            </a:r>
            <a:r>
              <a:rPr lang="zh-CN" altLang="en-US" b="0" i="0" dirty="0">
                <a:solidFill>
                  <a:srgbClr val="010409"/>
                </a:solidFill>
                <a:effectLst/>
                <a:latin typeface="苹方字体" panose="020B0300000000000000" pitchFamily="34" charset="-122"/>
                <a:ea typeface="苹方字体" panose="020B0300000000000000" pitchFamily="34" charset="-122"/>
              </a:rPr>
              <a:t>框架的集成，完成动态队建模、嵌入表示、</a:t>
            </a:r>
            <a:r>
              <a:rPr lang="en-US" altLang="zh-CN" b="0" i="0" dirty="0">
                <a:solidFill>
                  <a:srgbClr val="010409"/>
                </a:solidFill>
                <a:effectLst/>
                <a:latin typeface="苹方字体" panose="020B0300000000000000" pitchFamily="34" charset="-122"/>
                <a:ea typeface="苹方字体" panose="020B0300000000000000" pitchFamily="34" charset="-122"/>
              </a:rPr>
              <a:t>Top-K</a:t>
            </a:r>
            <a:r>
              <a:rPr lang="zh-CN" altLang="en-US" b="0" i="0" dirty="0">
                <a:solidFill>
                  <a:srgbClr val="010409"/>
                </a:solidFill>
                <a:effectLst/>
                <a:latin typeface="苹方字体" panose="020B0300000000000000" pitchFamily="34" charset="-122"/>
                <a:ea typeface="苹方字体" panose="020B0300000000000000" pitchFamily="34" charset="-122"/>
              </a:rPr>
              <a:t>邻居采样、事件触发机制等核心功能模块的开发。预计</a:t>
            </a:r>
            <a:r>
              <a:rPr lang="en-US" altLang="zh-CN" b="0" i="0" dirty="0">
                <a:solidFill>
                  <a:srgbClr val="010409"/>
                </a:solidFill>
                <a:effectLst/>
                <a:latin typeface="苹方字体" panose="020B0300000000000000" pitchFamily="34" charset="-122"/>
                <a:ea typeface="苹方字体" panose="020B0300000000000000" pitchFamily="34" charset="-122"/>
              </a:rPr>
              <a:t>7</a:t>
            </a:r>
            <a:r>
              <a:rPr lang="zh-CN" altLang="en-US" b="0" i="0" dirty="0">
                <a:solidFill>
                  <a:srgbClr val="010409"/>
                </a:solidFill>
                <a:effectLst/>
                <a:latin typeface="苹方字体" panose="020B0300000000000000" pitchFamily="34" charset="-122"/>
                <a:ea typeface="苹方字体" panose="020B0300000000000000" pitchFamily="34" charset="-122"/>
              </a:rPr>
              <a:t>个月完成。（</a:t>
            </a:r>
            <a:r>
              <a:rPr lang="en-US" altLang="zh-CN" b="0" i="0" dirty="0">
                <a:solidFill>
                  <a:srgbClr val="010409"/>
                </a:solidFill>
                <a:effectLst/>
                <a:latin typeface="苹方字体" panose="020B0300000000000000" pitchFamily="34" charset="-122"/>
                <a:ea typeface="苹方字体" panose="020B0300000000000000" pitchFamily="34" charset="-122"/>
              </a:rPr>
              <a:t>2025.5-2025.12</a:t>
            </a:r>
            <a:r>
              <a:rPr lang="zh-CN" altLang="en-US" b="0" i="0" dirty="0">
                <a:solidFill>
                  <a:srgbClr val="010409"/>
                </a:solidFill>
                <a:effectLst/>
                <a:latin typeface="苹方字体" panose="020B0300000000000000" pitchFamily="34" charset="-122"/>
                <a:ea typeface="苹方字体" panose="020B0300000000000000" pitchFamily="34" charset="-122"/>
              </a:rPr>
              <a:t>）</a:t>
            </a:r>
            <a:endParaRPr lang="zh-CN" altLang="en-US" b="1" dirty="0">
              <a:latin typeface="苹方字体" panose="020B0300000000000000" pitchFamily="34" charset="-122"/>
              <a:ea typeface="苹方字体" panose="020B0300000000000000" pitchFamily="34" charset="-122"/>
            </a:endParaRPr>
          </a:p>
        </p:txBody>
      </p:sp>
      <p:sp>
        <p:nvSpPr>
          <p:cNvPr id="34" name="流程图: 可选过程 33">
            <a:extLst>
              <a:ext uri="{FF2B5EF4-FFF2-40B4-BE49-F238E27FC236}">
                <a16:creationId xmlns:a16="http://schemas.microsoft.com/office/drawing/2014/main" id="{CCAA0CDD-E846-420E-A4BE-026CD8225882}"/>
              </a:ext>
            </a:extLst>
          </p:cNvPr>
          <p:cNvSpPr/>
          <p:nvPr/>
        </p:nvSpPr>
        <p:spPr>
          <a:xfrm>
            <a:off x="560663" y="4275959"/>
            <a:ext cx="11360309" cy="1119293"/>
          </a:xfrm>
          <a:prstGeom prst="flowChartAlternateProcess">
            <a:avLst/>
          </a:prstGeom>
          <a:solidFill>
            <a:schemeClr val="bg1"/>
          </a:solidFill>
          <a:ln w="38100" cmpd="dbl">
            <a:solidFill>
              <a:schemeClr val="accent1">
                <a:shade val="50000"/>
              </a:schemeClr>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5" name="文本框 34">
            <a:extLst>
              <a:ext uri="{FF2B5EF4-FFF2-40B4-BE49-F238E27FC236}">
                <a16:creationId xmlns:a16="http://schemas.microsoft.com/office/drawing/2014/main" id="{3D811F4B-D62A-4059-A631-064E01527D8C}"/>
              </a:ext>
            </a:extLst>
          </p:cNvPr>
          <p:cNvSpPr txBox="1"/>
          <p:nvPr/>
        </p:nvSpPr>
        <p:spPr>
          <a:xfrm>
            <a:off x="615060" y="4237016"/>
            <a:ext cx="11305912" cy="1077218"/>
          </a:xfrm>
          <a:prstGeom prst="rect">
            <a:avLst/>
          </a:prstGeom>
          <a:noFill/>
        </p:spPr>
        <p:txBody>
          <a:bodyPr wrap="square" rtlCol="0">
            <a:spAutoFit/>
          </a:bodyPr>
          <a:lstStyle/>
          <a:p>
            <a:r>
              <a:rPr lang="zh-CN" altLang="en-US" b="1" kern="100" dirty="0">
                <a:solidFill>
                  <a:srgbClr val="133984"/>
                </a:solidFill>
                <a:latin typeface="微软雅黑" panose="020B0503020204020204" pitchFamily="34" charset="-122"/>
                <a:ea typeface="微软雅黑" panose="020B0503020204020204" pitchFamily="34" charset="-122"/>
              </a:rPr>
              <a:t>第</a:t>
            </a:r>
            <a:r>
              <a:rPr lang="zh-CN" altLang="en-US" sz="2800" b="1" kern="100" dirty="0">
                <a:solidFill>
                  <a:srgbClr val="FF0000"/>
                </a:solidFill>
                <a:latin typeface="微软雅黑" panose="020B0503020204020204" pitchFamily="34" charset="-122"/>
                <a:ea typeface="微软雅黑" panose="020B0503020204020204" pitchFamily="34" charset="-122"/>
              </a:rPr>
              <a:t>③</a:t>
            </a:r>
            <a:r>
              <a:rPr lang="zh-CN" altLang="en-US" b="1" kern="100" dirty="0">
                <a:solidFill>
                  <a:srgbClr val="133984"/>
                </a:solidFill>
                <a:latin typeface="微软雅黑" panose="020B0503020204020204" pitchFamily="34" charset="-122"/>
                <a:ea typeface="微软雅黑" panose="020B0503020204020204" pitchFamily="34" charset="-122"/>
              </a:rPr>
              <a:t>阶段：</a:t>
            </a:r>
            <a:r>
              <a:rPr lang="zh-CN" altLang="en-US" b="0" i="0" dirty="0">
                <a:solidFill>
                  <a:srgbClr val="010409"/>
                </a:solidFill>
                <a:effectLst/>
                <a:latin typeface="苹方字体" panose="020B0300000000000000" pitchFamily="34" charset="-122"/>
                <a:ea typeface="苹方字体" panose="020B0300000000000000" pitchFamily="34" charset="-122"/>
              </a:rPr>
              <a:t>在</a:t>
            </a:r>
            <a:r>
              <a:rPr lang="en-US" altLang="zh-CN" b="0" i="0" dirty="0" err="1">
                <a:solidFill>
                  <a:srgbClr val="010409"/>
                </a:solidFill>
                <a:effectLst/>
                <a:latin typeface="苹方字体" panose="020B0300000000000000" pitchFamily="34" charset="-122"/>
                <a:ea typeface="苹方字体" panose="020B0300000000000000" pitchFamily="34" charset="-122"/>
              </a:rPr>
              <a:t>Tensorflow</a:t>
            </a:r>
            <a:r>
              <a:rPr lang="zh-CN" altLang="en-US" b="0" i="0" dirty="0">
                <a:solidFill>
                  <a:srgbClr val="010409"/>
                </a:solidFill>
                <a:effectLst/>
                <a:latin typeface="苹方字体" panose="020B0300000000000000" pitchFamily="34" charset="-122"/>
                <a:ea typeface="苹方字体" panose="020B0300000000000000" pitchFamily="34" charset="-122"/>
              </a:rPr>
              <a:t>平台中开展稳态与动态交通场景下的实验测试，验证所提方法在通信成功率、编队稳定性、能耗与任务完成时间等方面的性能。对比主流方法（优化模型超参数与网络结构），完成消融实验与分析各模块贡献。撰写小论文。预计</a:t>
            </a:r>
            <a:r>
              <a:rPr lang="en-US" altLang="zh-CN" b="0" i="0" dirty="0">
                <a:solidFill>
                  <a:srgbClr val="010409"/>
                </a:solidFill>
                <a:effectLst/>
                <a:latin typeface="苹方字体" panose="020B0300000000000000" pitchFamily="34" charset="-122"/>
                <a:ea typeface="苹方字体" panose="020B0300000000000000" pitchFamily="34" charset="-122"/>
              </a:rPr>
              <a:t>6</a:t>
            </a:r>
            <a:r>
              <a:rPr lang="zh-CN" altLang="en-US" b="0" i="0" dirty="0">
                <a:solidFill>
                  <a:srgbClr val="010409"/>
                </a:solidFill>
                <a:effectLst/>
                <a:latin typeface="苹方字体" panose="020B0300000000000000" pitchFamily="34" charset="-122"/>
                <a:ea typeface="苹方字体" panose="020B0300000000000000" pitchFamily="34" charset="-122"/>
              </a:rPr>
              <a:t>个月完成。（</a:t>
            </a:r>
            <a:r>
              <a:rPr lang="en-US" altLang="zh-CN" b="0" i="0" dirty="0">
                <a:solidFill>
                  <a:srgbClr val="010409"/>
                </a:solidFill>
                <a:effectLst/>
                <a:latin typeface="苹方字体" panose="020B0300000000000000" pitchFamily="34" charset="-122"/>
                <a:ea typeface="苹方字体" panose="020B0300000000000000" pitchFamily="34" charset="-122"/>
              </a:rPr>
              <a:t>2025.12-2026.6</a:t>
            </a:r>
            <a:r>
              <a:rPr lang="zh-CN" altLang="en-US" b="0" i="0" dirty="0">
                <a:solidFill>
                  <a:srgbClr val="010409"/>
                </a:solidFill>
                <a:effectLst/>
                <a:latin typeface="苹方字体" panose="020B0300000000000000" pitchFamily="34" charset="-122"/>
                <a:ea typeface="苹方字体" panose="020B0300000000000000" pitchFamily="34" charset="-122"/>
              </a:rPr>
              <a:t>）</a:t>
            </a:r>
            <a:endParaRPr lang="zh-CN" altLang="en-US" b="1" dirty="0">
              <a:latin typeface="苹方字体" panose="020B0300000000000000" pitchFamily="34" charset="-122"/>
              <a:ea typeface="苹方字体" panose="020B0300000000000000" pitchFamily="34" charset="-122"/>
            </a:endParaRPr>
          </a:p>
        </p:txBody>
      </p:sp>
      <p:sp>
        <p:nvSpPr>
          <p:cNvPr id="36" name="流程图: 可选过程 35">
            <a:extLst>
              <a:ext uri="{FF2B5EF4-FFF2-40B4-BE49-F238E27FC236}">
                <a16:creationId xmlns:a16="http://schemas.microsoft.com/office/drawing/2014/main" id="{32D3DDEE-A4E2-4136-A782-30F07C3F54DD}"/>
              </a:ext>
            </a:extLst>
          </p:cNvPr>
          <p:cNvSpPr/>
          <p:nvPr/>
        </p:nvSpPr>
        <p:spPr>
          <a:xfrm>
            <a:off x="560663" y="5632631"/>
            <a:ext cx="11360309" cy="760777"/>
          </a:xfrm>
          <a:prstGeom prst="flowChartAlternateProcess">
            <a:avLst/>
          </a:prstGeom>
          <a:solidFill>
            <a:schemeClr val="bg1"/>
          </a:solidFill>
          <a:ln w="38100" cmpd="dbl">
            <a:solidFill>
              <a:schemeClr val="accent1">
                <a:shade val="50000"/>
              </a:schemeClr>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7" name="文本框 36">
            <a:extLst>
              <a:ext uri="{FF2B5EF4-FFF2-40B4-BE49-F238E27FC236}">
                <a16:creationId xmlns:a16="http://schemas.microsoft.com/office/drawing/2014/main" id="{7AB3D7BE-FE0E-4E0B-82C9-135F2D8AF4C1}"/>
              </a:ext>
            </a:extLst>
          </p:cNvPr>
          <p:cNvSpPr txBox="1"/>
          <p:nvPr/>
        </p:nvSpPr>
        <p:spPr>
          <a:xfrm>
            <a:off x="615060" y="5597357"/>
            <a:ext cx="11305912" cy="800219"/>
          </a:xfrm>
          <a:prstGeom prst="rect">
            <a:avLst/>
          </a:prstGeom>
          <a:noFill/>
        </p:spPr>
        <p:txBody>
          <a:bodyPr wrap="square" rtlCol="0">
            <a:spAutoFit/>
          </a:bodyPr>
          <a:lstStyle/>
          <a:p>
            <a:r>
              <a:rPr lang="zh-CN" altLang="en-US" b="1" kern="100" dirty="0">
                <a:solidFill>
                  <a:srgbClr val="133984"/>
                </a:solidFill>
                <a:latin typeface="微软雅黑" panose="020B0503020204020204" pitchFamily="34" charset="-122"/>
                <a:ea typeface="微软雅黑" panose="020B0503020204020204" pitchFamily="34" charset="-122"/>
              </a:rPr>
              <a:t>第</a:t>
            </a:r>
            <a:r>
              <a:rPr lang="zh-CN" altLang="en-US" sz="2800" b="1" kern="100" dirty="0">
                <a:solidFill>
                  <a:srgbClr val="FF0000"/>
                </a:solidFill>
                <a:latin typeface="微软雅黑" panose="020B0503020204020204" pitchFamily="34" charset="-122"/>
                <a:ea typeface="微软雅黑" panose="020B0503020204020204" pitchFamily="34" charset="-122"/>
              </a:rPr>
              <a:t>④</a:t>
            </a:r>
            <a:r>
              <a:rPr lang="zh-CN" altLang="en-US" b="1" kern="100" dirty="0">
                <a:solidFill>
                  <a:srgbClr val="133984"/>
                </a:solidFill>
                <a:latin typeface="微软雅黑" panose="020B0503020204020204" pitchFamily="34" charset="-122"/>
                <a:ea typeface="微软雅黑" panose="020B0503020204020204" pitchFamily="34" charset="-122"/>
              </a:rPr>
              <a:t>阶段：</a:t>
            </a:r>
            <a:r>
              <a:rPr lang="zh-CN" altLang="en-US" b="0" i="0" dirty="0">
                <a:solidFill>
                  <a:srgbClr val="010409"/>
                </a:solidFill>
                <a:effectLst/>
                <a:latin typeface="苹方字体" panose="020B0300000000000000" pitchFamily="34" charset="-122"/>
                <a:ea typeface="苹方字体" panose="020B0300000000000000" pitchFamily="34" charset="-122"/>
              </a:rPr>
              <a:t>对论文进行撰写，并进行整体文稿修改，查阅资料、补充细节，最终形成书面材料，装订成册，准备参加毕业答辩。预计</a:t>
            </a:r>
            <a:r>
              <a:rPr lang="en-US" altLang="zh-CN" b="0" i="0" dirty="0">
                <a:solidFill>
                  <a:srgbClr val="010409"/>
                </a:solidFill>
                <a:effectLst/>
                <a:latin typeface="苹方字体" panose="020B0300000000000000" pitchFamily="34" charset="-122"/>
                <a:ea typeface="苹方字体" panose="020B0300000000000000" pitchFamily="34" charset="-122"/>
              </a:rPr>
              <a:t>6</a:t>
            </a:r>
            <a:r>
              <a:rPr lang="zh-CN" altLang="en-US" b="0" i="0" dirty="0">
                <a:solidFill>
                  <a:srgbClr val="010409"/>
                </a:solidFill>
                <a:effectLst/>
                <a:latin typeface="苹方字体" panose="020B0300000000000000" pitchFamily="34" charset="-122"/>
                <a:ea typeface="苹方字体" panose="020B0300000000000000" pitchFamily="34" charset="-122"/>
              </a:rPr>
              <a:t>个月完成。（</a:t>
            </a:r>
            <a:r>
              <a:rPr lang="en-US" altLang="zh-CN" b="0" i="0" dirty="0">
                <a:solidFill>
                  <a:srgbClr val="010409"/>
                </a:solidFill>
                <a:effectLst/>
                <a:latin typeface="苹方字体" panose="020B0300000000000000" pitchFamily="34" charset="-122"/>
                <a:ea typeface="苹方字体" panose="020B0300000000000000" pitchFamily="34" charset="-122"/>
              </a:rPr>
              <a:t>2026.6-2027.1</a:t>
            </a:r>
            <a:r>
              <a:rPr lang="zh-CN" altLang="en-US" b="0" i="0" dirty="0">
                <a:solidFill>
                  <a:srgbClr val="010409"/>
                </a:solidFill>
                <a:effectLst/>
                <a:latin typeface="苹方字体" panose="020B0300000000000000" pitchFamily="34" charset="-122"/>
                <a:ea typeface="苹方字体" panose="020B0300000000000000" pitchFamily="34" charset="-122"/>
              </a:rPr>
              <a:t>）</a:t>
            </a:r>
            <a:endParaRPr lang="zh-CN" altLang="en-US" b="1" dirty="0">
              <a:latin typeface="苹方字体" panose="020B0300000000000000" pitchFamily="34" charset="-122"/>
              <a:ea typeface="苹方字体" panose="020B0300000000000000" pitchFamily="34" charset="-122"/>
            </a:endParaRPr>
          </a:p>
        </p:txBody>
      </p:sp>
    </p:spTree>
    <p:extLst>
      <p:ext uri="{BB962C8B-B14F-4D97-AF65-F5344CB8AC3E}">
        <p14:creationId xmlns:p14="http://schemas.microsoft.com/office/powerpoint/2010/main" val="2440163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59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59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8" name="文本框 7"/>
          <p:cNvSpPr txBox="1"/>
          <p:nvPr/>
        </p:nvSpPr>
        <p:spPr>
          <a:xfrm>
            <a:off x="5491220" y="3502820"/>
            <a:ext cx="120956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rPr>
              <a:t>Part.06</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000" b="1" spc="600" dirty="0">
                <a:solidFill>
                  <a:srgbClr val="133984"/>
                </a:solidFill>
                <a:latin typeface="微软雅黑" panose="020B0503020204020204" pitchFamily="34" charset="-122"/>
                <a:ea typeface="微软雅黑" panose="020B0503020204020204" pitchFamily="34" charset="-122"/>
              </a:rPr>
              <a:t>参考文献</a:t>
            </a:r>
            <a:endParaRPr kumimoji="0" lang="zh-CN" altLang="en-US" sz="4000" b="1" i="0" u="none" strike="noStrike" kern="1200" cap="none" spc="60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276165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
            <a:extLst>
              <a:ext uri="{FF2B5EF4-FFF2-40B4-BE49-F238E27FC236}">
                <a16:creationId xmlns:a16="http://schemas.microsoft.com/office/drawing/2014/main" id="{DCFD379E-F924-487B-8D39-C01F7D835B70}"/>
              </a:ext>
            </a:extLst>
          </p:cNvPr>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48" name="直接连接符 47">
            <a:extLst>
              <a:ext uri="{FF2B5EF4-FFF2-40B4-BE49-F238E27FC236}">
                <a16:creationId xmlns:a16="http://schemas.microsoft.com/office/drawing/2014/main" id="{D1A65434-DAB3-464E-A15F-8702D7EF2111}"/>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9F9826D5-7B4B-40F5-93BE-C16D10CF54D7}"/>
              </a:ext>
            </a:extLst>
          </p:cNvPr>
          <p:cNvSpPr/>
          <p:nvPr/>
        </p:nvSpPr>
        <p:spPr>
          <a:xfrm>
            <a:off x="10870658" y="-16845"/>
            <a:ext cx="1334678"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50" name="直接连接符 49">
            <a:extLst>
              <a:ext uri="{FF2B5EF4-FFF2-40B4-BE49-F238E27FC236}">
                <a16:creationId xmlns:a16="http://schemas.microsoft.com/office/drawing/2014/main" id="{54157203-B9DE-4A5E-8ED4-3AC3A65C109A}"/>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TextBox 6">
            <a:extLst>
              <a:ext uri="{FF2B5EF4-FFF2-40B4-BE49-F238E27FC236}">
                <a16:creationId xmlns:a16="http://schemas.microsoft.com/office/drawing/2014/main" id="{CC980EBA-AD91-40DC-A736-BA47977ED154}"/>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52" name="TextBox 7">
            <a:extLst>
              <a:ext uri="{FF2B5EF4-FFF2-40B4-BE49-F238E27FC236}">
                <a16:creationId xmlns:a16="http://schemas.microsoft.com/office/drawing/2014/main" id="{1AAF5C4C-EDAB-45F0-80CD-9378D1A7761C}"/>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53" name="TextBox 9">
            <a:extLst>
              <a:ext uri="{FF2B5EF4-FFF2-40B4-BE49-F238E27FC236}">
                <a16:creationId xmlns:a16="http://schemas.microsoft.com/office/drawing/2014/main" id="{9CA5A33C-37A3-47C8-BC79-7A15A683BB04}"/>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研究内容和依据</a:t>
            </a:r>
          </a:p>
        </p:txBody>
      </p:sp>
      <p:sp>
        <p:nvSpPr>
          <p:cNvPr id="54" name="TextBox 10">
            <a:extLst>
              <a:ext uri="{FF2B5EF4-FFF2-40B4-BE49-F238E27FC236}">
                <a16:creationId xmlns:a16="http://schemas.microsoft.com/office/drawing/2014/main" id="{4B8836A2-9EA9-4CEE-9D51-598BE20D2E78}"/>
              </a:ext>
            </a:extLst>
          </p:cNvPr>
          <p:cNvSpPr txBox="1"/>
          <p:nvPr/>
        </p:nvSpPr>
        <p:spPr>
          <a:xfrm>
            <a:off x="8267200" y="225083"/>
            <a:ext cx="1048157"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创新点</a:t>
            </a:r>
          </a:p>
        </p:txBody>
      </p:sp>
      <p:sp>
        <p:nvSpPr>
          <p:cNvPr id="55" name="TextBox 11">
            <a:extLst>
              <a:ext uri="{FF2B5EF4-FFF2-40B4-BE49-F238E27FC236}">
                <a16:creationId xmlns:a16="http://schemas.microsoft.com/office/drawing/2014/main" id="{057BD22B-729E-481C-87BF-31B740CA167E}"/>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论文工作计划</a:t>
            </a:r>
          </a:p>
        </p:txBody>
      </p:sp>
      <p:cxnSp>
        <p:nvCxnSpPr>
          <p:cNvPr id="56" name="直接连接符 55">
            <a:extLst>
              <a:ext uri="{FF2B5EF4-FFF2-40B4-BE49-F238E27FC236}">
                <a16:creationId xmlns:a16="http://schemas.microsoft.com/office/drawing/2014/main" id="{8CA9AC74-D81D-4BCA-AFBA-AC407066C675}"/>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11085385-C411-4280-AAEA-4ECDFF4615CD}"/>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TextBox 7">
            <a:extLst>
              <a:ext uri="{FF2B5EF4-FFF2-40B4-BE49-F238E27FC236}">
                <a16:creationId xmlns:a16="http://schemas.microsoft.com/office/drawing/2014/main" id="{A15B93CE-5E1E-4AE4-840F-B7DEEA5F70D4}"/>
              </a:ext>
            </a:extLst>
          </p:cNvPr>
          <p:cNvSpPr txBox="1"/>
          <p:nvPr/>
        </p:nvSpPr>
        <p:spPr>
          <a:xfrm>
            <a:off x="11055914" y="234807"/>
            <a:ext cx="960606"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参考文献</a:t>
            </a:r>
          </a:p>
        </p:txBody>
      </p:sp>
      <p:pic>
        <p:nvPicPr>
          <p:cNvPr id="12" name="图片 11" descr="沈阳建筑大学抠图"/>
          <p:cNvPicPr>
            <a:picLocks noChangeAspect="1"/>
          </p:cNvPicPr>
          <p:nvPr/>
        </p:nvPicPr>
        <p:blipFill>
          <a:blip r:embed="rId3"/>
          <a:stretch>
            <a:fillRect/>
          </a:stretch>
        </p:blipFill>
        <p:spPr>
          <a:xfrm>
            <a:off x="-15875" y="-835265"/>
            <a:ext cx="3274695" cy="2364105"/>
          </a:xfrm>
          <a:prstGeom prst="rect">
            <a:avLst/>
          </a:prstGeom>
        </p:spPr>
      </p:pic>
      <p:sp>
        <p:nvSpPr>
          <p:cNvPr id="16" name="文本框 15">
            <a:extLst>
              <a:ext uri="{FF2B5EF4-FFF2-40B4-BE49-F238E27FC236}">
                <a16:creationId xmlns:a16="http://schemas.microsoft.com/office/drawing/2014/main" id="{9339C951-34C3-4C24-A15C-77D388D42020}"/>
              </a:ext>
            </a:extLst>
          </p:cNvPr>
          <p:cNvSpPr txBox="1"/>
          <p:nvPr/>
        </p:nvSpPr>
        <p:spPr>
          <a:xfrm>
            <a:off x="93137" y="1102122"/>
            <a:ext cx="12032395" cy="5078313"/>
          </a:xfrm>
          <a:prstGeom prst="rect">
            <a:avLst/>
          </a:prstGeom>
          <a:noFill/>
        </p:spPr>
        <p:txBody>
          <a:bodyPr wrap="square">
            <a:spAutoFit/>
          </a:bodyPr>
          <a:lstStyle/>
          <a:p>
            <a:pPr indent="304800" algn="just"/>
            <a:r>
              <a:rPr lang="en-US" altLang="zh-CN" sz="1800" kern="100" dirty="0">
                <a:effectLst/>
                <a:latin typeface="Times New Roman" panose="02020603050405020304" pitchFamily="18" charset="0"/>
                <a:ea typeface="宋体" panose="02010600030101010101" pitchFamily="2" charset="-122"/>
              </a:rPr>
              <a:t>[1]	Hu W, Deng Z, Cao D, et al. Probabilistic Lane-Change Decision-Making and Planning for Autonomous Heavy Vehicles[J]. IEEE/CAA Journal of </a:t>
            </a:r>
            <a:r>
              <a:rPr lang="en-US" altLang="zh-CN" sz="1800" kern="100" dirty="0" err="1">
                <a:effectLst/>
                <a:latin typeface="Times New Roman" panose="02020603050405020304" pitchFamily="18" charset="0"/>
                <a:ea typeface="宋体" panose="02010600030101010101" pitchFamily="2" charset="-122"/>
              </a:rPr>
              <a:t>Automatica</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Sinica</a:t>
            </a:r>
            <a:r>
              <a:rPr lang="en-US" altLang="zh-CN" sz="1800" kern="100" dirty="0">
                <a:effectLst/>
                <a:latin typeface="Times New Roman" panose="02020603050405020304" pitchFamily="18" charset="0"/>
                <a:ea typeface="宋体" panose="02010600030101010101" pitchFamily="2" charset="-122"/>
              </a:rPr>
              <a:t>, 2022, 9(12): 2161-2173.</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[2]	Bi Z, Guo X, Wang J, </a:t>
            </a:r>
            <a:r>
              <a:rPr lang="zh-CN" altLang="zh-CN" sz="1800" kern="100" dirty="0">
                <a:effectLst/>
                <a:latin typeface="Times New Roman" panose="02020603050405020304" pitchFamily="18" charset="0"/>
                <a:ea typeface="宋体" panose="02010600030101010101" pitchFamily="2" charset="-122"/>
              </a:rPr>
              <a:t>等</a:t>
            </a:r>
            <a:r>
              <a:rPr lang="en-US" altLang="zh-CN" sz="1800" kern="100" dirty="0">
                <a:effectLst/>
                <a:latin typeface="Times New Roman" panose="02020603050405020304" pitchFamily="18" charset="0"/>
                <a:ea typeface="宋体" panose="02010600030101010101" pitchFamily="2" charset="-122"/>
              </a:rPr>
              <a:t>. Truck-Drone Delivery Optimization Based on Multi-Agent Reinforcement Learning[J]. Drones, 2024, 8(1): 27.</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[3]	</a:t>
            </a:r>
            <a:r>
              <a:rPr lang="zh-CN" altLang="zh-CN" sz="1800" kern="100" dirty="0">
                <a:effectLst/>
                <a:latin typeface="Times New Roman" panose="02020603050405020304" pitchFamily="18" charset="0"/>
                <a:ea typeface="宋体" panose="02010600030101010101" pitchFamily="2" charset="-122"/>
              </a:rPr>
              <a:t>王旭</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张春波</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兰翔</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等</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通信时延对自动驾驶车队稳定性的影响研究</a:t>
            </a:r>
            <a:r>
              <a:rPr lang="en-US" altLang="zh-CN" sz="1800" kern="100" dirty="0">
                <a:effectLst/>
                <a:latin typeface="Times New Roman" panose="02020603050405020304" pitchFamily="18" charset="0"/>
                <a:ea typeface="宋体" panose="02010600030101010101" pitchFamily="2" charset="-122"/>
              </a:rPr>
              <a:t>[J]. </a:t>
            </a:r>
            <a:r>
              <a:rPr lang="zh-CN" altLang="zh-CN" sz="1800" kern="100" dirty="0">
                <a:effectLst/>
                <a:latin typeface="Times New Roman" panose="02020603050405020304" pitchFamily="18" charset="0"/>
                <a:ea typeface="宋体" panose="02010600030101010101" pitchFamily="2" charset="-122"/>
              </a:rPr>
              <a:t>石家庄铁道大学学报（自然科学版）</a:t>
            </a:r>
            <a:r>
              <a:rPr lang="en-US" altLang="zh-CN" sz="1800" kern="100" dirty="0">
                <a:effectLst/>
                <a:latin typeface="Times New Roman" panose="02020603050405020304" pitchFamily="18" charset="0"/>
                <a:ea typeface="宋体" panose="02010600030101010101" pitchFamily="2" charset="-122"/>
              </a:rPr>
              <a:t>, 2024, 37(4): 77-83.</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[4]	Ren Y, Wu C, So D K C, et al. DRL-Based Joint Aggregation Frequency and Edge Association for Energy-Efficient Hierarchical Federated Learning[J]. IEEE Transactions on Wireless Communications, 2025, 24(8): 6841-6856.</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[5]	Liang Z, Cao J, Jiang S, et al. Hierarchical Reinforcement Learning with Partner Modeling for Distributed Multi-agent Cooperation[J]. IEEE Transactions on Parallel and Distributed Systems, 2024: 1-13.</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[6]	</a:t>
            </a:r>
            <a:r>
              <a:rPr lang="zh-CN" altLang="zh-CN" sz="1800" kern="100" dirty="0">
                <a:effectLst/>
                <a:latin typeface="Times New Roman" panose="02020603050405020304" pitchFamily="18" charset="0"/>
                <a:ea typeface="宋体" panose="02010600030101010101" pitchFamily="2" charset="-122"/>
              </a:rPr>
              <a:t>刘志鹏</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基于</a:t>
            </a:r>
            <a:r>
              <a:rPr lang="en-US" altLang="zh-CN" sz="1800" kern="100" dirty="0">
                <a:effectLst/>
                <a:latin typeface="Times New Roman" panose="02020603050405020304" pitchFamily="18" charset="0"/>
                <a:ea typeface="宋体" panose="02010600030101010101" pitchFamily="2" charset="-122"/>
              </a:rPr>
              <a:t>C-V2X</a:t>
            </a:r>
            <a:r>
              <a:rPr lang="zh-CN" altLang="zh-CN" sz="1800" kern="100" dirty="0">
                <a:effectLst/>
                <a:latin typeface="Times New Roman" panose="02020603050405020304" pitchFamily="18" charset="0"/>
                <a:ea typeface="宋体" panose="02010600030101010101" pitchFamily="2" charset="-122"/>
              </a:rPr>
              <a:t>的车队协同资源分配方案研究与实现</a:t>
            </a:r>
            <a:r>
              <a:rPr lang="en-US" altLang="zh-CN" sz="1800" kern="100" dirty="0">
                <a:effectLst/>
                <a:latin typeface="Times New Roman" panose="02020603050405020304" pitchFamily="18" charset="0"/>
                <a:ea typeface="宋体" panose="02010600030101010101" pitchFamily="2" charset="-122"/>
              </a:rPr>
              <a:t>[D]. </a:t>
            </a:r>
            <a:r>
              <a:rPr lang="zh-CN" altLang="zh-CN" sz="1800" kern="100" dirty="0">
                <a:effectLst/>
                <a:latin typeface="Times New Roman" panose="02020603050405020304" pitchFamily="18" charset="0"/>
                <a:ea typeface="宋体" panose="02010600030101010101" pitchFamily="2" charset="-122"/>
              </a:rPr>
              <a:t>北京</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北京邮电大学</a:t>
            </a:r>
            <a:r>
              <a:rPr lang="en-US" altLang="zh-CN" sz="1800" kern="100" dirty="0">
                <a:effectLst/>
                <a:latin typeface="Times New Roman" panose="02020603050405020304" pitchFamily="18" charset="0"/>
                <a:ea typeface="宋体" panose="02010600030101010101" pitchFamily="2" charset="-122"/>
              </a:rPr>
              <a:t>, 2024.</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[7]	</a:t>
            </a:r>
            <a:r>
              <a:rPr lang="zh-CN" altLang="zh-CN" sz="1800" kern="100" dirty="0">
                <a:effectLst/>
                <a:latin typeface="Times New Roman" panose="02020603050405020304" pitchFamily="18" charset="0"/>
                <a:ea typeface="宋体" panose="02010600030101010101" pitchFamily="2" charset="-122"/>
              </a:rPr>
              <a:t>况申旭</a:t>
            </a:r>
            <a:r>
              <a:rPr lang="en-US" altLang="zh-CN" sz="1800" kern="100" dirty="0">
                <a:effectLst/>
                <a:latin typeface="Times New Roman" panose="02020603050405020304" pitchFamily="18" charset="0"/>
                <a:ea typeface="宋体" panose="02010600030101010101" pitchFamily="2" charset="-122"/>
              </a:rPr>
              <a:t>. NR-V2X</a:t>
            </a:r>
            <a:r>
              <a:rPr lang="zh-CN" altLang="zh-CN" sz="1800" kern="100" dirty="0">
                <a:effectLst/>
                <a:latin typeface="Times New Roman" panose="02020603050405020304" pitchFamily="18" charset="0"/>
                <a:ea typeface="宋体" panose="02010600030101010101" pitchFamily="2" charset="-122"/>
              </a:rPr>
              <a:t>侧链通信无线资源分配关键技术研究</a:t>
            </a:r>
            <a:r>
              <a:rPr lang="en-US" altLang="zh-CN" sz="1800" kern="100" dirty="0">
                <a:effectLst/>
                <a:latin typeface="Times New Roman" panose="02020603050405020304" pitchFamily="18" charset="0"/>
                <a:ea typeface="宋体" panose="02010600030101010101" pitchFamily="2" charset="-122"/>
              </a:rPr>
              <a:t>[D]. </a:t>
            </a:r>
            <a:r>
              <a:rPr lang="zh-CN" altLang="zh-CN" sz="1800" kern="100" dirty="0">
                <a:effectLst/>
                <a:latin typeface="Times New Roman" panose="02020603050405020304" pitchFamily="18" charset="0"/>
                <a:ea typeface="宋体" panose="02010600030101010101" pitchFamily="2" charset="-122"/>
              </a:rPr>
              <a:t>上海</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东华大学</a:t>
            </a:r>
            <a:r>
              <a:rPr lang="en-US" altLang="zh-CN" sz="1800" kern="100" dirty="0">
                <a:effectLst/>
                <a:latin typeface="Times New Roman" panose="02020603050405020304" pitchFamily="18" charset="0"/>
                <a:ea typeface="宋体" panose="02010600030101010101" pitchFamily="2" charset="-122"/>
              </a:rPr>
              <a:t>, 2025.</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[8]	</a:t>
            </a:r>
            <a:r>
              <a:rPr lang="zh-CN" altLang="zh-CN" sz="1800" kern="100" dirty="0">
                <a:effectLst/>
                <a:latin typeface="Times New Roman" panose="02020603050405020304" pitchFamily="18" charset="0"/>
                <a:ea typeface="宋体" panose="02010600030101010101" pitchFamily="2" charset="-122"/>
              </a:rPr>
              <a:t>勉海荣</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焦小刚</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毕利</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基于图注意力强化学习的电动自动驾驶运营车队实时控制</a:t>
            </a:r>
            <a:r>
              <a:rPr lang="en-US" altLang="zh-CN" sz="1800" kern="100" dirty="0">
                <a:effectLst/>
                <a:latin typeface="Times New Roman" panose="02020603050405020304" pitchFamily="18" charset="0"/>
                <a:ea typeface="宋体" panose="02010600030101010101" pitchFamily="2" charset="-122"/>
              </a:rPr>
              <a:t>[J]. </a:t>
            </a:r>
            <a:r>
              <a:rPr lang="zh-CN" altLang="zh-CN" sz="1800" kern="100" dirty="0">
                <a:effectLst/>
                <a:latin typeface="Times New Roman" panose="02020603050405020304" pitchFamily="18" charset="0"/>
                <a:ea typeface="宋体" panose="02010600030101010101" pitchFamily="2" charset="-122"/>
              </a:rPr>
              <a:t>交通运输工程与信息学报</a:t>
            </a:r>
            <a:r>
              <a:rPr lang="en-US" altLang="zh-CN" sz="1800" kern="100" dirty="0">
                <a:effectLst/>
                <a:latin typeface="Times New Roman" panose="02020603050405020304" pitchFamily="18" charset="0"/>
                <a:ea typeface="宋体" panose="02010600030101010101" pitchFamily="2" charset="-122"/>
              </a:rPr>
              <a:t>, 2025.</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[9]	</a:t>
            </a:r>
            <a:r>
              <a:rPr lang="zh-CN" altLang="zh-CN" sz="1800" kern="100" dirty="0">
                <a:effectLst/>
                <a:latin typeface="Times New Roman" panose="02020603050405020304" pitchFamily="18" charset="0"/>
                <a:ea typeface="宋体" panose="02010600030101010101" pitchFamily="2" charset="-122"/>
              </a:rPr>
              <a:t>邓辉</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张学艳</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胡金玲</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等</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基于车联网的车辆编队标准现状及展望</a:t>
            </a:r>
            <a:r>
              <a:rPr lang="en-US" altLang="zh-CN" sz="1800" kern="100" dirty="0">
                <a:effectLst/>
                <a:latin typeface="Times New Roman" panose="02020603050405020304" pitchFamily="18" charset="0"/>
                <a:ea typeface="宋体" panose="02010600030101010101" pitchFamily="2" charset="-122"/>
              </a:rPr>
              <a:t>[J]. </a:t>
            </a:r>
            <a:r>
              <a:rPr lang="zh-CN" altLang="zh-CN" sz="1800" kern="100" dirty="0">
                <a:effectLst/>
                <a:latin typeface="Times New Roman" panose="02020603050405020304" pitchFamily="18" charset="0"/>
                <a:ea typeface="宋体" panose="02010600030101010101" pitchFamily="2" charset="-122"/>
              </a:rPr>
              <a:t>移动通信</a:t>
            </a:r>
            <a:r>
              <a:rPr lang="en-US" altLang="zh-CN" sz="1800" kern="100" dirty="0">
                <a:effectLst/>
                <a:latin typeface="Times New Roman" panose="02020603050405020304" pitchFamily="18" charset="0"/>
                <a:ea typeface="宋体" panose="02010600030101010101" pitchFamily="2" charset="-122"/>
              </a:rPr>
              <a:t>, 2022, 46(8): 86-91.</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[10]	Huang Y. Multimedia Tasks-Oriented Edge Computing Offloading Scheme Based on Graph Neural Network in Vehicular Networks[J]. IEEE Access, 2025, 13: 9780-9791.</a:t>
            </a:r>
            <a:endParaRPr lang="zh-CN" altLang="zh-CN" sz="1800" kern="100" dirty="0">
              <a:effectLst/>
              <a:latin typeface="Times New Roman" panose="02020603050405020304" pitchFamily="18" charset="0"/>
              <a:ea typeface="宋体" panose="02010600030101010101" pitchFamily="2" charset="-122"/>
            </a:endParaRPr>
          </a:p>
          <a:p>
            <a:pPr algn="just"/>
            <a:endParaRPr lang="zh-CN" altLang="zh-CN" sz="18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390556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
            <a:extLst>
              <a:ext uri="{FF2B5EF4-FFF2-40B4-BE49-F238E27FC236}">
                <a16:creationId xmlns:a16="http://schemas.microsoft.com/office/drawing/2014/main" id="{DCFD379E-F924-487B-8D39-C01F7D835B70}"/>
              </a:ext>
            </a:extLst>
          </p:cNvPr>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48" name="直接连接符 47">
            <a:extLst>
              <a:ext uri="{FF2B5EF4-FFF2-40B4-BE49-F238E27FC236}">
                <a16:creationId xmlns:a16="http://schemas.microsoft.com/office/drawing/2014/main" id="{D1A65434-DAB3-464E-A15F-8702D7EF2111}"/>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9F9826D5-7B4B-40F5-93BE-C16D10CF54D7}"/>
              </a:ext>
            </a:extLst>
          </p:cNvPr>
          <p:cNvSpPr/>
          <p:nvPr/>
        </p:nvSpPr>
        <p:spPr>
          <a:xfrm>
            <a:off x="10870658" y="-16845"/>
            <a:ext cx="1334678"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50" name="直接连接符 49">
            <a:extLst>
              <a:ext uri="{FF2B5EF4-FFF2-40B4-BE49-F238E27FC236}">
                <a16:creationId xmlns:a16="http://schemas.microsoft.com/office/drawing/2014/main" id="{54157203-B9DE-4A5E-8ED4-3AC3A65C109A}"/>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TextBox 6">
            <a:extLst>
              <a:ext uri="{FF2B5EF4-FFF2-40B4-BE49-F238E27FC236}">
                <a16:creationId xmlns:a16="http://schemas.microsoft.com/office/drawing/2014/main" id="{CC980EBA-AD91-40DC-A736-BA47977ED154}"/>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52" name="TextBox 7">
            <a:extLst>
              <a:ext uri="{FF2B5EF4-FFF2-40B4-BE49-F238E27FC236}">
                <a16:creationId xmlns:a16="http://schemas.microsoft.com/office/drawing/2014/main" id="{1AAF5C4C-EDAB-45F0-80CD-9378D1A7761C}"/>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53" name="TextBox 9">
            <a:extLst>
              <a:ext uri="{FF2B5EF4-FFF2-40B4-BE49-F238E27FC236}">
                <a16:creationId xmlns:a16="http://schemas.microsoft.com/office/drawing/2014/main" id="{9CA5A33C-37A3-47C8-BC79-7A15A683BB04}"/>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研究内容和依据</a:t>
            </a:r>
          </a:p>
        </p:txBody>
      </p:sp>
      <p:sp>
        <p:nvSpPr>
          <p:cNvPr id="54" name="TextBox 10">
            <a:extLst>
              <a:ext uri="{FF2B5EF4-FFF2-40B4-BE49-F238E27FC236}">
                <a16:creationId xmlns:a16="http://schemas.microsoft.com/office/drawing/2014/main" id="{4B8836A2-9EA9-4CEE-9D51-598BE20D2E78}"/>
              </a:ext>
            </a:extLst>
          </p:cNvPr>
          <p:cNvSpPr txBox="1"/>
          <p:nvPr/>
        </p:nvSpPr>
        <p:spPr>
          <a:xfrm>
            <a:off x="8267200" y="225083"/>
            <a:ext cx="1048157"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创新点</a:t>
            </a:r>
          </a:p>
        </p:txBody>
      </p:sp>
      <p:sp>
        <p:nvSpPr>
          <p:cNvPr id="55" name="TextBox 11">
            <a:extLst>
              <a:ext uri="{FF2B5EF4-FFF2-40B4-BE49-F238E27FC236}">
                <a16:creationId xmlns:a16="http://schemas.microsoft.com/office/drawing/2014/main" id="{057BD22B-729E-481C-87BF-31B740CA167E}"/>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论文工作计划</a:t>
            </a:r>
          </a:p>
        </p:txBody>
      </p:sp>
      <p:cxnSp>
        <p:nvCxnSpPr>
          <p:cNvPr id="56" name="直接连接符 55">
            <a:extLst>
              <a:ext uri="{FF2B5EF4-FFF2-40B4-BE49-F238E27FC236}">
                <a16:creationId xmlns:a16="http://schemas.microsoft.com/office/drawing/2014/main" id="{8CA9AC74-D81D-4BCA-AFBA-AC407066C675}"/>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11085385-C411-4280-AAEA-4ECDFF4615CD}"/>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TextBox 7">
            <a:extLst>
              <a:ext uri="{FF2B5EF4-FFF2-40B4-BE49-F238E27FC236}">
                <a16:creationId xmlns:a16="http://schemas.microsoft.com/office/drawing/2014/main" id="{A15B93CE-5E1E-4AE4-840F-B7DEEA5F70D4}"/>
              </a:ext>
            </a:extLst>
          </p:cNvPr>
          <p:cNvSpPr txBox="1"/>
          <p:nvPr/>
        </p:nvSpPr>
        <p:spPr>
          <a:xfrm>
            <a:off x="11055914" y="234807"/>
            <a:ext cx="960606"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参考文献</a:t>
            </a:r>
          </a:p>
        </p:txBody>
      </p:sp>
      <p:pic>
        <p:nvPicPr>
          <p:cNvPr id="12" name="图片 11" descr="沈阳建筑大学抠图"/>
          <p:cNvPicPr>
            <a:picLocks noChangeAspect="1"/>
          </p:cNvPicPr>
          <p:nvPr/>
        </p:nvPicPr>
        <p:blipFill>
          <a:blip r:embed="rId3"/>
          <a:stretch>
            <a:fillRect/>
          </a:stretch>
        </p:blipFill>
        <p:spPr>
          <a:xfrm>
            <a:off x="-15875" y="-835265"/>
            <a:ext cx="3274695" cy="2364105"/>
          </a:xfrm>
          <a:prstGeom prst="rect">
            <a:avLst/>
          </a:prstGeom>
        </p:spPr>
      </p:pic>
      <p:sp>
        <p:nvSpPr>
          <p:cNvPr id="17" name="文本框 16">
            <a:extLst>
              <a:ext uri="{FF2B5EF4-FFF2-40B4-BE49-F238E27FC236}">
                <a16:creationId xmlns:a16="http://schemas.microsoft.com/office/drawing/2014/main" id="{B79A7F07-CEA1-426D-AEF7-FD006A646CD8}"/>
              </a:ext>
            </a:extLst>
          </p:cNvPr>
          <p:cNvSpPr txBox="1"/>
          <p:nvPr/>
        </p:nvSpPr>
        <p:spPr>
          <a:xfrm>
            <a:off x="443975" y="940597"/>
            <a:ext cx="11330719" cy="5632311"/>
          </a:xfrm>
          <a:prstGeom prst="rect">
            <a:avLst/>
          </a:prstGeom>
          <a:noFill/>
        </p:spPr>
        <p:txBody>
          <a:bodyPr wrap="square">
            <a:spAutoFit/>
          </a:bodyPr>
          <a:lstStyle/>
          <a:p>
            <a:pPr indent="304800" algn="just"/>
            <a:r>
              <a:rPr lang="en-US" altLang="zh-CN" sz="1800" kern="100" dirty="0">
                <a:effectLst/>
                <a:latin typeface="Times New Roman" panose="02020603050405020304" pitchFamily="18" charset="0"/>
                <a:ea typeface="宋体" panose="02010600030101010101" pitchFamily="2" charset="-122"/>
              </a:rPr>
              <a:t>[11]	Fan B, </a:t>
            </a:r>
            <a:r>
              <a:rPr lang="en-US" altLang="zh-CN" sz="1800" kern="100" dirty="0" err="1">
                <a:effectLst/>
                <a:latin typeface="Times New Roman" panose="02020603050405020304" pitchFamily="18" charset="0"/>
                <a:ea typeface="宋体" panose="02010600030101010101" pitchFamily="2" charset="-122"/>
              </a:rPr>
              <a:t>Xie</a:t>
            </a:r>
            <a:r>
              <a:rPr lang="en-US" altLang="zh-CN" sz="1800" kern="100" dirty="0">
                <a:effectLst/>
                <a:latin typeface="Times New Roman" panose="02020603050405020304" pitchFamily="18" charset="0"/>
                <a:ea typeface="宋体" panose="02010600030101010101" pitchFamily="2" charset="-122"/>
              </a:rPr>
              <a:t> H, Li T. Platoon communication power control under V2V data uncertainty: a robust DRL approach[J]. IEEE Transactions on Intelligent Transportation Systems, 2025: 1-15.</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[12]	</a:t>
            </a:r>
            <a:r>
              <a:rPr lang="en-US" altLang="zh-CN" sz="1800" kern="100" dirty="0" err="1">
                <a:effectLst/>
                <a:latin typeface="Times New Roman" panose="02020603050405020304" pitchFamily="18" charset="0"/>
                <a:ea typeface="宋体" panose="02010600030101010101" pitchFamily="2" charset="-122"/>
              </a:rPr>
              <a:t>Lv</a:t>
            </a:r>
            <a:r>
              <a:rPr lang="en-US" altLang="zh-CN" sz="1800" kern="100" dirty="0">
                <a:effectLst/>
                <a:latin typeface="Times New Roman" panose="02020603050405020304" pitchFamily="18" charset="0"/>
                <a:ea typeface="宋体" panose="02010600030101010101" pitchFamily="2" charset="-122"/>
              </a:rPr>
              <a:t> K, Pei X, Chen C, </a:t>
            </a:r>
            <a:r>
              <a:rPr lang="zh-CN" altLang="zh-CN" sz="1800" kern="100" dirty="0">
                <a:effectLst/>
                <a:latin typeface="Times New Roman" panose="02020603050405020304" pitchFamily="18" charset="0"/>
                <a:ea typeface="宋体" panose="02010600030101010101" pitchFamily="2" charset="-122"/>
              </a:rPr>
              <a:t>等</a:t>
            </a:r>
            <a:r>
              <a:rPr lang="en-US" altLang="zh-CN" sz="1800" kern="100" dirty="0">
                <a:effectLst/>
                <a:latin typeface="Times New Roman" panose="02020603050405020304" pitchFamily="18" charset="0"/>
                <a:ea typeface="宋体" panose="02010600030101010101" pitchFamily="2" charset="-122"/>
              </a:rPr>
              <a:t>. A Safe and Efficient Lane Change Decision-Making Strategy of Autonomous Driving Based on Deep Reinforcement Learning[J]. Mathematics, 2022, 10(9): 1551.</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[13]	</a:t>
            </a:r>
            <a:r>
              <a:rPr lang="zh-CN" altLang="zh-CN" sz="1800" kern="100" dirty="0">
                <a:effectLst/>
                <a:latin typeface="Times New Roman" panose="02020603050405020304" pitchFamily="18" charset="0"/>
                <a:ea typeface="宋体" panose="02010600030101010101" pitchFamily="2" charset="-122"/>
              </a:rPr>
              <a:t>谢海文</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多智能体分布式协同任务分配策略设计</a:t>
            </a:r>
            <a:r>
              <a:rPr lang="en-US" altLang="zh-CN" sz="1800" kern="100" dirty="0">
                <a:effectLst/>
                <a:latin typeface="Times New Roman" panose="02020603050405020304" pitchFamily="18" charset="0"/>
                <a:ea typeface="宋体" panose="02010600030101010101" pitchFamily="2" charset="-122"/>
              </a:rPr>
              <a:t>[D]. </a:t>
            </a:r>
            <a:r>
              <a:rPr lang="zh-CN" altLang="zh-CN" sz="1800" kern="100" dirty="0">
                <a:effectLst/>
                <a:latin typeface="Times New Roman" panose="02020603050405020304" pitchFamily="18" charset="0"/>
                <a:ea typeface="宋体" panose="02010600030101010101" pitchFamily="2" charset="-122"/>
              </a:rPr>
              <a:t>北京</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北方工业大学</a:t>
            </a:r>
            <a:r>
              <a:rPr lang="en-US" altLang="zh-CN" sz="1800" kern="100" dirty="0">
                <a:effectLst/>
                <a:latin typeface="Times New Roman" panose="02020603050405020304" pitchFamily="18" charset="0"/>
                <a:ea typeface="宋体" panose="02010600030101010101" pitchFamily="2" charset="-122"/>
              </a:rPr>
              <a:t>, 2025.</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[14]	Learning Automata-Based AODV to Improve V2V Communication in A Dynamic Traffic Simulation[J]. International Journal of Intelligent Engineering and Systems, 2024, 17(1): 666-678.</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[15]	Huan Z, Sun J, Chen Z, et al. Resource allocation in V2X networks: a double deep Q-network approach with graph neural networks[J]. Computers, Materials &amp; Continua, 2025, 84(3): 5427-5443.</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[16]	</a:t>
            </a:r>
            <a:r>
              <a:rPr lang="zh-CN" altLang="zh-CN" sz="1800" kern="100" dirty="0">
                <a:effectLst/>
                <a:latin typeface="Times New Roman" panose="02020603050405020304" pitchFamily="18" charset="0"/>
                <a:ea typeface="宋体" panose="02010600030101010101" pitchFamily="2" charset="-122"/>
              </a:rPr>
              <a:t>蒋立伟</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王满江</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邱千</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等</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基于封闭场景自动驾驶的</a:t>
            </a:r>
            <a:r>
              <a:rPr lang="en-US" altLang="zh-CN" sz="1800" kern="100" dirty="0">
                <a:effectLst/>
                <a:latin typeface="Times New Roman" panose="02020603050405020304" pitchFamily="18" charset="0"/>
                <a:ea typeface="宋体" panose="02010600030101010101" pitchFamily="2" charset="-122"/>
              </a:rPr>
              <a:t>DDPG</a:t>
            </a:r>
            <a:r>
              <a:rPr lang="zh-CN" altLang="zh-CN" sz="1800" kern="100" dirty="0">
                <a:effectLst/>
                <a:latin typeface="Times New Roman" panose="02020603050405020304" pitchFamily="18" charset="0"/>
                <a:ea typeface="宋体" panose="02010600030101010101" pitchFamily="2" charset="-122"/>
              </a:rPr>
              <a:t>决策规划方法</a:t>
            </a:r>
            <a:r>
              <a:rPr lang="en-US" altLang="zh-CN" sz="1800" kern="100" dirty="0">
                <a:effectLst/>
                <a:latin typeface="Times New Roman" panose="02020603050405020304" pitchFamily="18" charset="0"/>
                <a:ea typeface="宋体" panose="02010600030101010101" pitchFamily="2" charset="-122"/>
              </a:rPr>
              <a:t>[J]. </a:t>
            </a:r>
            <a:r>
              <a:rPr lang="zh-CN" altLang="zh-CN" sz="1800" kern="100" dirty="0">
                <a:effectLst/>
                <a:latin typeface="Times New Roman" panose="02020603050405020304" pitchFamily="18" charset="0"/>
                <a:ea typeface="宋体" panose="02010600030101010101" pitchFamily="2" charset="-122"/>
              </a:rPr>
              <a:t>专用汽车</a:t>
            </a:r>
            <a:r>
              <a:rPr lang="en-US" altLang="zh-CN" sz="1800" kern="100" dirty="0">
                <a:effectLst/>
                <a:latin typeface="Times New Roman" panose="02020603050405020304" pitchFamily="18" charset="0"/>
                <a:ea typeface="宋体" panose="02010600030101010101" pitchFamily="2" charset="-122"/>
              </a:rPr>
              <a:t>, 2025(10): 54-58.</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[17]	Wang Y, Wu H, Li R. Deep graph reinforcement learning for mobile edge computing: challenges and solutions[J]. IEEE Network, 2024, 38(5): 314-323.</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[18]	Wang Z, Wu G, Barth M J. A review on cooperative adaptive cruise control (CACC) systems: architectures, controls, and applications[C]//2018 21st International Conference on Intelligent Transportation Systems (ITSC). Maui, HI: IEEE, 2018: 2884-2891.</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[19]	Ni H, Yu G, Chen P, et al. An Integrated Framework of Lateral and Longitudinal Behavior Decision-Making for Autonomous Driving Using Reinforcement Learning[J]. IEEE Transactions on Vehicular Technology, 2024, 73(7): 9706-9720.</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[20]	Yang H, He Y, Xu Y, et al. Collision avoidance for autonomous vehicles based on MPC with adaptive APF[J]. IEEE Transactions on Intelligent Vehicles, 2024, 9(1): 1559-1570.</a:t>
            </a:r>
            <a:endParaRPr lang="zh-CN" altLang="zh-CN" sz="18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199193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
            <a:extLst>
              <a:ext uri="{FF2B5EF4-FFF2-40B4-BE49-F238E27FC236}">
                <a16:creationId xmlns:a16="http://schemas.microsoft.com/office/drawing/2014/main" id="{DCFD379E-F924-487B-8D39-C01F7D835B70}"/>
              </a:ext>
            </a:extLst>
          </p:cNvPr>
          <p:cNvSpPr/>
          <p:nvPr/>
        </p:nvSpPr>
        <p:spPr>
          <a:xfrm>
            <a:off x="13335" y="-1651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48" name="直接连接符 47">
            <a:extLst>
              <a:ext uri="{FF2B5EF4-FFF2-40B4-BE49-F238E27FC236}">
                <a16:creationId xmlns:a16="http://schemas.microsoft.com/office/drawing/2014/main" id="{D1A65434-DAB3-464E-A15F-8702D7EF2111}"/>
              </a:ext>
            </a:extLst>
          </p:cNvPr>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9F9826D5-7B4B-40F5-93BE-C16D10CF54D7}"/>
              </a:ext>
            </a:extLst>
          </p:cNvPr>
          <p:cNvSpPr/>
          <p:nvPr/>
        </p:nvSpPr>
        <p:spPr>
          <a:xfrm>
            <a:off x="10870658" y="-16845"/>
            <a:ext cx="1334678" cy="792335"/>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cxnSp>
        <p:nvCxnSpPr>
          <p:cNvPr id="50" name="直接连接符 49">
            <a:extLst>
              <a:ext uri="{FF2B5EF4-FFF2-40B4-BE49-F238E27FC236}">
                <a16:creationId xmlns:a16="http://schemas.microsoft.com/office/drawing/2014/main" id="{54157203-B9DE-4A5E-8ED4-3AC3A65C109A}"/>
              </a:ext>
            </a:extLst>
          </p:cNvPr>
          <p:cNvCxnSpPr/>
          <p:nvPr/>
        </p:nvCxnSpPr>
        <p:spPr>
          <a:xfrm>
            <a:off x="9279348" y="285078"/>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 name="TextBox 6">
            <a:extLst>
              <a:ext uri="{FF2B5EF4-FFF2-40B4-BE49-F238E27FC236}">
                <a16:creationId xmlns:a16="http://schemas.microsoft.com/office/drawing/2014/main" id="{CC980EBA-AD91-40DC-A736-BA47977ED154}"/>
              </a:ext>
            </a:extLst>
          </p:cNvPr>
          <p:cNvSpPr txBox="1"/>
          <p:nvPr/>
        </p:nvSpPr>
        <p:spPr>
          <a:xfrm>
            <a:off x="3258820" y="215900"/>
            <a:ext cx="1576705"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研究背景及意义</a:t>
            </a:r>
          </a:p>
        </p:txBody>
      </p:sp>
      <p:sp>
        <p:nvSpPr>
          <p:cNvPr id="52" name="TextBox 7">
            <a:extLst>
              <a:ext uri="{FF2B5EF4-FFF2-40B4-BE49-F238E27FC236}">
                <a16:creationId xmlns:a16="http://schemas.microsoft.com/office/drawing/2014/main" id="{1AAF5C4C-EDAB-45F0-80CD-9378D1A7761C}"/>
              </a:ext>
            </a:extLst>
          </p:cNvPr>
          <p:cNvSpPr txBox="1"/>
          <p:nvPr/>
        </p:nvSpPr>
        <p:spPr>
          <a:xfrm>
            <a:off x="5076825" y="215900"/>
            <a:ext cx="1464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国内外研究现状</a:t>
            </a:r>
          </a:p>
        </p:txBody>
      </p:sp>
      <p:sp>
        <p:nvSpPr>
          <p:cNvPr id="53" name="TextBox 9">
            <a:extLst>
              <a:ext uri="{FF2B5EF4-FFF2-40B4-BE49-F238E27FC236}">
                <a16:creationId xmlns:a16="http://schemas.microsoft.com/office/drawing/2014/main" id="{9CA5A33C-37A3-47C8-BC79-7A15A683BB04}"/>
              </a:ext>
            </a:extLst>
          </p:cNvPr>
          <p:cNvSpPr txBox="1"/>
          <p:nvPr/>
        </p:nvSpPr>
        <p:spPr>
          <a:xfrm>
            <a:off x="6678363" y="225083"/>
            <a:ext cx="155067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研究内容和依据</a:t>
            </a:r>
          </a:p>
        </p:txBody>
      </p:sp>
      <p:sp>
        <p:nvSpPr>
          <p:cNvPr id="54" name="TextBox 10">
            <a:extLst>
              <a:ext uri="{FF2B5EF4-FFF2-40B4-BE49-F238E27FC236}">
                <a16:creationId xmlns:a16="http://schemas.microsoft.com/office/drawing/2014/main" id="{4B8836A2-9EA9-4CEE-9D51-598BE20D2E78}"/>
              </a:ext>
            </a:extLst>
          </p:cNvPr>
          <p:cNvSpPr txBox="1"/>
          <p:nvPr/>
        </p:nvSpPr>
        <p:spPr>
          <a:xfrm>
            <a:off x="8267200" y="225083"/>
            <a:ext cx="1048157"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创新点</a:t>
            </a:r>
          </a:p>
        </p:txBody>
      </p:sp>
      <p:sp>
        <p:nvSpPr>
          <p:cNvPr id="55" name="TextBox 11">
            <a:extLst>
              <a:ext uri="{FF2B5EF4-FFF2-40B4-BE49-F238E27FC236}">
                <a16:creationId xmlns:a16="http://schemas.microsoft.com/office/drawing/2014/main" id="{057BD22B-729E-481C-87BF-31B740CA167E}"/>
              </a:ext>
            </a:extLst>
          </p:cNvPr>
          <p:cNvSpPr txBox="1"/>
          <p:nvPr/>
        </p:nvSpPr>
        <p:spPr>
          <a:xfrm>
            <a:off x="9279348" y="234807"/>
            <a:ext cx="1591310" cy="340995"/>
          </a:xfrm>
          <a:prstGeom prst="rect">
            <a:avLst/>
          </a:prstGeom>
          <a:noFill/>
        </p:spPr>
        <p:txBody>
          <a:bodyPr wrap="square" lIns="0" tIns="48000" rIns="0" bIns="48000" rtlCol="0">
            <a:spAutoFit/>
          </a:bodyPr>
          <a:lstStyle/>
          <a:p>
            <a:pPr algn="ctr"/>
            <a:r>
              <a:rPr lang="zh-CN" altLang="en-US" sz="1600" b="1" dirty="0">
                <a:latin typeface="微软雅黑" panose="020B0503020204020204" pitchFamily="34" charset="-122"/>
                <a:ea typeface="微软雅黑" panose="020B0503020204020204" pitchFamily="34" charset="-122"/>
              </a:rPr>
              <a:t>论文工作计划</a:t>
            </a:r>
          </a:p>
        </p:txBody>
      </p:sp>
      <p:cxnSp>
        <p:nvCxnSpPr>
          <p:cNvPr id="56" name="直接连接符 55">
            <a:extLst>
              <a:ext uri="{FF2B5EF4-FFF2-40B4-BE49-F238E27FC236}">
                <a16:creationId xmlns:a16="http://schemas.microsoft.com/office/drawing/2014/main" id="{8CA9AC74-D81D-4BCA-AFBA-AC407066C675}"/>
              </a:ext>
            </a:extLst>
          </p:cNvPr>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11085385-C411-4280-AAEA-4ECDFF4615CD}"/>
              </a:ext>
            </a:extLst>
          </p:cNvPr>
          <p:cNvCxnSpPr/>
          <p:nvPr/>
        </p:nvCxnSpPr>
        <p:spPr>
          <a:xfrm>
            <a:off x="10867101" y="28239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TextBox 7">
            <a:extLst>
              <a:ext uri="{FF2B5EF4-FFF2-40B4-BE49-F238E27FC236}">
                <a16:creationId xmlns:a16="http://schemas.microsoft.com/office/drawing/2014/main" id="{A15B93CE-5E1E-4AE4-840F-B7DEEA5F70D4}"/>
              </a:ext>
            </a:extLst>
          </p:cNvPr>
          <p:cNvSpPr txBox="1"/>
          <p:nvPr/>
        </p:nvSpPr>
        <p:spPr>
          <a:xfrm>
            <a:off x="11055914" y="234807"/>
            <a:ext cx="960606"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参考文献</a:t>
            </a:r>
          </a:p>
        </p:txBody>
      </p:sp>
      <p:pic>
        <p:nvPicPr>
          <p:cNvPr id="12" name="图片 11" descr="沈阳建筑大学抠图"/>
          <p:cNvPicPr>
            <a:picLocks noChangeAspect="1"/>
          </p:cNvPicPr>
          <p:nvPr/>
        </p:nvPicPr>
        <p:blipFill>
          <a:blip r:embed="rId3"/>
          <a:stretch>
            <a:fillRect/>
          </a:stretch>
        </p:blipFill>
        <p:spPr>
          <a:xfrm>
            <a:off x="-15875" y="-835265"/>
            <a:ext cx="3274695" cy="2364105"/>
          </a:xfrm>
          <a:prstGeom prst="rect">
            <a:avLst/>
          </a:prstGeom>
        </p:spPr>
      </p:pic>
      <p:sp>
        <p:nvSpPr>
          <p:cNvPr id="17" name="文本框 16">
            <a:extLst>
              <a:ext uri="{FF2B5EF4-FFF2-40B4-BE49-F238E27FC236}">
                <a16:creationId xmlns:a16="http://schemas.microsoft.com/office/drawing/2014/main" id="{B79A7F07-CEA1-426D-AEF7-FD006A646CD8}"/>
              </a:ext>
            </a:extLst>
          </p:cNvPr>
          <p:cNvSpPr txBox="1"/>
          <p:nvPr/>
        </p:nvSpPr>
        <p:spPr>
          <a:xfrm>
            <a:off x="272563" y="940597"/>
            <a:ext cx="11743958" cy="6186309"/>
          </a:xfrm>
          <a:prstGeom prst="rect">
            <a:avLst/>
          </a:prstGeom>
          <a:noFill/>
        </p:spPr>
        <p:txBody>
          <a:bodyPr wrap="square">
            <a:spAutoFit/>
          </a:bodyPr>
          <a:lstStyle/>
          <a:p>
            <a:pPr indent="304800" algn="just"/>
            <a:r>
              <a:rPr lang="en-US" altLang="zh-CN" sz="1800" kern="100" dirty="0">
                <a:effectLst/>
                <a:latin typeface="Times New Roman" panose="02020603050405020304" pitchFamily="18" charset="0"/>
                <a:ea typeface="宋体" panose="02010600030101010101" pitchFamily="2" charset="-122"/>
              </a:rPr>
              <a:t>[21]	Zhang S, Zhuang W, Li B, et al. Integration of Planning and Deep Reinforcement Learning in Speed and Lane Change Decision-Making for Highway Autonomous Driving[J]. IEEE Transactions on Transportation Electrification, 2025, 11(1): 521-535.</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[22]	Yildirim M, Dagda B, </a:t>
            </a:r>
            <a:r>
              <a:rPr lang="en-US" altLang="zh-CN" sz="1800" kern="100" dirty="0" err="1">
                <a:effectLst/>
                <a:latin typeface="Times New Roman" panose="02020603050405020304" pitchFamily="18" charset="0"/>
                <a:ea typeface="宋体" panose="02010600030101010101" pitchFamily="2" charset="-122"/>
              </a:rPr>
              <a:t>Fallah</a:t>
            </a:r>
            <a:r>
              <a:rPr lang="en-US" altLang="zh-CN" sz="1800" kern="100" dirty="0">
                <a:effectLst/>
                <a:latin typeface="Times New Roman" panose="02020603050405020304" pitchFamily="18" charset="0"/>
                <a:ea typeface="宋体" panose="02010600030101010101" pitchFamily="2" charset="-122"/>
              </a:rPr>
              <a:t> S. </a:t>
            </a:r>
            <a:r>
              <a:rPr lang="en-US" altLang="zh-CN" sz="1800" kern="100" dirty="0" err="1">
                <a:effectLst/>
                <a:latin typeface="Times New Roman" panose="02020603050405020304" pitchFamily="18" charset="0"/>
                <a:ea typeface="宋体" panose="02010600030101010101" pitchFamily="2" charset="-122"/>
              </a:rPr>
              <a:t>HighwayLLM</a:t>
            </a:r>
            <a:r>
              <a:rPr lang="en-US" altLang="zh-CN" sz="1800" kern="100" dirty="0">
                <a:effectLst/>
                <a:latin typeface="Times New Roman" panose="02020603050405020304" pitchFamily="18" charset="0"/>
                <a:ea typeface="宋体" panose="02010600030101010101" pitchFamily="2" charset="-122"/>
              </a:rPr>
              <a:t>: Decision-Making and Navigation in Highway Driving with RL-Informed Language Model[A]. </a:t>
            </a:r>
            <a:r>
              <a:rPr lang="en-US" altLang="zh-CN" sz="1800" kern="100" dirty="0" err="1">
                <a:effectLst/>
                <a:latin typeface="Times New Roman" panose="02020603050405020304" pitchFamily="18" charset="0"/>
                <a:ea typeface="宋体" panose="02010600030101010101" pitchFamily="2" charset="-122"/>
              </a:rPr>
              <a:t>arXiv</a:t>
            </a:r>
            <a:r>
              <a:rPr lang="en-US" altLang="zh-CN" sz="1800" kern="100" dirty="0">
                <a:effectLst/>
                <a:latin typeface="Times New Roman" panose="02020603050405020304" pitchFamily="18" charset="0"/>
                <a:ea typeface="宋体" panose="02010600030101010101" pitchFamily="2" charset="-122"/>
              </a:rPr>
              <a:t>, 2024.</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[23]	Yuan K, Huang Y, Yang S, et al. Evolutionary Decision-Making and Planning for Autonomous Driving: A Hybrid Augmented Intelligence Framework[J]. IEEE Transactions on Intelligent Transportation Systems, 2024, 25(7): 7339-7351.</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[24]	</a:t>
            </a:r>
            <a:r>
              <a:rPr lang="en-US" altLang="zh-CN" sz="1800" kern="100" dirty="0" err="1">
                <a:effectLst/>
                <a:latin typeface="Times New Roman" panose="02020603050405020304" pitchFamily="18" charset="0"/>
                <a:ea typeface="宋体" panose="02010600030101010101" pitchFamily="2" charset="-122"/>
              </a:rPr>
              <a:t>Khanh</a:t>
            </a:r>
            <a:r>
              <a:rPr lang="en-US" altLang="zh-CN" sz="1800" kern="100" dirty="0">
                <a:effectLst/>
                <a:latin typeface="Times New Roman" panose="02020603050405020304" pitchFamily="18" charset="0"/>
                <a:ea typeface="宋体" panose="02010600030101010101" pitchFamily="2" charset="-122"/>
              </a:rPr>
              <a:t> </a:t>
            </a:r>
            <a:r>
              <a:rPr lang="en-US" altLang="zh-CN" sz="1800" kern="100" dirty="0" err="1">
                <a:effectLst/>
                <a:latin typeface="Times New Roman" panose="02020603050405020304" pitchFamily="18" charset="0"/>
                <a:ea typeface="宋体" panose="02010600030101010101" pitchFamily="2" charset="-122"/>
              </a:rPr>
              <a:t>Quy</a:t>
            </a:r>
            <a:r>
              <a:rPr lang="en-US" altLang="zh-CN" sz="1800" kern="100" dirty="0">
                <a:effectLst/>
                <a:latin typeface="Times New Roman" panose="02020603050405020304" pitchFamily="18" charset="0"/>
                <a:ea typeface="宋体" panose="02010600030101010101" pitchFamily="2" charset="-122"/>
              </a:rPr>
              <a:t> V, </a:t>
            </a:r>
            <a:r>
              <a:rPr lang="en-US" altLang="zh-CN" sz="1800" kern="100" dirty="0" err="1">
                <a:effectLst/>
                <a:latin typeface="Times New Roman" panose="02020603050405020304" pitchFamily="18" charset="0"/>
                <a:ea typeface="宋体" panose="02010600030101010101" pitchFamily="2" charset="-122"/>
              </a:rPr>
              <a:t>Chehri</a:t>
            </a:r>
            <a:r>
              <a:rPr lang="en-US" altLang="zh-CN" sz="1800" kern="100" dirty="0">
                <a:effectLst/>
                <a:latin typeface="Times New Roman" panose="02020603050405020304" pitchFamily="18" charset="0"/>
                <a:ea typeface="宋体" panose="02010600030101010101" pitchFamily="2" charset="-122"/>
              </a:rPr>
              <a:t> A, </a:t>
            </a:r>
            <a:r>
              <a:rPr lang="en-US" altLang="zh-CN" sz="1800" kern="100" dirty="0" err="1">
                <a:effectLst/>
                <a:latin typeface="Times New Roman" panose="02020603050405020304" pitchFamily="18" charset="0"/>
                <a:ea typeface="宋体" panose="02010600030101010101" pitchFamily="2" charset="-122"/>
              </a:rPr>
              <a:t>Hoai</a:t>
            </a:r>
            <a:r>
              <a:rPr lang="en-US" altLang="zh-CN" sz="1800" kern="100" dirty="0">
                <a:effectLst/>
                <a:latin typeface="Times New Roman" panose="02020603050405020304" pitchFamily="18" charset="0"/>
                <a:ea typeface="宋体" panose="02010600030101010101" pitchFamily="2" charset="-122"/>
              </a:rPr>
              <a:t> Nam V, et al. Strategic Data Offloading for 5G and Beyond for Internet of Vehicles Networks: Current Trends and Future Directions[J]. IEEE Open Journal of the Communications Society, 2025, 6: 8606-8624.</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[25]	Ji M, Wu Q, Fan P, et al. Graph Neural Networks and Deep Reinforcement Learning Based Resource Allocation for V2X Communications[A]. </a:t>
            </a:r>
            <a:r>
              <a:rPr lang="en-US" altLang="zh-CN" sz="1800" kern="100" dirty="0" err="1">
                <a:effectLst/>
                <a:latin typeface="Times New Roman" panose="02020603050405020304" pitchFamily="18" charset="0"/>
                <a:ea typeface="宋体" panose="02010600030101010101" pitchFamily="2" charset="-122"/>
              </a:rPr>
              <a:t>arXiv</a:t>
            </a:r>
            <a:r>
              <a:rPr lang="en-US" altLang="zh-CN" sz="1800" kern="100" dirty="0">
                <a:effectLst/>
                <a:latin typeface="Times New Roman" panose="02020603050405020304" pitchFamily="18" charset="0"/>
                <a:ea typeface="宋体" panose="02010600030101010101" pitchFamily="2" charset="-122"/>
              </a:rPr>
              <a:t>, 2025.</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[26]	Ren Y, Wu C, So D K C, </a:t>
            </a:r>
            <a:r>
              <a:rPr lang="zh-CN" altLang="zh-CN" sz="1800" kern="100" dirty="0">
                <a:effectLst/>
                <a:latin typeface="Times New Roman" panose="02020603050405020304" pitchFamily="18" charset="0"/>
                <a:ea typeface="宋体" panose="02010600030101010101" pitchFamily="2" charset="-122"/>
              </a:rPr>
              <a:t>等</a:t>
            </a:r>
            <a:r>
              <a:rPr lang="en-US" altLang="zh-CN" sz="1800" kern="100" dirty="0">
                <a:effectLst/>
                <a:latin typeface="Times New Roman" panose="02020603050405020304" pitchFamily="18" charset="0"/>
                <a:ea typeface="宋体" panose="02010600030101010101" pitchFamily="2" charset="-122"/>
              </a:rPr>
              <a:t>. DRL-Based Joint Aggregation Frequency and Edge Association for Energy-Efficient Hierarchical Federated Learning[J]. IEEE Transactions on Wireless Communications, 2025, 24(8): 6841-6856.</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[27]	Qu N, Wang C, Li Z, </a:t>
            </a:r>
            <a:r>
              <a:rPr lang="zh-CN" altLang="zh-CN" sz="1800" kern="100" dirty="0">
                <a:effectLst/>
                <a:latin typeface="Times New Roman" panose="02020603050405020304" pitchFamily="18" charset="0"/>
                <a:ea typeface="宋体" panose="02010600030101010101" pitchFamily="2" charset="-122"/>
              </a:rPr>
              <a:t>等</a:t>
            </a:r>
            <a:r>
              <a:rPr lang="en-US" altLang="zh-CN" sz="1800" kern="100" dirty="0">
                <a:effectLst/>
                <a:latin typeface="Times New Roman" panose="02020603050405020304" pitchFamily="18" charset="0"/>
                <a:ea typeface="宋体" panose="02010600030101010101" pitchFamily="2" charset="-122"/>
              </a:rPr>
              <a:t>. A transmission design in dynamic heterogeneous V2V networks through multi-agent deep reinforcement learning[J]. China Communications, 2023, 20(7): 273-289.</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[28]	</a:t>
            </a:r>
            <a:r>
              <a:rPr lang="zh-CN" altLang="zh-CN" sz="1800" kern="100" dirty="0">
                <a:effectLst/>
                <a:latin typeface="Times New Roman" panose="02020603050405020304" pitchFamily="18" charset="0"/>
                <a:ea typeface="宋体" panose="02010600030101010101" pitchFamily="2" charset="-122"/>
              </a:rPr>
              <a:t>彭江文</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多智能体协同编队的自适应学习控制方法研究</a:t>
            </a:r>
            <a:r>
              <a:rPr lang="en-US" altLang="zh-CN" sz="1800" kern="100" dirty="0">
                <a:effectLst/>
                <a:latin typeface="Times New Roman" panose="02020603050405020304" pitchFamily="18" charset="0"/>
                <a:ea typeface="宋体" panose="02010600030101010101" pitchFamily="2" charset="-122"/>
              </a:rPr>
              <a:t>[D]. </a:t>
            </a:r>
            <a:r>
              <a:rPr lang="zh-CN" altLang="zh-CN" sz="1800" kern="100" dirty="0">
                <a:effectLst/>
                <a:latin typeface="Times New Roman" panose="02020603050405020304" pitchFamily="18" charset="0"/>
                <a:ea typeface="宋体" panose="02010600030101010101" pitchFamily="2" charset="-122"/>
              </a:rPr>
              <a:t>天津</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天津大学</a:t>
            </a:r>
            <a:r>
              <a:rPr lang="en-US" altLang="zh-CN" sz="1800" kern="100" dirty="0">
                <a:effectLst/>
                <a:latin typeface="Times New Roman" panose="02020603050405020304" pitchFamily="18" charset="0"/>
                <a:ea typeface="宋体" panose="02010600030101010101" pitchFamily="2" charset="-122"/>
              </a:rPr>
              <a:t>, 2021.</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[29]	</a:t>
            </a:r>
            <a:r>
              <a:rPr lang="en-US" altLang="zh-CN" sz="1800" kern="100" dirty="0" err="1">
                <a:effectLst/>
                <a:latin typeface="Times New Roman" panose="02020603050405020304" pitchFamily="18" charset="0"/>
                <a:ea typeface="宋体" panose="02010600030101010101" pitchFamily="2" charset="-122"/>
              </a:rPr>
              <a:t>Bian</a:t>
            </a:r>
            <a:r>
              <a:rPr lang="en-US" altLang="zh-CN" sz="1800" kern="100" dirty="0">
                <a:effectLst/>
                <a:latin typeface="Times New Roman" panose="02020603050405020304" pitchFamily="18" charset="0"/>
                <a:ea typeface="宋体" panose="02010600030101010101" pitchFamily="2" charset="-122"/>
              </a:rPr>
              <a:t> F. Lightweight convolutional neural network for multiscale temporal modeling in ultra-reliable low-latency communication[C]//2025 4th International Symposium on Computer Applications and Information Technology (ISCAIT). Xi’an, China: IEEE, 2025: 1364-1368.</a:t>
            </a:r>
            <a:endParaRPr lang="zh-CN" altLang="zh-CN" sz="1800" kern="100" dirty="0">
              <a:effectLst/>
              <a:latin typeface="Times New Roman" panose="02020603050405020304" pitchFamily="18" charset="0"/>
              <a:ea typeface="宋体" panose="02010600030101010101" pitchFamily="2" charset="-122"/>
            </a:endParaRPr>
          </a:p>
          <a:p>
            <a:pPr indent="304800" algn="just"/>
            <a:r>
              <a:rPr lang="en-US" altLang="zh-CN" sz="1800" kern="100" dirty="0">
                <a:effectLst/>
                <a:latin typeface="Times New Roman" panose="02020603050405020304" pitchFamily="18" charset="0"/>
                <a:ea typeface="宋体" panose="02010600030101010101" pitchFamily="2" charset="-122"/>
              </a:rPr>
              <a:t>[30]	Li Z N, Huang X H, Mu T, et al. Attention-Based Lane Change and Crash Risk Prediction Model in Highways[J]. IEEE Transactions on Intelligent Transportation Systems, 2022, 23(12): 22909-22922.</a:t>
            </a:r>
            <a:endParaRPr lang="zh-CN" altLang="zh-CN" sz="1800" kern="100" dirty="0">
              <a:effectLst/>
              <a:latin typeface="Times New Roman" panose="02020603050405020304" pitchFamily="18" charset="0"/>
              <a:ea typeface="宋体" panose="02010600030101010101" pitchFamily="2" charset="-122"/>
            </a:endParaRPr>
          </a:p>
          <a:p>
            <a:pPr indent="304800" algn="just"/>
            <a:endParaRPr lang="zh-CN" altLang="zh-CN" sz="18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539993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133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590800" y="3137598"/>
            <a:ext cx="7010400" cy="1107996"/>
          </a:xfrm>
          <a:prstGeom prst="rect">
            <a:avLst/>
          </a:prstGeom>
          <a:noFill/>
        </p:spPr>
        <p:txBody>
          <a:bodyPr wrap="square" rtlCol="0">
            <a:spAutoFit/>
          </a:bodyPr>
          <a:lstStyle/>
          <a:p>
            <a:pPr algn="ctr"/>
            <a:r>
              <a:rPr lang="zh-CN" altLang="en-US" sz="6600" b="1" dirty="0">
                <a:solidFill>
                  <a:schemeClr val="bg1">
                    <a:lumMod val="95000"/>
                  </a:schemeClr>
                </a:solidFill>
                <a:latin typeface="微软雅黑" panose="020B0503020204020204" pitchFamily="34" charset="-122"/>
                <a:ea typeface="微软雅黑" panose="020B0503020204020204" pitchFamily="34" charset="-122"/>
              </a:rPr>
              <a:t>请各位老师指正</a:t>
            </a:r>
          </a:p>
        </p:txBody>
      </p:sp>
      <p:sp>
        <p:nvSpPr>
          <p:cNvPr id="13" name="TextBox 6"/>
          <p:cNvSpPr txBox="1"/>
          <p:nvPr/>
        </p:nvSpPr>
        <p:spPr>
          <a:xfrm>
            <a:off x="4093771" y="5644929"/>
            <a:ext cx="1959610" cy="397510"/>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l"/>
            <a:r>
              <a:rPr lang="zh-CN" altLang="en-US" dirty="0">
                <a:solidFill>
                  <a:srgbClr val="133984"/>
                </a:solidFill>
                <a:latin typeface="微软雅黑" panose="020B0503020204020204" pitchFamily="34" charset="-122"/>
                <a:ea typeface="微软雅黑" panose="020B0503020204020204" pitchFamily="34" charset="-122"/>
              </a:rPr>
              <a:t>汇报人：高艺泷</a:t>
            </a:r>
            <a:endParaRPr lang="en-US" altLang="zh-CN" dirty="0">
              <a:solidFill>
                <a:srgbClr val="133984"/>
              </a:solidFill>
              <a:latin typeface="微软雅黑" panose="020B0503020204020204" pitchFamily="34" charset="-122"/>
              <a:ea typeface="微软雅黑" panose="020B0503020204020204" pitchFamily="34" charset="-122"/>
            </a:endParaRPr>
          </a:p>
        </p:txBody>
      </p:sp>
      <p:sp>
        <p:nvSpPr>
          <p:cNvPr id="14" name="TextBox 7"/>
          <p:cNvSpPr txBox="1"/>
          <p:nvPr/>
        </p:nvSpPr>
        <p:spPr>
          <a:xfrm>
            <a:off x="6925230" y="5644929"/>
            <a:ext cx="2236461" cy="400085"/>
          </a:xfrm>
          <a:prstGeom prst="rect">
            <a:avLst/>
          </a:prstGeom>
          <a:noFill/>
        </p:spPr>
        <p:txBody>
          <a:bodyPr wrap="none" lIns="91416" tIns="45708" rIns="91416" bIns="45708" rtlCol="0">
            <a:spAutoFit/>
          </a:bodyPr>
          <a:lstStyle/>
          <a:p>
            <a:pPr algn="l"/>
            <a:r>
              <a:rPr lang="zh-CN" altLang="en-US" sz="2000" dirty="0">
                <a:solidFill>
                  <a:srgbClr val="133984"/>
                </a:solidFill>
                <a:latin typeface="微软雅黑" panose="020B0503020204020204" pitchFamily="34" charset="-122"/>
                <a:ea typeface="微软雅黑" panose="020B0503020204020204" pitchFamily="34" charset="-122"/>
              </a:rPr>
              <a:t>指导老师：郭彤颖</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 name="Freeform 7"/>
          <p:cNvSpPr>
            <a:spLocks noChangeAspect="1" noEditPoints="1"/>
          </p:cNvSpPr>
          <p:nvPr/>
        </p:nvSpPr>
        <p:spPr bwMode="auto">
          <a:xfrm>
            <a:off x="3596444" y="561184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133984"/>
          </a:solidFill>
          <a:ln>
            <a:noFill/>
          </a:ln>
        </p:spPr>
        <p:txBody>
          <a:bodyPr vert="horz" wrap="square" lIns="91416" tIns="45708" rIns="91416" bIns="45708"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12" name="Freeform 8"/>
          <p:cNvSpPr>
            <a:spLocks noChangeAspect="1" noEditPoints="1"/>
          </p:cNvSpPr>
          <p:nvPr/>
        </p:nvSpPr>
        <p:spPr bwMode="auto">
          <a:xfrm>
            <a:off x="6438230" y="5611848"/>
            <a:ext cx="464288" cy="466246"/>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133984"/>
          </a:solidFill>
          <a:ln>
            <a:noFill/>
          </a:ln>
        </p:spPr>
        <p:txBody>
          <a:bodyPr vert="horz" wrap="square" lIns="91416" tIns="45708" rIns="91416" bIns="45708" numCol="1" anchor="t" anchorCtr="0" compatLnSpc="1"/>
          <a:lstStyle/>
          <a:p>
            <a:endParaRPr lang="zh-CN" altLang="en-US" sz="28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0535e670-0f8c-4128-85c2-9c0c2adbd971"/>
  <p:tag name="COMMONDATA" val="eyJoZGlkIjoiMTQ5MWQ1NGM4MjNlMzE1NWQyNGY0MDM3YmUzOTA5M2IifQ=="/>
</p:tagLst>
</file>

<file path=ppt/tags/tag2.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3.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6.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heme/theme1.xml><?xml version="1.0" encoding="utf-8"?>
<a:theme xmlns:a="http://schemas.openxmlformats.org/drawingml/2006/main" name="Office 主题​​">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1882</TotalTime>
  <Words>2732</Words>
  <Application>Microsoft Office PowerPoint</Application>
  <PresentationFormat>宽屏</PresentationFormat>
  <Paragraphs>271</Paragraphs>
  <Slides>26</Slides>
  <Notes>26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39" baseType="lpstr">
      <vt:lpstr>-apple-system</vt:lpstr>
      <vt:lpstr>Impact MT Std</vt:lpstr>
      <vt:lpstr>Inter</vt:lpstr>
      <vt:lpstr>等线</vt:lpstr>
      <vt:lpstr>等线 Light</vt:lpstr>
      <vt:lpstr>苹方 粗体</vt:lpstr>
      <vt:lpstr>苹方字体</vt:lpstr>
      <vt:lpstr>思源黑体</vt:lpstr>
      <vt:lpstr>微软雅黑</vt:lpstr>
      <vt:lpstr>Arial</vt:lpstr>
      <vt:lpstr>Times New Roman</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答辩-19</dc:title>
  <dc:creator>LP</dc:creator>
  <cp:lastModifiedBy>艺泷 高</cp:lastModifiedBy>
  <cp:revision>520</cp:revision>
  <dcterms:created xsi:type="dcterms:W3CDTF">2016-11-24T09:20:00Z</dcterms:created>
  <dcterms:modified xsi:type="dcterms:W3CDTF">2025-11-07T00:49:22Z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2052-12.8.2.18205</vt:lpwstr>
  </property>
  <property fmtid="{D5CDD505-2E9C-101B-9397-08002B2CF9AE}" pid="3" name="ICV">
    <vt:lpwstr>2C8865388DD3422E8BC6F0359401ADD5_12</vt:lpwstr>
  </property>
</Properties>
</file>